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-state-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188" y="264978"/>
            <a:ext cx="751265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457E6"/>
                </a:solidFill>
                <a:latin typeface="Consolas"/>
              </a:rPr>
              <a:t>01 · 业务全景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455664"/>
            <a:ext cx="4744283" cy="420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Microsoft YaHei"/>
              </a:rPr>
              <a:t>Coding 的价值，在一个「回合」里被创造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871515"/>
            <a:ext cx="3630124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475569"/>
                </a:solidFill>
                <a:latin typeface="Microsoft YaHei"/>
              </a:rPr>
              <a:t>主体＝一次 Agent 会话；主回路每转一圈，产出一份可验收的增量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24681" y="1307178"/>
            <a:ext cx="877706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457E6"/>
                </a:solidFill>
                <a:latin typeface="Microsoft YaHei"/>
              </a:rPr>
              <a:t>关键状态 / 分区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2780" y="1623019"/>
            <a:ext cx="228594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86622" y="1553298"/>
            <a:ext cx="327651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icrosoft YaHei"/>
              </a:rPr>
              <a:t>Idle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86622" y="1722267"/>
            <a:ext cx="641254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空闲 / 待命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2780" y="2023059"/>
            <a:ext cx="228594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86622" y="1953338"/>
            <a:ext cx="516242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icrosoft YaHei"/>
              </a:rPr>
              <a:t>Running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86622" y="2122307"/>
            <a:ext cx="1141304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执行回合（含 6 子态）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2780" y="2423099"/>
            <a:ext cx="228594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86622" y="2353378"/>
            <a:ext cx="641968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icrosoft YaHei"/>
              </a:rPr>
              <a:t>Reasoning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86622" y="2522347"/>
            <a:ext cx="941284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规划 → 计划正确率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2780" y="2823139"/>
            <a:ext cx="228594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6622" y="2753418"/>
            <a:ext cx="704832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icrosoft YaHei"/>
              </a:rPr>
              <a:t>Retrieving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6622" y="2922387"/>
            <a:ext cx="741264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检索 → 召回率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62780" y="3223179"/>
            <a:ext cx="228594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6622" y="3153458"/>
            <a:ext cx="453378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icrosoft YaHei"/>
              </a:rPr>
              <a:t>Acting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6622" y="3322427"/>
            <a:ext cx="641254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工具 / 写图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62780" y="3623219"/>
            <a:ext cx="228594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6622" y="3553498"/>
            <a:ext cx="641968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icrosoft YaHei"/>
              </a:rPr>
              <a:t>Verifying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6622" y="3722467"/>
            <a:ext cx="741264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验收 → 通过率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2780" y="4023259"/>
            <a:ext cx="228594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6622" y="3953538"/>
            <a:ext cx="704832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icrosoft YaHei"/>
              </a:rPr>
              <a:t>Finalizing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86622" y="4122507"/>
            <a:ext cx="641254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提交 / 沉淀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2780" y="4423299"/>
            <a:ext cx="228594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6622" y="4353578"/>
            <a:ext cx="830559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icrosoft YaHei"/>
              </a:rPr>
              <a:t>AwaitingUser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6622" y="4522547"/>
            <a:ext cx="876278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等待用户（在环）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2780" y="4823339"/>
            <a:ext cx="228594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6622" y="4753618"/>
            <a:ext cx="647683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icrosoft YaHei"/>
              </a:rPr>
              <a:t>后台正交区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86622" y="4922587"/>
            <a:ext cx="876278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异步，不阻塞回合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62780" y="5223379"/>
            <a:ext cx="228594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86622" y="5153658"/>
            <a:ext cx="516242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icrosoft YaHei"/>
              </a:rPr>
              <a:t>Stopped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86622" y="5322627"/>
            <a:ext cx="941284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终态 · 成功观测点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188" y="1307178"/>
            <a:ext cx="1317750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457E6"/>
                </a:solidFill>
                <a:latin typeface="Microsoft YaHei"/>
              </a:rPr>
              <a:t>一次 Agent 会话的状态机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00119" y="1519199"/>
            <a:ext cx="1802561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2457E6"/>
                </a:solidFill>
                <a:latin typeface="Microsoft YaHei"/>
              </a:rPr>
              <a:t>Running · 执行回合（复合态）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8694" y="1944956"/>
            <a:ext cx="228594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85862" y="1945337"/>
            <a:ext cx="594821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457E6"/>
                </a:solidFill>
                <a:latin typeface="Microsoft YaHei"/>
              </a:rPr>
              <a:t>Reasoning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14417" y="2161930"/>
            <a:ext cx="257168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Microsoft YaHei"/>
              </a:rPr>
              <a:t>规划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14597" y="1944956"/>
            <a:ext cx="228594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71765" y="1945337"/>
            <a:ext cx="652446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E86A5"/>
                </a:solidFill>
                <a:latin typeface="Microsoft YaHei"/>
              </a:rPr>
              <a:t>Retrieving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319" y="2161930"/>
            <a:ext cx="257168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Microsoft YaHei"/>
              </a:rPr>
              <a:t>检索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00499" y="1944956"/>
            <a:ext cx="228594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57668" y="1945337"/>
            <a:ext cx="421946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D38D6"/>
                </a:solidFill>
                <a:latin typeface="Microsoft YaHei"/>
              </a:rPr>
              <a:t>Acting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86222" y="2161930"/>
            <a:ext cx="587439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Microsoft YaHei"/>
              </a:rPr>
              <a:t>工具 / 写图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8694" y="2706937"/>
            <a:ext cx="228594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85862" y="2707318"/>
            <a:ext cx="882945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26A04"/>
                </a:solidFill>
                <a:latin typeface="Microsoft YaHei"/>
              </a:rPr>
              <a:t>AwaitingResult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14417" y="2923911"/>
            <a:ext cx="528624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Microsoft YaHei"/>
              </a:rPr>
              <a:t>等工具结果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14597" y="2706937"/>
            <a:ext cx="228594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71765" y="2707318"/>
            <a:ext cx="594821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9D63"/>
                </a:solidFill>
                <a:latin typeface="Microsoft YaHei"/>
              </a:rPr>
              <a:t>Verifying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319" y="2923911"/>
            <a:ext cx="257168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Microsoft YaHei"/>
              </a:rPr>
              <a:t>验收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00499" y="2706937"/>
            <a:ext cx="228594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668" y="2707318"/>
            <a:ext cx="652446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9D63"/>
                </a:solidFill>
                <a:latin typeface="Microsoft YaHei"/>
              </a:rPr>
              <a:t>Finalizing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86222" y="2923911"/>
            <a:ext cx="587439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Microsoft YaHei"/>
              </a:rPr>
              <a:t>提交 / 沉淀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57268" y="2496821"/>
            <a:ext cx="400039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26A04"/>
                </a:solidFill>
                <a:latin typeface="Microsoft YaHei"/>
              </a:rPr>
              <a:t>工具结果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24161" y="3373099"/>
            <a:ext cx="857466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DC2F52"/>
                </a:solidFill>
                <a:latin typeface="Microsoft YaHei"/>
              </a:rPr>
              <a:t>验收失败 → 回流执行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2476" y="4707137"/>
            <a:ext cx="228594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19169" y="4629796"/>
            <a:ext cx="327651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icrosoft YaHei"/>
              </a:rPr>
              <a:t>Idle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19169" y="4809814"/>
            <a:ext cx="587439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Microsoft YaHei"/>
              </a:rPr>
              <a:t>空闲 / 待命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38499" y="4707137"/>
            <a:ext cx="228594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05192" y="4629796"/>
            <a:ext cx="830559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C2F52"/>
                </a:solidFill>
                <a:latin typeface="Microsoft YaHei"/>
              </a:rPr>
              <a:t>AwaitingUser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05192" y="4809814"/>
            <a:ext cx="800079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Microsoft YaHei"/>
              </a:rPr>
              <a:t>等待用户（在环）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7828" y="4707137"/>
            <a:ext cx="228594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24521" y="4629796"/>
            <a:ext cx="516242" cy="1943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icrosoft YaHei"/>
              </a:rPr>
              <a:t>Stopped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24521" y="4809814"/>
            <a:ext cx="677924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Microsoft YaHei"/>
              </a:rPr>
              <a:t>终态 · 观测点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695407" y="4339100"/>
            <a:ext cx="641968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457E6"/>
                </a:solidFill>
                <a:latin typeface="Microsoft YaHei"/>
              </a:rPr>
              <a:t>user_message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09824" y="3824763"/>
            <a:ext cx="500526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Microsoft YaHei"/>
              </a:rPr>
              <a:t>turn_done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67133" y="3824763"/>
            <a:ext cx="924854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DC2F52"/>
                </a:solidFill>
                <a:latin typeface="Microsoft YaHei"/>
              </a:rPr>
              <a:t>need_clarification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38539" y="4339100"/>
            <a:ext cx="547673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DC2F52"/>
                </a:solidFill>
                <a:latin typeface="Microsoft YaHei"/>
              </a:rPr>
              <a:t>user_reply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36307" y="4624843"/>
            <a:ext cx="826273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Microsoft YaHei"/>
              </a:rPr>
              <a:t>stop（任意状态）→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81070" y="5198805"/>
            <a:ext cx="1076298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B26A04"/>
                </a:solidFill>
                <a:latin typeface="Microsoft YaHei"/>
              </a:rPr>
              <a:t>后台任务（正交区域）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57788" y="5173850"/>
            <a:ext cx="228594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671576" y="5400349"/>
            <a:ext cx="524100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172A"/>
                </a:solidFill>
                <a:latin typeface="Microsoft YaHei"/>
              </a:rPr>
              <a:t>Submitted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59562" y="5400349"/>
            <a:ext cx="424566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172A"/>
                </a:solidFill>
                <a:latin typeface="Microsoft YaHei"/>
              </a:rPr>
              <a:t>Running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272431" y="5400349"/>
            <a:ext cx="275265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172A"/>
                </a:solidFill>
                <a:latin typeface="Microsoft YaHei"/>
              </a:rPr>
              <a:t>Done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60884" y="5400349"/>
            <a:ext cx="374799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172A"/>
                </a:solidFill>
                <a:latin typeface="Microsoft YaHei"/>
              </a:rPr>
              <a:t>Failed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67213" y="3906485"/>
            <a:ext cx="1290605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26A04"/>
                </a:solidFill>
                <a:latin typeface="Microsoft YaHei"/>
              </a:rPr>
              <a:t>background_task_done（唤醒）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7683" y="5954881"/>
            <a:ext cx="285742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457E6"/>
                </a:solidFill>
                <a:latin typeface="Microsoft YaHei"/>
              </a:rPr>
              <a:t>结论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6773" y="5852966"/>
            <a:ext cx="5100509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0F172A"/>
                </a:solidFill>
                <a:latin typeface="Microsoft YaHei"/>
              </a:rPr>
              <a:t>失败回流、人工在环、后台异步都被显式建模 —— 业务价值不在「模型」，而在可验收的循环。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188" y="6554369"/>
            <a:ext cx="5067411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Microsoft YaHei"/>
              </a:rPr>
              <a:t>依据：视图 uml2-coding-statemachine-view-002  ·  uml2-coding-running-view-002  ·  uml2-coding-background-view-002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77486" y="6554369"/>
            <a:ext cx="1157020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onsolas"/>
              </a:rPr>
              <a:t>ArchGraph · 01 · 业务全景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2-pa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188" y="264978"/>
            <a:ext cx="751265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457E6"/>
                </a:solidFill>
                <a:latin typeface="Consolas"/>
              </a:rPr>
              <a:t>02 · 业界痛点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455664"/>
            <a:ext cx="4112792" cy="420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Microsoft YaHei"/>
              </a:rPr>
              <a:t>Agent 产出越快，熵增与验证税越重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871515"/>
            <a:ext cx="2338329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475569"/>
                </a:solidFill>
                <a:latin typeface="Microsoft YaHei"/>
              </a:rPr>
              <a:t>瓶颈正从「写代码」转移到「对齐与验证」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45167" y="1423951"/>
            <a:ext cx="1701360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DC2F52"/>
                </a:solidFill>
                <a:latin typeface="Microsoft YaHei"/>
              </a:rPr>
              <a:t>写码越快 → 熵增与验证税越重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782754"/>
            <a:ext cx="327651" cy="3886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DC2F52"/>
                </a:solidFill>
                <a:latin typeface="Microsoft YaHei"/>
              </a:rPr>
              <a:t>4×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683" y="3157458"/>
            <a:ext cx="671495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Microsoft YaHei"/>
              </a:rPr>
              <a:t>重复代码块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683" y="3389100"/>
            <a:ext cx="2086399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对比 2020 年 · GitClear，2.11 亿行变更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4161" y="2782754"/>
            <a:ext cx="453378" cy="3886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DC2F52"/>
                </a:solidFill>
                <a:latin typeface="Microsoft YaHei"/>
              </a:rPr>
              <a:t>30%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4161" y="3157458"/>
            <a:ext cx="1171545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Microsoft YaHei"/>
              </a:rPr>
              <a:t>几乎不信任 AI 代码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4161" y="3389100"/>
            <a:ext cx="1656356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DORA 2025（90% 开发者已用 AI）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639" y="2782754"/>
            <a:ext cx="579105" cy="3886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DC2F52"/>
                </a:solidFill>
                <a:latin typeface="Microsoft YaHei"/>
              </a:rPr>
              <a:t>+91%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639" y="3157458"/>
            <a:ext cx="790555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Microsoft YaHei"/>
              </a:rPr>
              <a:t>代码评审时间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639" y="3389100"/>
            <a:ext cx="1621352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PR 量 +98% · Faros AI（二手）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77118" y="2782754"/>
            <a:ext cx="579105" cy="3886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DC2F52"/>
                </a:solidFill>
                <a:latin typeface="Microsoft YaHei"/>
              </a:rPr>
              <a:t>−19%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7118" y="3157458"/>
            <a:ext cx="1028674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Microsoft YaHei"/>
              </a:rPr>
              <a:t>专家实测反而更慢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7118" y="3389100"/>
            <a:ext cx="1591349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METR 随机对照 · 自评却是 +20%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83" y="5954881"/>
            <a:ext cx="285742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457E6"/>
                </a:solidFill>
                <a:latin typeface="Microsoft YaHei"/>
              </a:rPr>
              <a:t>结论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773" y="5852966"/>
            <a:ext cx="4398058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0F172A"/>
                </a:solidFill>
                <a:latin typeface="Microsoft YaHei"/>
              </a:rPr>
              <a:t>证据一致：没有共同语言与可执行门禁，Agent 加速的只是「产生返工的速度」。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88" y="6554369"/>
            <a:ext cx="3257944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Microsoft YaHei"/>
              </a:rPr>
              <a:t>依据：GitClear 2025  ·  DORA 2025  ·  Faros AI  ·  METR arXiv:2507.09089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77486" y="6554369"/>
            <a:ext cx="1157020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onsolas"/>
              </a:rPr>
              <a:t>ArchGraph · 02 · 业界痛点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3-pract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188" y="264978"/>
            <a:ext cx="751265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457E6"/>
                </a:solidFill>
                <a:latin typeface="Consolas"/>
              </a:rPr>
              <a:t>03 · 先进实践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455664"/>
            <a:ext cx="3865148" cy="420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Microsoft YaHei"/>
              </a:rPr>
              <a:t>成功案例的共同点：专家带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871515"/>
            <a:ext cx="3052686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475569"/>
                </a:solidFill>
                <a:latin typeface="Microsoft YaHei"/>
              </a:rPr>
              <a:t>每一个样本，都是「一个懂全系统的专家做唯一编排者」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742" y="1318227"/>
            <a:ext cx="466713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9D63"/>
                </a:solidFill>
                <a:latin typeface="Microsoft YaHei"/>
              </a:rPr>
              <a:t>5 个样本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72" y="1790655"/>
            <a:ext cx="228594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8714" y="1713695"/>
            <a:ext cx="1983055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OpenAI · Harness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14" y="1912762"/>
            <a:ext cx="2196410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AGENTS.md 指向 docs/；用 linter 固化品味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77118" y="1780368"/>
            <a:ext cx="2304992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9D63"/>
                </a:solidFill>
                <a:latin typeface="Microsoft YaHei"/>
              </a:rPr>
              <a:t>3 人 · 5 个月 · ~100 万行 · 手写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872" y="2628834"/>
            <a:ext cx="228594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8714" y="2551874"/>
            <a:ext cx="1593016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Bun · Zig→Rust 整体移植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714" y="2750941"/>
            <a:ext cx="1986389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先写 PORTING.md，再并行 ~64 个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7131" y="2618547"/>
            <a:ext cx="2174979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9D63"/>
                </a:solidFill>
                <a:latin typeface="Microsoft YaHei"/>
              </a:rPr>
              <a:t>11 天 · ~6,700 commits · ~$165k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4872" y="3467013"/>
            <a:ext cx="228594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714" y="3390053"/>
            <a:ext cx="1760175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Anthropic · 代码迁移六步法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8714" y="3589120"/>
            <a:ext cx="1576348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不要修代码，要修产生代码的循环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67693" y="3456726"/>
            <a:ext cx="1314417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9D63"/>
                </a:solidFill>
                <a:latin typeface="Microsoft YaHei"/>
              </a:rPr>
              <a:t>先建『裁判』，再翻译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872" y="4305192"/>
            <a:ext cx="228594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8714" y="4228232"/>
            <a:ext cx="2094495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DHH · TerminalTextEffects 重写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8714" y="4427299"/>
            <a:ext cx="1671357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8 个 Agent 各占一条分支，零干预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0533" y="4294905"/>
            <a:ext cx="1481576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9D63"/>
                </a:solidFill>
                <a:latin typeface="Microsoft YaHei"/>
              </a:rPr>
              <a:t>3h11m · 2.1 万行 Rust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4872" y="5143371"/>
            <a:ext cx="228594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8714" y="5066411"/>
            <a:ext cx="1865424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OpenAI · Codex CLI 原生重写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8714" y="5265478"/>
            <a:ext cx="1761366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整框架换语言，已由 Agent 承担主体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88687" y="5133084"/>
            <a:ext cx="893422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9D63"/>
                </a:solidFill>
                <a:latin typeface="Microsoft YaHei"/>
              </a:rPr>
              <a:t>≈ 95.7% Rust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683" y="5954881"/>
            <a:ext cx="285742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457E6"/>
                </a:solidFill>
                <a:latin typeface="Microsoft YaHei"/>
              </a:rPr>
              <a:t>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6773" y="5852966"/>
            <a:ext cx="4356387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0F172A"/>
                </a:solidFill>
                <a:latin typeface="Microsoft YaHei"/>
              </a:rPr>
              <a:t>可复制的不是模型，而是「共同语言 + 结构化上下文 + 机器裁判 + 修循环」。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88" y="6554369"/>
            <a:ext cx="6909262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Microsoft YaHei"/>
              </a:rPr>
              <a:t>依据：openai.com/index/harness-engineering  ·  bun.com/blog/bun-in-rust  ·  claude.com/blog/ai-code-migration  ·  github.com/openai/codex/discussions/1174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77486" y="6554369"/>
            <a:ext cx="1157020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onsolas"/>
              </a:rPr>
              <a:t>ArchGraph · 03 · 先进实践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4-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188" y="264978"/>
            <a:ext cx="551245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457E6"/>
                </a:solidFill>
                <a:latin typeface="Consolas"/>
              </a:rPr>
              <a:t>04 · 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455664"/>
            <a:ext cx="6230146" cy="420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Microsoft YaHei"/>
              </a:rPr>
              <a:t>缺的不是更强的模型，而是人与 Agent 的『共同语言』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871515"/>
            <a:ext cx="3314617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475569"/>
                </a:solidFill>
                <a:latin typeface="Microsoft YaHei"/>
              </a:rPr>
              <a:t>本体给出语言，图谱给出载体 —— 这张图就是人机交流的窗口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188" y="1326227"/>
            <a:ext cx="285742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26A04"/>
                </a:solidFill>
                <a:latin typeface="Microsoft YaHei"/>
              </a:rPr>
              <a:t>启发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485" y="1819229"/>
            <a:ext cx="228594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5327" y="1941336"/>
            <a:ext cx="1776368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人必须是懂全景的专家，做唯一编排者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485" y="2562160"/>
            <a:ext cx="228594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327" y="2684268"/>
            <a:ext cx="2041394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结构化上下文先于代码（先规则 / 依赖图）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485" y="3305092"/>
            <a:ext cx="228594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27" y="3427199"/>
            <a:ext cx="1176308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验证器先建、由机器执行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3211" y="1326227"/>
            <a:ext cx="1783987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457E6"/>
                </a:solidFill>
                <a:latin typeface="Microsoft YaHei"/>
              </a:rPr>
              <a:t>解法：本体 + 图谱 = 人机交流窗口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8954" y="1669119"/>
            <a:ext cx="992956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E86A5"/>
                </a:solidFill>
                <a:latin typeface="Microsoft YaHei"/>
              </a:rPr>
              <a:t>① 本体 = 共同语言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8954" y="1857138"/>
            <a:ext cx="2754561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Microsoft YaHei"/>
              </a:rPr>
              <a:t>元素 / 关系类型即词汇与语法；项目可 extends 自己的领域本体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0626" y="2697793"/>
            <a:ext cx="772934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9D63"/>
                </a:solidFill>
                <a:latin typeface="Microsoft YaHei"/>
              </a:rPr>
              <a:t>人 · 领域专家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01104" y="2891336"/>
            <a:ext cx="731977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Microsoft YaHei"/>
              </a:rPr>
              <a:t>写意图 · 读结论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84867" y="2697793"/>
            <a:ext cx="851513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D38D6"/>
                </a:solidFill>
                <a:latin typeface="Microsoft YaHei"/>
              </a:rPr>
              <a:t>Agent · 编排者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1774" y="2891336"/>
            <a:ext cx="817700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Microsoft YaHei"/>
              </a:rPr>
              <a:t>读上下文 · 写实现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2640" y="2395477"/>
            <a:ext cx="552436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2457E6"/>
                </a:solidFill>
                <a:latin typeface="Microsoft YaHei"/>
              </a:rPr>
              <a:t>意图图谱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3567" y="2605593"/>
            <a:ext cx="1070583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Microsoft YaHei"/>
              </a:rPr>
              <a:t>canonical · 单一事实源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9625" y="2828663"/>
            <a:ext cx="1338467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Microsoft YaHei"/>
              </a:rPr>
              <a:t>业务 · 架构 · 指标 · 状态机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3567" y="3024683"/>
            <a:ext cx="1070583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0E86A5"/>
                </a:solidFill>
                <a:latin typeface="Microsoft YaHei"/>
              </a:rPr>
              <a:t>Graph RAG：语义 + 结构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9287" y="3196129"/>
            <a:ext cx="959143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证据链 · 出处 · 拒答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6753" y="2420622"/>
            <a:ext cx="319079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0F9D63"/>
                </a:solidFill>
                <a:latin typeface="Microsoft YaHei"/>
              </a:rPr>
              <a:t>写意图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9480" y="3258802"/>
            <a:ext cx="533624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0F9D63"/>
                </a:solidFill>
                <a:latin typeface="Microsoft YaHei"/>
              </a:rPr>
              <a:t>证据 / 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5676" y="2420622"/>
            <a:ext cx="691497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D38D6"/>
                </a:solidFill>
                <a:latin typeface="Microsoft YaHei"/>
              </a:rPr>
              <a:t>读 · Graph RAG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4132" y="3258802"/>
            <a:ext cx="614585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D38D6"/>
                </a:solidFill>
                <a:latin typeface="Microsoft YaHei"/>
              </a:rPr>
              <a:t>写实现 + 验收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28954" y="3751041"/>
            <a:ext cx="1141304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B26A04"/>
                </a:solidFill>
                <a:latin typeface="Microsoft YaHei"/>
              </a:rPr>
              <a:t>写入门禁 · 语言的护栏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8954" y="3924011"/>
            <a:ext cx="2808852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Microsoft YaHei"/>
              </a:rPr>
              <a:t>校验 → 去重（L0 / L1）→ 无损（merge / 墓碑）；读写都经 MCP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28954" y="4303477"/>
            <a:ext cx="886279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6D38D6"/>
                </a:solidFill>
                <a:latin typeface="Microsoft YaHei"/>
              </a:rPr>
              <a:t>④ 从单项目到组织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28954" y="4476447"/>
            <a:ext cx="2216173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Microsoft YaHei"/>
              </a:rPr>
              <a:t>跨项目引用 → 联邦式组织级知识图谱（引用不拷贝）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28954" y="4842388"/>
            <a:ext cx="3186032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Base · Acme（ArchiMate 3.2 + UML 2 状态机）→ extends 领域本体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683" y="5954881"/>
            <a:ext cx="285742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457E6"/>
                </a:solidFill>
                <a:latin typeface="Microsoft YaHei"/>
              </a:rPr>
              <a:t>结论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6773" y="5852966"/>
            <a:ext cx="5636277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0F172A"/>
                </a:solidFill>
                <a:latin typeface="Microsoft YaHei"/>
              </a:rPr>
              <a:t>本体保障共同语言，图谱保障可查上下文 —— 人写的意图与 Agent 写的实现 / 验收在同一张图上对齐。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188" y="6554369"/>
            <a:ext cx="3391529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Microsoft YaHei"/>
              </a:rPr>
              <a:t>依据：docs/diagrams/core-model.svg  ·  argo/rules/archgraph.instructions.md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39407" y="6554369"/>
            <a:ext cx="995099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onsolas"/>
              </a:rPr>
              <a:t>ArchGraph · 04 · 解法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5-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188" y="264978"/>
            <a:ext cx="751265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457E6"/>
                </a:solidFill>
                <a:latin typeface="Consolas"/>
              </a:rPr>
              <a:t>05 · 指标体系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455664"/>
            <a:ext cx="3481300" cy="420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Microsoft YaHei"/>
              </a:rPr>
              <a:t>20 个指标已建模，4 项已定量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871515"/>
            <a:ext cx="3290805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475569"/>
                </a:solidFill>
                <a:latin typeface="Microsoft YaHei"/>
              </a:rPr>
              <a:t>定量项都落在框架真正提供能力的环节；整体任务层仍是空白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188" y="1326227"/>
            <a:ext cx="982479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457E6"/>
                </a:solidFill>
                <a:latin typeface="Microsoft YaHei"/>
              </a:rPr>
              <a:t>指标 ↔ 状态机映射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485" y="1598445"/>
            <a:ext cx="406231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B6B82"/>
                </a:solidFill>
                <a:latin typeface="Microsoft YaHei"/>
              </a:rPr>
              <a:t>① Idle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485" y="1757890"/>
            <a:ext cx="247643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Microsoft YaHei"/>
              </a:rPr>
              <a:t>空闲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537" y="1665118"/>
            <a:ext cx="476238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空闲时长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485" y="2036584"/>
            <a:ext cx="571247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457E6"/>
                </a:solidFill>
                <a:latin typeface="Microsoft YaHei"/>
              </a:rPr>
              <a:t>② Running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485" y="2196029"/>
            <a:ext cx="419089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Microsoft YaHei"/>
              </a:rPr>
              <a:t>执行回合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537" y="2103257"/>
            <a:ext cx="1806371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任务完成成功率 · 端到端时延 / 成本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485" y="2474723"/>
            <a:ext cx="681258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457E6"/>
                </a:solidFill>
                <a:latin typeface="Microsoft YaHei"/>
              </a:rPr>
              <a:t>③ Reasoning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485" y="2634168"/>
            <a:ext cx="247643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Microsoft YaHei"/>
              </a:rPr>
              <a:t>规划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537" y="2541396"/>
            <a:ext cx="576248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计划正确率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485" y="2912862"/>
            <a:ext cx="736264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E86A5"/>
                </a:solidFill>
                <a:latin typeface="Microsoft YaHei"/>
              </a:rPr>
              <a:t>④ Retrieving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485" y="3072307"/>
            <a:ext cx="247643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Microsoft YaHei"/>
              </a:rPr>
              <a:t>检索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537" y="2979536"/>
            <a:ext cx="776268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检索召回与排序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485" y="3351001"/>
            <a:ext cx="516242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6D38D6"/>
                </a:solidFill>
                <a:latin typeface="Microsoft YaHei"/>
              </a:rPr>
              <a:t>⑤ Acting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485" y="3510446"/>
            <a:ext cx="560532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Microsoft YaHei"/>
              </a:rPr>
              <a:t>工具 / 写图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537" y="3417675"/>
            <a:ext cx="1916382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工具成功率与轮次 · 去重 P/R 与无损率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485" y="3789140"/>
            <a:ext cx="681258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F9D63"/>
                </a:solidFill>
                <a:latin typeface="Microsoft YaHei"/>
              </a:rPr>
              <a:t>⑥ Verifying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485" y="3948585"/>
            <a:ext cx="247643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Microsoft YaHei"/>
              </a:rPr>
              <a:t>验收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537" y="3855814"/>
            <a:ext cx="876278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验收通过率与回归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485" y="4227279"/>
            <a:ext cx="736264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F9D63"/>
                </a:solidFill>
                <a:latin typeface="Microsoft YaHei"/>
              </a:rPr>
              <a:t>⑦ Finalizing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485" y="4386724"/>
            <a:ext cx="560532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Microsoft YaHei"/>
              </a:rPr>
              <a:t>提交 / 沉淀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537" y="4293953"/>
            <a:ext cx="1541344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登记完整率 · 记忆准确率与拒答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485" y="4665418"/>
            <a:ext cx="541244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B26A04"/>
                </a:solidFill>
                <a:latin typeface="Microsoft YaHei"/>
              </a:rPr>
              <a:t>⑧⑨ 等待态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485" y="4824863"/>
            <a:ext cx="731977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Microsoft YaHei"/>
              </a:rPr>
              <a:t>等工具 / 等用户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14537" y="4732092"/>
            <a:ext cx="1706361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等待 / 唤醒时延 · 请示频率与回环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485" y="5103557"/>
            <a:ext cx="806271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B6B82"/>
                </a:solidFill>
                <a:latin typeface="Microsoft YaHei"/>
              </a:rPr>
              <a:t>⑩⑪ 正交 / 终态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485" y="5263002"/>
            <a:ext cx="719119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Microsoft YaHei"/>
              </a:rPr>
              <a:t>后台 / Stopped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14537" y="5170231"/>
            <a:ext cx="576248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（观测点）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7748" y="1326227"/>
            <a:ext cx="1087251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9D63"/>
                </a:solidFill>
                <a:latin typeface="Microsoft YaHei"/>
              </a:rPr>
              <a:t>度量覆盖：20 个指标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52996" y="1669119"/>
            <a:ext cx="710070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4  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88347" y="1669119"/>
            <a:ext cx="652446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5  partial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07537" y="1669119"/>
            <a:ext cx="998195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11  not_measured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57748" y="1984960"/>
            <a:ext cx="2776468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Microsoft YaHei"/>
              </a:rPr>
              <a:t>measured：检索召回 · 工具成功率 · 等待时延 · 记忆准确率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57748" y="2393001"/>
            <a:ext cx="704832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457E6"/>
                </a:solidFill>
                <a:latin typeface="Microsoft YaHei"/>
              </a:rPr>
              <a:t>结论与下一步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0144" y="2713795"/>
            <a:ext cx="4688564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已定量 4 项，都在『检索 / 执行 / 时延 / 记忆』—— 框架真正提供能力的环节。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0144" y="3266231"/>
            <a:ext cx="4719519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最大空白在整体任务层：8 个业界基准全部未跑，整体成功率只有小样本 partial。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0144" y="3818667"/>
            <a:ext cx="5412922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P0 下一步：SWE-bench Verified / Terminal-Bench，同仓同模型『挂 vs 不挂』制度对照。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683" y="5954881"/>
            <a:ext cx="285742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457E6"/>
                </a:solidFill>
                <a:latin typeface="Microsoft YaHei"/>
              </a:rPr>
              <a:t>结论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6773" y="5852966"/>
            <a:ext cx="4707613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0F172A"/>
                </a:solidFill>
                <a:latin typeface="Microsoft YaHei"/>
              </a:rPr>
              <a:t>骨架已建、进入机制化迭代：先把整体基准补上，再把 partial 逐个升为 measured。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188" y="6554369"/>
            <a:ext cx="4265902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Microsoft YaHei"/>
              </a:rPr>
              <a:t>依据：aos-as-* measurement-status  ·  视图 uml2-metric-decomp-* / uml2-metric-tradeoff-view-002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77486" y="6554369"/>
            <a:ext cx="1157020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onsolas"/>
              </a:rPr>
              <a:t>ArchGraph · 05 · 指标体系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6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188" y="264978"/>
            <a:ext cx="751265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457E6"/>
                </a:solidFill>
                <a:latin typeface="Consolas"/>
              </a:rPr>
              <a:t>06 · 检索流程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455664"/>
            <a:ext cx="4781430" cy="420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Microsoft YaHei"/>
              </a:rPr>
              <a:t>检索不是一次查询，而是一个带治理的闭环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871515"/>
            <a:ext cx="3963491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475569"/>
                </a:solidFill>
                <a:latin typeface="Microsoft YaHei"/>
              </a:rPr>
              <a:t>写入治理决定检索上限；多路召回 + 重排是主流；评估反馈让它持续变好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188" y="1326227"/>
            <a:ext cx="1700169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E86A5"/>
                </a:solidFill>
                <a:latin typeface="Microsoft YaHei"/>
              </a:rPr>
              <a:t>业界通用流程（Graph RAG 全景）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485" y="1606446"/>
            <a:ext cx="295267" cy="1862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457E6"/>
                </a:solidFill>
                <a:latin typeface="Microsoft YaHei"/>
              </a:rPr>
              <a:t>写入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33" y="1927811"/>
            <a:ext cx="1004862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L1 · 数据接入与治理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33" y="2093466"/>
            <a:ext cx="855704" cy="142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475569"/>
                </a:solidFill>
                <a:latin typeface="Microsoft YaHei"/>
              </a:rPr>
              <a:t>来源 / 权限 / 版本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33" y="2220602"/>
            <a:ext cx="327175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F9D63"/>
                </a:solidFill>
                <a:latin typeface="Microsoft YaHei"/>
              </a:rPr>
              <a:t>✓ 覆盖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24061" y="1927811"/>
            <a:ext cx="814367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L2 · 解析与切块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24061" y="2093466"/>
            <a:ext cx="981431" cy="142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475569"/>
                </a:solidFill>
                <a:latin typeface="Microsoft YaHei"/>
              </a:rPr>
              <a:t>chunk / summary 粒度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4061" y="2220602"/>
            <a:ext cx="489096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E86A5"/>
                </a:solidFill>
                <a:latin typeface="Microsoft YaHei"/>
              </a:rPr>
              <a:t>◎ 本体替代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390" y="1927811"/>
            <a:ext cx="814367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L3 · 嵌入与索引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1390" y="2093466"/>
            <a:ext cx="1023340" cy="142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475569"/>
                </a:solidFill>
                <a:latin typeface="Microsoft YaHei"/>
              </a:rPr>
              <a:t>向量 + 关键词 + 双投影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1390" y="2220602"/>
            <a:ext cx="327175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F9D63"/>
                </a:solidFill>
                <a:latin typeface="Microsoft YaHei"/>
              </a:rPr>
              <a:t>✓ 覆盖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8719" y="1927811"/>
            <a:ext cx="909614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L4 · 图构建与对齐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8719" y="2093466"/>
            <a:ext cx="885040" cy="142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475569"/>
                </a:solidFill>
                <a:latin typeface="Microsoft YaHei"/>
              </a:rPr>
              <a:t>实体关系 + 本体对齐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8719" y="2220602"/>
            <a:ext cx="327175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B26A04"/>
                </a:solidFill>
                <a:latin typeface="Microsoft YaHei"/>
              </a:rPr>
              <a:t>◐ 部分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485" y="3568547"/>
            <a:ext cx="295267" cy="1862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86A5"/>
                </a:solidFill>
                <a:latin typeface="Microsoft YaHei"/>
              </a:rPr>
              <a:t>检索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33" y="3889912"/>
            <a:ext cx="528624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L5 · 召回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33" y="4055567"/>
            <a:ext cx="956286" cy="142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475569"/>
                </a:solidFill>
                <a:latin typeface="Microsoft YaHei"/>
              </a:rPr>
              <a:t>向量 / BM25 / 图遍历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33" y="4182703"/>
            <a:ext cx="327175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F9D63"/>
                </a:solidFill>
                <a:latin typeface="Microsoft YaHei"/>
              </a:rPr>
              <a:t>✓ 覆盖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1390" y="3889912"/>
            <a:ext cx="814367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L6 · 融合与重排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1390" y="4055567"/>
            <a:ext cx="1010767" cy="142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475569"/>
                </a:solidFill>
                <a:latin typeface="Microsoft YaHei"/>
              </a:rPr>
              <a:t>RRF + 交叉 / LLM 重排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1390" y="4182703"/>
            <a:ext cx="327175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F9D63"/>
                </a:solidFill>
                <a:latin typeface="Microsoft YaHei"/>
              </a:rPr>
              <a:t>✓ 覆盖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485" y="4654370"/>
            <a:ext cx="623871" cy="1862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F9D63"/>
                </a:solidFill>
                <a:latin typeface="Microsoft YaHei"/>
              </a:rPr>
              <a:t>生成与闭环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733" y="4975735"/>
            <a:ext cx="1147733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L7 · 生成与 grounding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6733" y="5141390"/>
            <a:ext cx="801222" cy="142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475569"/>
                </a:solidFill>
                <a:latin typeface="Microsoft YaHei"/>
              </a:rPr>
              <a:t>引用可追溯 + 拒答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733" y="5268526"/>
            <a:ext cx="327175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F9D63"/>
                </a:solidFill>
                <a:latin typeface="Microsoft YaHei"/>
              </a:rPr>
              <a:t>✓ 覆盖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1390" y="4975735"/>
            <a:ext cx="814367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L8 · 评估与迭代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1390" y="5141390"/>
            <a:ext cx="1161639" cy="142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475569"/>
                </a:solidFill>
                <a:latin typeface="Microsoft YaHei"/>
              </a:rPr>
              <a:t>反馈 → 索引 / 权重 / 提示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1390" y="5268526"/>
            <a:ext cx="327175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F9D63"/>
                </a:solidFill>
                <a:latin typeface="Microsoft YaHei"/>
              </a:rPr>
              <a:t>✓ 覆盖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179" y="5482071"/>
            <a:ext cx="1357754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DC2F52"/>
                </a:solidFill>
                <a:latin typeface="Microsoft YaHei"/>
              </a:rPr>
              <a:t>评估反馈 → 索引 / 权重 / 提示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394" y="1326227"/>
            <a:ext cx="914377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9D63"/>
                </a:solidFill>
                <a:latin typeface="Microsoft YaHei"/>
              </a:rPr>
              <a:t>环节覆盖（我方）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641" y="1733506"/>
            <a:ext cx="228594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L1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8483" y="1661118"/>
            <a:ext cx="995337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写入门禁 + 版本登记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8483" y="1824563"/>
            <a:ext cx="577676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0F9D63"/>
                </a:solidFill>
                <a:latin typeface="Microsoft YaHei"/>
              </a:rPr>
              <a:t>指标 #11·12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4641" y="2247843"/>
            <a:ext cx="228594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L2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8483" y="2175455"/>
            <a:ext cx="1471575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不切块：元素 / 关系即语义单元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48483" y="2338900"/>
            <a:ext cx="389086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0E86A5"/>
                </a:solidFill>
                <a:latin typeface="Microsoft YaHei"/>
              </a:rPr>
              <a:t>指标 #4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641" y="2762180"/>
            <a:ext cx="228594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L3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48483" y="2689792"/>
            <a:ext cx="1247743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向量 + 全文 + 结构三通道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8483" y="2853237"/>
            <a:ext cx="389086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0F9D63"/>
                </a:solidFill>
                <a:latin typeface="Microsoft YaHei"/>
              </a:rPr>
              <a:t>指标 #4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4641" y="3276518"/>
            <a:ext cx="228594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L4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48483" y="3204129"/>
            <a:ext cx="1123921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本体即图；社区索引暂缓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48483" y="3367574"/>
            <a:ext cx="483381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B26A04"/>
                </a:solidFill>
                <a:latin typeface="Microsoft YaHei"/>
              </a:rPr>
              <a:t>指标 #7·6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4641" y="3790855"/>
            <a:ext cx="228594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L5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48483" y="3718467"/>
            <a:ext cx="1342991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语义 / 词法 / 结构三路召回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48483" y="3881911"/>
            <a:ext cx="389086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0F9D63"/>
                </a:solidFill>
                <a:latin typeface="Microsoft YaHei"/>
              </a:rPr>
              <a:t>指标 #4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4641" y="4305192"/>
            <a:ext cx="228594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L6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48483" y="4232804"/>
            <a:ext cx="790555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RRF + LLM 重排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48483" y="4396249"/>
            <a:ext cx="483381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0F9D63"/>
                </a:solidFill>
                <a:latin typeface="Microsoft YaHei"/>
              </a:rPr>
              <a:t>指标 #4·8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4641" y="4819529"/>
            <a:ext cx="228594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L7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48483" y="4747141"/>
            <a:ext cx="709594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证据链 + 拒答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48483" y="4910586"/>
            <a:ext cx="436234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0F9D63"/>
                </a:solidFill>
                <a:latin typeface="Microsoft YaHei"/>
              </a:rPr>
              <a:t>指标 #10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4641" y="5333866"/>
            <a:ext cx="228594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L8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48483" y="5261478"/>
            <a:ext cx="947713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golden 题集 + A/B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48483" y="5424923"/>
            <a:ext cx="671971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0F9D63"/>
                </a:solidFill>
                <a:latin typeface="Microsoft YaHei"/>
              </a:rPr>
              <a:t>指标 #5·10·11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7683" y="5954881"/>
            <a:ext cx="285742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457E6"/>
                </a:solidFill>
                <a:latin typeface="Microsoft YaHei"/>
              </a:rPr>
              <a:t>结论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6773" y="5852966"/>
            <a:ext cx="4344482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0F172A"/>
                </a:solidFill>
                <a:latin typeface="Microsoft YaHei"/>
              </a:rPr>
              <a:t>写入侧的治理（去重 / 无损）在业界普遍缺失 —— 这恰是我们覆盖最深的一环。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188" y="6554369"/>
            <a:ext cx="3047447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Microsoft YaHei"/>
              </a:rPr>
              <a:t>依据：视图 298 Harness  ·  graph-rag 组件  ·  docs/mcp-acceptance.md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77486" y="6554369"/>
            <a:ext cx="1157020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onsolas"/>
              </a:rPr>
              <a:t>ArchGraph · 06 · 检索流程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7-cap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188" y="264978"/>
            <a:ext cx="751265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457E6"/>
                </a:solidFill>
                <a:latin typeface="Consolas"/>
              </a:rPr>
              <a:t>07 · 我方能力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455664"/>
            <a:ext cx="5152896" cy="420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Microsoft YaHei"/>
              </a:rPr>
              <a:t>单项目内即可用的 Graph MCP，已覆盖全流程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871515"/>
            <a:ext cx="3981350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475569"/>
                </a:solidFill>
                <a:latin typeface="Microsoft YaHei"/>
              </a:rPr>
              <a:t>读（语义 / 上下文 / 结构）+ 写（对象 / 批次 / 门禁）+ 跨项目读取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188" y="1326227"/>
            <a:ext cx="1537772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457E6"/>
                </a:solidFill>
                <a:latin typeface="Microsoft YaHei"/>
              </a:rPr>
              <a:t>Graph MCP（单项目内即可用）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22" y="1733506"/>
            <a:ext cx="228594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457E6"/>
                </a:solidFill>
                <a:latin typeface="Microsoft YaHei"/>
              </a:rPr>
              <a:t>R1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1050" y="1627972"/>
            <a:ext cx="651969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读 · 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050" y="1827039"/>
            <a:ext cx="2111401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getSystemArchitecture · memory_search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4822" y="2304992"/>
            <a:ext cx="228594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457E6"/>
                </a:solidFill>
                <a:latin typeface="Microsoft YaHei"/>
              </a:rPr>
              <a:t>R2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1050" y="2199458"/>
            <a:ext cx="775791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读 · 上下文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1050" y="2398525"/>
            <a:ext cx="2936484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getIntentElementContext · getArchitectureViewContext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4822" y="2876478"/>
            <a:ext cx="228594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457E6"/>
                </a:solidFill>
                <a:latin typeface="Microsoft YaHei"/>
              </a:rPr>
              <a:t>R3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050" y="2770943"/>
            <a:ext cx="651969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读 · 结构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050" y="2970011"/>
            <a:ext cx="1686359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queryNeo4jGraph（只读 Cypher）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4822" y="3447963"/>
            <a:ext cx="228594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D38D6"/>
                </a:solidFill>
                <a:latin typeface="Microsoft YaHei"/>
              </a:rPr>
              <a:t>W1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1050" y="3342429"/>
            <a:ext cx="651969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写 · 对象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1050" y="3541496"/>
            <a:ext cx="3026493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add / update / remove（Element / Relationship / View）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4822" y="4019449"/>
            <a:ext cx="228594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D38D6"/>
                </a:solidFill>
                <a:latin typeface="Microsoft YaHei"/>
              </a:rPr>
              <a:t>W2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1050" y="3913915"/>
            <a:ext cx="651969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写 · 批次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050" y="4112982"/>
            <a:ext cx="3541544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preview / applySystemArchitectureMutation · initializeWorkspace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822" y="4590935"/>
            <a:ext cx="228594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D38D6"/>
                </a:solidFill>
                <a:latin typeface="Microsoft YaHei"/>
              </a:rPr>
              <a:t>W3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050" y="4485400"/>
            <a:ext cx="651969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写 · 门禁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050" y="4684468"/>
            <a:ext cx="2376428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校验 → 去重（L0 / L1）→ 无损（merge / 墓碑）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4822" y="5162420"/>
            <a:ext cx="228594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E86A5"/>
                </a:solidFill>
                <a:latin typeface="Microsoft YaHei"/>
              </a:rPr>
              <a:t>X1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1050" y="5056886"/>
            <a:ext cx="447663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跨项目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050" y="5255954"/>
            <a:ext cx="1801370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5 个读工具带 projectId → 联邦引用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9314" y="1326227"/>
            <a:ext cx="1019149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9D63"/>
                </a:solidFill>
                <a:latin typeface="Microsoft YaHei"/>
              </a:rPr>
              <a:t>度量结果（可复现）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9809" y="1925525"/>
            <a:ext cx="1459193" cy="3886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F9D63"/>
                </a:solidFill>
                <a:latin typeface="Microsoft YaHei"/>
              </a:rPr>
              <a:t>94.6 → 98.7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19809" y="2300229"/>
            <a:ext cx="1487053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Microsoft YaHei"/>
              </a:rPr>
              <a:t>检索 r@1（向量 → 重排）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19809" y="2531872"/>
            <a:ext cx="1176308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r@5 99.4 · MRR 0.997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48603" y="1925525"/>
            <a:ext cx="1082012" cy="3886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F9D63"/>
                </a:solidFill>
                <a:latin typeface="Microsoft YaHei"/>
              </a:rPr>
              <a:t>2.0–2.5s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48603" y="2300229"/>
            <a:ext cx="671495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Microsoft YaHei"/>
              </a:rPr>
              <a:t>读路径时延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48603" y="2531872"/>
            <a:ext cx="506241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写 ~1.1s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19809" y="3506636"/>
            <a:ext cx="704832" cy="3886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F9D63"/>
                </a:solidFill>
                <a:latin typeface="Microsoft YaHei"/>
              </a:rPr>
              <a:t>5.7ms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19809" y="3881340"/>
            <a:ext cx="552436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Microsoft YaHei"/>
              </a:rPr>
              <a:t>记忆检索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19809" y="4112982"/>
            <a:ext cx="1576348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压缩 97% · 4890 token / 查询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48603" y="3506636"/>
            <a:ext cx="1459193" cy="3886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F9D63"/>
                </a:solidFill>
                <a:latin typeface="Microsoft YaHei"/>
              </a:rPr>
              <a:t>−43% / −39%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48603" y="3881340"/>
            <a:ext cx="1248934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Microsoft YaHei"/>
              </a:rPr>
              <a:t>挂 MCP：工具 / 轮次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48603" y="4112982"/>
            <a:ext cx="1366327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token −18% · 成功率 100%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7683" y="5954881"/>
            <a:ext cx="285742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457E6"/>
                </a:solidFill>
                <a:latin typeface="Microsoft YaHei"/>
              </a:rPr>
              <a:t>结论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6773" y="5852966"/>
            <a:ext cx="4409964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0F172A"/>
                </a:solidFill>
                <a:latin typeface="Microsoft YaHei"/>
              </a:rPr>
              <a:t>检索、执行、时延、记忆已可复现度量；整体 coding 闭环与制度对照是下一步。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188" y="6554369"/>
            <a:ext cx="4504736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Microsoft YaHei"/>
              </a:rPr>
              <a:t>依据：scripts/eval-retrieval.js  ·  eval-rerank.js  ·  memory-eval-run.js  ·  memory-retrieval-ab.js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77486" y="6554369"/>
            <a:ext cx="1157020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onsolas"/>
              </a:rPr>
              <a:t>ArchGraph · 07 · 我方能力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8-fed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188" y="264978"/>
            <a:ext cx="1051295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457E6"/>
                </a:solidFill>
                <a:latin typeface="Consolas"/>
              </a:rPr>
              <a:t>08 · 组织级知识图谱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455664"/>
            <a:ext cx="5029074" cy="420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Microsoft YaHei"/>
              </a:rPr>
              <a:t>以项目为积木，联邦式组合出组织级知识图谱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871515"/>
            <a:ext cx="3409864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475569"/>
                </a:solidFill>
                <a:latin typeface="Microsoft YaHei"/>
              </a:rPr>
              <a:t>项目自治（主权图为唯一事实源），成员之间『引用而非拷贝』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" y="1383376"/>
            <a:ext cx="495287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457E6"/>
                </a:solidFill>
                <a:latin typeface="Microsoft YaHei"/>
              </a:rPr>
              <a:t>整体方案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84" y="1549297"/>
            <a:ext cx="4380914" cy="1862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0F172A"/>
                </a:solidFill>
                <a:latin typeface="Microsoft YaHei"/>
              </a:rPr>
              <a:t>单项目 = 一个自治的知识图谱单元；以联邦方式组合 → 组织级知识图谱（组织知识库）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188" y="1954862"/>
            <a:ext cx="495287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9D63"/>
                </a:solidFill>
                <a:latin typeface="Microsoft YaHei"/>
              </a:rPr>
              <a:t>三大好处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485" y="2514537"/>
            <a:ext cx="228594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327" y="2437577"/>
            <a:ext cx="1066773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质量按领域专业化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27" y="2636644"/>
            <a:ext cx="1176308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谁的业务谁建模、谁验收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485" y="3428914"/>
            <a:ext cx="228594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327" y="3351954"/>
            <a:ext cx="1066773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闭环且地基已铺好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327" y="3551021"/>
            <a:ext cx="1726363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MCP 已代做去重 / 无损 / 结构校验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485" y="4343291"/>
            <a:ext cx="228594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327" y="4266331"/>
            <a:ext cx="942951" cy="210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统一权限与授权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5327" y="4465398"/>
            <a:ext cx="1176308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中心一处管控，默认拒绝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05152" y="1954862"/>
            <a:ext cx="704832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D38D6"/>
                </a:solidFill>
                <a:latin typeface="Microsoft YaHei"/>
              </a:rPr>
              <a:t>联邦组合示意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8994" y="2292229"/>
            <a:ext cx="1609684" cy="1862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F9D63"/>
                </a:solidFill>
                <a:latin typeface="Microsoft YaHei"/>
              </a:rPr>
              <a:t>组织级知识图谱（组织知识库）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28994" y="2485772"/>
            <a:ext cx="2727415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Microsoft YaHei"/>
              </a:rPr>
              <a:t>领域知识彼此可见可用 · 权限统一管控 · 内容是各项目自己的图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28994" y="3002585"/>
            <a:ext cx="1684454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D38D6"/>
                </a:solidFill>
                <a:latin typeface="Microsoft YaHei"/>
              </a:rPr>
              <a:t>联邦中心（registry + broker）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67093" y="3236514"/>
            <a:ext cx="646255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D38D6"/>
                </a:solidFill>
                <a:latin typeface="Microsoft YaHei"/>
              </a:rPr>
              <a:t>已注册成员 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5744" y="3236514"/>
            <a:ext cx="646255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D38D6"/>
                </a:solidFill>
                <a:latin typeface="Microsoft YaHei"/>
              </a:rPr>
              <a:t>已授权关系 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64395" y="3236514"/>
            <a:ext cx="1469194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D38D6"/>
                </a:solidFill>
                <a:latin typeface="Microsoft YaHei"/>
              </a:rPr>
              <a:t>跨项目读 soc-demo 实读 386 元素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8994" y="3386624"/>
            <a:ext cx="2815043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Microsoft YaHei"/>
              </a:rPr>
              <a:t>中心只持联邦元数据（成员 / 能力 / 接口 / 授权），不持有成员内容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1845" y="3952585"/>
            <a:ext cx="524100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457E6"/>
                </a:solidFill>
                <a:latin typeface="Microsoft YaHei"/>
              </a:rPr>
              <a:t>archgraph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1845" y="4121554"/>
            <a:ext cx="571485" cy="1295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YaHei"/>
              </a:rPr>
              <a:t>canonical 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1845" y="4235852"/>
            <a:ext cx="640063" cy="1295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YaHei"/>
              </a:rPr>
              <a:t>本体可 extends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25939" y="3952585"/>
            <a:ext cx="573866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172A"/>
                </a:solidFill>
                <a:latin typeface="Microsoft YaHei"/>
              </a:rPr>
              <a:t>graph-wiki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25939" y="4121554"/>
            <a:ext cx="571485" cy="1295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YaHei"/>
              </a:rPr>
              <a:t>canonical 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25939" y="4235852"/>
            <a:ext cx="640063" cy="1295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YaHei"/>
              </a:rPr>
              <a:t>本体可 extends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0032" y="3952585"/>
            <a:ext cx="275265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172A"/>
                </a:solidFill>
                <a:latin typeface="Microsoft YaHei"/>
              </a:rPr>
              <a:t>abot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80032" y="4121554"/>
            <a:ext cx="571485" cy="1295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YaHei"/>
              </a:rPr>
              <a:t>canonical 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80032" y="4235852"/>
            <a:ext cx="640063" cy="1295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YaHei"/>
              </a:rPr>
              <a:t>本体可 extends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4126" y="3952585"/>
            <a:ext cx="424566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172A"/>
                </a:solidFill>
                <a:latin typeface="Microsoft YaHei"/>
              </a:rPr>
              <a:t>my-army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34126" y="4121554"/>
            <a:ext cx="571485" cy="1295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YaHei"/>
              </a:rPr>
              <a:t>canonical 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34126" y="4235852"/>
            <a:ext cx="640063" cy="1295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YaHei"/>
              </a:rPr>
              <a:t>本体可 extends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8220" y="3952585"/>
            <a:ext cx="1121302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172A"/>
                </a:solidFill>
                <a:latin typeface="Microsoft YaHei"/>
              </a:rPr>
              <a:t>HarmonyOS-Dev-Standa…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8220" y="4121554"/>
            <a:ext cx="571485" cy="1295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YaHei"/>
              </a:rPr>
              <a:t>canonical 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8220" y="4235852"/>
            <a:ext cx="640063" cy="1295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YaHei"/>
              </a:rPr>
              <a:t>本体可 extends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42313" y="3952585"/>
            <a:ext cx="474333" cy="153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172A"/>
                </a:solidFill>
                <a:latin typeface="Microsoft YaHei"/>
              </a:rPr>
              <a:t>SOC-DEMO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42313" y="4121554"/>
            <a:ext cx="571485" cy="1295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YaHei"/>
              </a:rPr>
              <a:t>canonical 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42313" y="4235852"/>
            <a:ext cx="640063" cy="1295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YaHei"/>
              </a:rPr>
              <a:t>本体可 extends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1885" y="2757990"/>
            <a:ext cx="989146" cy="145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D38D6"/>
                </a:solidFill>
                <a:latin typeface="Microsoft YaHei"/>
              </a:rPr>
              <a:t>组合 = 组织级知识图谱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683" y="5954881"/>
            <a:ext cx="285742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457E6"/>
                </a:solidFill>
                <a:latin typeface="Microsoft YaHei"/>
              </a:rPr>
              <a:t>结论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6773" y="5852966"/>
            <a:ext cx="4838579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0F172A"/>
                </a:solidFill>
                <a:latin typeface="Microsoft YaHei"/>
              </a:rPr>
              <a:t>领域自治保证质量专业；中心统一授权、默认拒绝；组合即组织级知识库，无需合并图谱。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188" y="6554369"/>
            <a:ext cx="4816433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Microsoft YaHei"/>
              </a:rPr>
              <a:t>依据：design-federated-intent-graph-001  ·  overseer-federation-vision-001  ·  docs/external-graph-query.md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4604" y="6554369"/>
            <a:ext cx="1399901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onsolas"/>
              </a:rPr>
              <a:t>ArchGraph · 08 · 组织级知识图谱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9-metric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188" y="264978"/>
            <a:ext cx="951285" cy="170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457E6"/>
                </a:solidFill>
                <a:latin typeface="Consolas"/>
              </a:rPr>
              <a:t>附录 A · 指标明细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455664"/>
            <a:ext cx="5858681" cy="420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Microsoft YaHei"/>
              </a:rPr>
              <a:t>附录：20 个指标 —— 映射 · 我方评测 · 业界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88" y="871515"/>
            <a:ext cx="4725472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475569"/>
                </a:solidFill>
                <a:latin typeface="Microsoft YaHei"/>
              </a:rPr>
              <a:t>数据源：意图图谱 aos-as-* 的 measurement-status / measurement-result 属性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386" y="1384900"/>
            <a:ext cx="228594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29" y="1384900"/>
            <a:ext cx="614347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指标 / 分组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14577" y="1384900"/>
            <a:ext cx="361940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状态机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2300" y="1384900"/>
            <a:ext cx="266693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状态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19529" y="1384900"/>
            <a:ext cx="647683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我方评测结果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8939" y="1384900"/>
            <a:ext cx="361940" cy="161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</a:rPr>
              <a:t>下一步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386" y="1622333"/>
            <a:ext cx="22859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129" y="1622333"/>
            <a:ext cx="777220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F172A"/>
                </a:solidFill>
                <a:latin typeface="Microsoft YaHei"/>
              </a:rPr>
              <a:t>空闲时长｜状态级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4577" y="1622333"/>
            <a:ext cx="461760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aos-idle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2300" y="1622333"/>
            <a:ext cx="34784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DC2F52"/>
                </a:solidFill>
                <a:latin typeface="Microsoft YaHei"/>
              </a:rPr>
              <a:t>✗ 未测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9529" y="1622333"/>
            <a:ext cx="426709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475569"/>
                </a:solidFill>
                <a:latin typeface="Microsoft YaHei"/>
              </a:rPr>
              <a:t>尚未采集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8939" y="1622333"/>
            <a:ext cx="777220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E86A5"/>
                </a:solidFill>
                <a:latin typeface="Microsoft YaHei"/>
              </a:rPr>
              <a:t>需会话时间戳埋点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386" y="1831878"/>
            <a:ext cx="22859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129" y="1831878"/>
            <a:ext cx="1040103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F172A"/>
                </a:solidFill>
                <a:latin typeface="Microsoft YaHei"/>
              </a:rPr>
              <a:t>请示频率与回环｜状态级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4577" y="1831878"/>
            <a:ext cx="895518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aos-awaiting-user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62300" y="1831878"/>
            <a:ext cx="34784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DC2F52"/>
                </a:solidFill>
                <a:latin typeface="Microsoft YaHei"/>
              </a:rPr>
              <a:t>✗ 未测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9529" y="1831878"/>
            <a:ext cx="426709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475569"/>
                </a:solidFill>
                <a:latin typeface="Microsoft YaHei"/>
              </a:rPr>
              <a:t>尚未采集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8939" y="1831878"/>
            <a:ext cx="689592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E86A5"/>
                </a:solidFill>
                <a:latin typeface="Microsoft YaHei"/>
              </a:rPr>
              <a:t>从会话日志统计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386" y="2041423"/>
            <a:ext cx="22859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129" y="2041423"/>
            <a:ext cx="777220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F172A"/>
                </a:solidFill>
                <a:latin typeface="Microsoft YaHei"/>
              </a:rPr>
              <a:t>计划正确率｜执行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14577" y="2041423"/>
            <a:ext cx="702736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aos-reasoning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62300" y="2041423"/>
            <a:ext cx="34784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B26A04"/>
                </a:solidFill>
                <a:latin typeface="Microsoft YaHei"/>
              </a:rPr>
              <a:t>◐ 部分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19529" y="2041423"/>
            <a:ext cx="119783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475569"/>
                </a:solidFill>
                <a:latin typeface="Microsoft YaHei"/>
              </a:rPr>
              <a:t>navigation 20/20（代理）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8939" y="2041423"/>
            <a:ext cx="689592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E86A5"/>
                </a:solidFill>
                <a:latin typeface="Microsoft YaHei"/>
              </a:rPr>
              <a:t>建计划质量题集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386" y="2250967"/>
            <a:ext cx="22859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29" y="2250967"/>
            <a:ext cx="952476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F172A"/>
                </a:solidFill>
                <a:latin typeface="Microsoft YaHei"/>
              </a:rPr>
              <a:t>检索召回与排序｜检索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14577" y="2250967"/>
            <a:ext cx="750932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aos-retrieving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62300" y="2250967"/>
            <a:ext cx="34784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F9D63"/>
                </a:solidFill>
                <a:latin typeface="Microsoft YaHei"/>
              </a:rPr>
              <a:t>✓ 实测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19529" y="2250967"/>
            <a:ext cx="1281080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475569"/>
                </a:solidFill>
                <a:latin typeface="Microsoft YaHei"/>
              </a:rPr>
              <a:t>r@1 94.6→98.7 · MRR 0.997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8939" y="2250967"/>
            <a:ext cx="676448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E86A5"/>
                </a:solidFill>
                <a:latin typeface="Microsoft YaHei"/>
              </a:rPr>
              <a:t>补多跳 Recall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3386" y="2460512"/>
            <a:ext cx="22859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9129" y="2460512"/>
            <a:ext cx="1040103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F172A"/>
                </a:solidFill>
                <a:latin typeface="Microsoft YaHei"/>
              </a:rPr>
              <a:t>工具成功率与轮次｜执行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14577" y="2460512"/>
            <a:ext cx="558151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aos-acting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62300" y="2460512"/>
            <a:ext cx="34784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F9D63"/>
                </a:solidFill>
                <a:latin typeface="Microsoft YaHei"/>
              </a:rPr>
              <a:t>✓ 实测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19529" y="2460512"/>
            <a:ext cx="1140875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475569"/>
                </a:solidFill>
                <a:latin typeface="Microsoft YaHei"/>
              </a:rPr>
              <a:t>成功率 100% · 轮次 −39%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38939" y="2460512"/>
            <a:ext cx="667685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E86A5"/>
                </a:solidFill>
                <a:latin typeface="Microsoft YaHei"/>
              </a:rPr>
              <a:t>扩到 50+ 题集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3386" y="2670057"/>
            <a:ext cx="22859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9129" y="2670057"/>
            <a:ext cx="110582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F172A"/>
                </a:solidFill>
                <a:latin typeface="Microsoft YaHei"/>
              </a:rPr>
              <a:t>去重 P/R 与无损率｜写入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14577" y="2670057"/>
            <a:ext cx="558151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aos-acting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62300" y="2670057"/>
            <a:ext cx="34784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B26A04"/>
                </a:solidFill>
                <a:latin typeface="Microsoft YaHei"/>
              </a:rPr>
              <a:t>◐ 部分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19529" y="2670057"/>
            <a:ext cx="1557108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475569"/>
                </a:solidFill>
                <a:latin typeface="Microsoft YaHei"/>
              </a:rPr>
              <a:t>L1 阈值 0.85（假阳性 0.85–0.89）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38939" y="2670057"/>
            <a:ext cx="580057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E86A5"/>
                </a:solidFill>
                <a:latin typeface="Microsoft YaHei"/>
              </a:rPr>
              <a:t>建 P/R 套件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3386" y="2879602"/>
            <a:ext cx="22859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9129" y="2879602"/>
            <a:ext cx="1040103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F172A"/>
                </a:solidFill>
                <a:latin typeface="Microsoft YaHei"/>
              </a:rPr>
              <a:t>验收通过率与回归｜验收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14577" y="2879602"/>
            <a:ext cx="702736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aos-verifying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62300" y="2879602"/>
            <a:ext cx="34784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B26A04"/>
                </a:solidFill>
                <a:latin typeface="Microsoft YaHei"/>
              </a:rPr>
              <a:t>◐ 部分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19529" y="2879602"/>
            <a:ext cx="1070773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475569"/>
                </a:solidFill>
                <a:latin typeface="Microsoft YaHei"/>
              </a:rPr>
              <a:t>AT 12/12 · 回归 38/38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38939" y="2879602"/>
            <a:ext cx="658923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E86A5"/>
                </a:solidFill>
                <a:latin typeface="Microsoft YaHei"/>
              </a:rPr>
              <a:t>AT 覆盖率守护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3386" y="3089146"/>
            <a:ext cx="22859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129" y="3089146"/>
            <a:ext cx="100943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F172A"/>
                </a:solidFill>
                <a:latin typeface="Microsoft YaHei"/>
              </a:rPr>
              <a:t>等待 / 唤醒时延｜等待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14577" y="3089146"/>
            <a:ext cx="943713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aos-awaiting-resu…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62300" y="3089146"/>
            <a:ext cx="34784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F9D63"/>
                </a:solidFill>
                <a:latin typeface="Microsoft YaHei"/>
              </a:rPr>
              <a:t>✓ 实测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19529" y="3089146"/>
            <a:ext cx="1070773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475569"/>
                </a:solidFill>
                <a:latin typeface="Microsoft YaHei"/>
              </a:rPr>
              <a:t>读 2.0–2.5s · 写 1.1s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8939" y="3089146"/>
            <a:ext cx="514337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E86A5"/>
                </a:solidFill>
                <a:latin typeface="Microsoft YaHei"/>
              </a:rPr>
              <a:t>补唤醒时延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3386" y="3298691"/>
            <a:ext cx="22859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9129" y="3298691"/>
            <a:ext cx="952476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F172A"/>
                </a:solidFill>
                <a:latin typeface="Microsoft YaHei"/>
              </a:rPr>
              <a:t>提交登记完整率｜沉淀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14577" y="3298691"/>
            <a:ext cx="750932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aos-finalizing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962300" y="3298691"/>
            <a:ext cx="34784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DC2F52"/>
                </a:solidFill>
                <a:latin typeface="Microsoft YaHei"/>
              </a:rPr>
              <a:t>✗ 未测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19529" y="3298691"/>
            <a:ext cx="339081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475569"/>
                </a:solidFill>
                <a:latin typeface="Microsoft YaHei"/>
              </a:rPr>
              <a:t>无统计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38939" y="3298691"/>
            <a:ext cx="689592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E86A5"/>
                </a:solidFill>
                <a:latin typeface="Microsoft YaHei"/>
              </a:rPr>
              <a:t>由台账脚本统计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3386" y="3508236"/>
            <a:ext cx="22859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9129" y="3508236"/>
            <a:ext cx="1040103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F172A"/>
                </a:solidFill>
                <a:latin typeface="Microsoft YaHei"/>
              </a:rPr>
              <a:t>记忆准确率与拒答｜沉淀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14577" y="3508236"/>
            <a:ext cx="750932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aos-finalizing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962300" y="3508236"/>
            <a:ext cx="34784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F9D63"/>
                </a:solidFill>
                <a:latin typeface="Microsoft YaHei"/>
              </a:rPr>
              <a:t>✓ 实测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19529" y="3508236"/>
            <a:ext cx="116716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475569"/>
                </a:solidFill>
                <a:latin typeface="Microsoft YaHei"/>
              </a:rPr>
              <a:t>100%(31/31) · 拒答 100%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38939" y="3508236"/>
            <a:ext cx="60196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E86A5"/>
                </a:solidFill>
                <a:latin typeface="Microsoft YaHei"/>
              </a:rPr>
              <a:t>对齐公开基准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3386" y="3717781"/>
            <a:ext cx="22859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11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9129" y="3717781"/>
            <a:ext cx="952476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F172A"/>
                </a:solidFill>
                <a:latin typeface="Microsoft YaHei"/>
              </a:rPr>
              <a:t>任务完成成功率｜整体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14577" y="3717781"/>
            <a:ext cx="606346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aos-machine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62300" y="3717781"/>
            <a:ext cx="34784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B26A04"/>
                </a:solidFill>
                <a:latin typeface="Microsoft YaHei"/>
              </a:rPr>
              <a:t>◐ 部分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9529" y="3717781"/>
            <a:ext cx="1013815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475569"/>
                </a:solidFill>
                <a:latin typeface="Microsoft YaHei"/>
              </a:rPr>
              <a:t>小样本 31/31 · 20/20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38939" y="3717781"/>
            <a:ext cx="764076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E86A5"/>
                </a:solidFill>
                <a:latin typeface="Microsoft YaHei"/>
              </a:rPr>
              <a:t>coding 闭环基准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3386" y="3927326"/>
            <a:ext cx="22859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9129" y="3927326"/>
            <a:ext cx="1097062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F172A"/>
                </a:solidFill>
                <a:latin typeface="Microsoft YaHei"/>
              </a:rPr>
              <a:t>端到端时延 / 成本｜整体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914577" y="3927326"/>
            <a:ext cx="606346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aos-machine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962300" y="3927326"/>
            <a:ext cx="34784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B26A04"/>
                </a:solidFill>
                <a:latin typeface="Microsoft YaHei"/>
              </a:rPr>
              <a:t>◐ 部分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9529" y="3927326"/>
            <a:ext cx="1447573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475569"/>
                </a:solidFill>
                <a:latin typeface="Microsoft YaHei"/>
              </a:rPr>
              <a:t>读 2.0–2.5s · 4890 token/查询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38939" y="3927326"/>
            <a:ext cx="650160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E86A5"/>
                </a:solidFill>
                <a:latin typeface="Microsoft YaHei"/>
              </a:rPr>
              <a:t>成本-召回曲线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33386" y="4136870"/>
            <a:ext cx="22859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13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9129" y="4136870"/>
            <a:ext cx="1430047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F172A"/>
                </a:solidFill>
                <a:latin typeface="Microsoft YaHei"/>
              </a:rPr>
              <a:t>SWE-bench Resolved%｜业界基准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914577" y="4136870"/>
            <a:ext cx="606346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aos-machine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962300" y="4136870"/>
            <a:ext cx="34784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DC2F52"/>
                </a:solidFill>
                <a:latin typeface="Microsoft YaHei"/>
              </a:rPr>
              <a:t>✗ 未测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19529" y="4136870"/>
            <a:ext cx="251453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475569"/>
                </a:solidFill>
                <a:latin typeface="Microsoft YaHei"/>
              </a:rPr>
              <a:t>未跑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438939" y="4136870"/>
            <a:ext cx="571295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E86A5"/>
                </a:solidFill>
                <a:latin typeface="Microsoft YaHei"/>
              </a:rPr>
              <a:t>E2 制度对照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33386" y="4346415"/>
            <a:ext cx="22859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14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9129" y="4346415"/>
            <a:ext cx="1381852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F172A"/>
                </a:solidFill>
                <a:latin typeface="Microsoft YaHei"/>
              </a:rPr>
              <a:t>SWE-bench Verified｜业界基准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14577" y="4346415"/>
            <a:ext cx="606346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aos-machine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962300" y="4346415"/>
            <a:ext cx="34784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DC2F52"/>
                </a:solidFill>
                <a:latin typeface="Microsoft YaHei"/>
              </a:rPr>
              <a:t>✗ 未测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819529" y="4346415"/>
            <a:ext cx="251453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475569"/>
                </a:solidFill>
                <a:latin typeface="Microsoft YaHei"/>
              </a:rPr>
              <a:t>未跑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438939" y="4346415"/>
            <a:ext cx="60196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E86A5"/>
                </a:solidFill>
                <a:latin typeface="Microsoft YaHei"/>
              </a:rPr>
              <a:t>同上（优先）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33386" y="4555960"/>
            <a:ext cx="22859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15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9129" y="4555960"/>
            <a:ext cx="1189071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F172A"/>
                </a:solidFill>
                <a:latin typeface="Microsoft YaHei"/>
              </a:rPr>
              <a:t>Terminal-Bench｜业界基准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14577" y="4555960"/>
            <a:ext cx="606346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aos-machine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62300" y="4555960"/>
            <a:ext cx="34784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DC2F52"/>
                </a:solidFill>
                <a:latin typeface="Microsoft YaHei"/>
              </a:rPr>
              <a:t>✗ 未测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19529" y="4555960"/>
            <a:ext cx="251453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475569"/>
                </a:solidFill>
                <a:latin typeface="Microsoft YaHei"/>
              </a:rPr>
              <a:t>未跑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438939" y="4555960"/>
            <a:ext cx="514337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E86A5"/>
                </a:solidFill>
                <a:latin typeface="Microsoft YaHei"/>
              </a:rPr>
              <a:t>接入并出数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3386" y="4765505"/>
            <a:ext cx="22859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16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9129" y="4765505"/>
            <a:ext cx="1285461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F172A"/>
                </a:solidFill>
                <a:latin typeface="Microsoft YaHei"/>
              </a:rPr>
              <a:t>HumanEval / MBPP｜业界基准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914577" y="4765505"/>
            <a:ext cx="606346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aos-machine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62300" y="4765505"/>
            <a:ext cx="34784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DC2F52"/>
                </a:solidFill>
                <a:latin typeface="Microsoft YaHei"/>
              </a:rPr>
              <a:t>✗ 未测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19529" y="4765505"/>
            <a:ext cx="251453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475569"/>
                </a:solidFill>
                <a:latin typeface="Microsoft YaHei"/>
              </a:rPr>
              <a:t>未跑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438939" y="4765505"/>
            <a:ext cx="339081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E86A5"/>
                </a:solidFill>
                <a:latin typeface="Microsoft YaHei"/>
              </a:rPr>
              <a:t>低优先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33386" y="4975049"/>
            <a:ext cx="22859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19129" y="4975049"/>
            <a:ext cx="1140875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F172A"/>
                </a:solidFill>
                <a:latin typeface="Microsoft YaHei"/>
              </a:rPr>
              <a:t>LiveCodeBench｜业界基准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914577" y="4975049"/>
            <a:ext cx="606346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aos-machine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962300" y="4975049"/>
            <a:ext cx="34784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DC2F52"/>
                </a:solidFill>
                <a:latin typeface="Microsoft YaHei"/>
              </a:rPr>
              <a:t>✗ 未测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819529" y="4975049"/>
            <a:ext cx="251453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475569"/>
                </a:solidFill>
                <a:latin typeface="Microsoft YaHei"/>
              </a:rPr>
              <a:t>未跑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438939" y="4975049"/>
            <a:ext cx="339081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E86A5"/>
                </a:solidFill>
                <a:latin typeface="Microsoft YaHei"/>
              </a:rPr>
              <a:t>低优先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33386" y="5184594"/>
            <a:ext cx="22859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19129" y="5184594"/>
            <a:ext cx="707118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F172A"/>
                </a:solidFill>
                <a:latin typeface="Microsoft YaHei"/>
              </a:rPr>
              <a:t>GAIA｜业界基准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914577" y="5184594"/>
            <a:ext cx="606346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aos-machine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962300" y="5184594"/>
            <a:ext cx="34784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DC2F52"/>
                </a:solidFill>
                <a:latin typeface="Microsoft YaHei"/>
              </a:rPr>
              <a:t>✗ 未测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819529" y="5184594"/>
            <a:ext cx="251453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475569"/>
                </a:solidFill>
                <a:latin typeface="Microsoft YaHei"/>
              </a:rPr>
              <a:t>未跑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38939" y="5184594"/>
            <a:ext cx="339081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E86A5"/>
                </a:solidFill>
                <a:latin typeface="Microsoft YaHei"/>
              </a:rPr>
              <a:t>中优先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3386" y="5394139"/>
            <a:ext cx="22859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19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19129" y="5394139"/>
            <a:ext cx="1189071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F172A"/>
                </a:solidFill>
                <a:latin typeface="Microsoft YaHei"/>
              </a:rPr>
              <a:t>τ-bench pass^k｜业界基准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914577" y="5394139"/>
            <a:ext cx="606346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aos-machine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962300" y="5394139"/>
            <a:ext cx="34784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DC2F52"/>
                </a:solidFill>
                <a:latin typeface="Microsoft YaHei"/>
              </a:rPr>
              <a:t>✗ 未测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819529" y="5394139"/>
            <a:ext cx="251453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475569"/>
                </a:solidFill>
                <a:latin typeface="Microsoft YaHei"/>
              </a:rPr>
              <a:t>未跑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438939" y="5394139"/>
            <a:ext cx="339081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E86A5"/>
                </a:solidFill>
                <a:latin typeface="Microsoft YaHei"/>
              </a:rPr>
              <a:t>中优先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33386" y="5603684"/>
            <a:ext cx="22859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20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19129" y="5603684"/>
            <a:ext cx="996290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F172A"/>
                </a:solidFill>
                <a:latin typeface="Microsoft YaHei"/>
              </a:rPr>
              <a:t>AgentBench｜业界基准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14577" y="5603684"/>
            <a:ext cx="606346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64748B"/>
                </a:solidFill>
                <a:latin typeface="Microsoft YaHei"/>
              </a:rPr>
              <a:t>aos-machine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962300" y="5603684"/>
            <a:ext cx="347844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DC2F52"/>
                </a:solidFill>
                <a:latin typeface="Microsoft YaHei"/>
              </a:rPr>
              <a:t>✗ 未测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819529" y="5603684"/>
            <a:ext cx="251453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475569"/>
                </a:solidFill>
                <a:latin typeface="Microsoft YaHei"/>
              </a:rPr>
              <a:t>未跑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438939" y="5603684"/>
            <a:ext cx="339081" cy="1489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0E86A5"/>
                </a:solidFill>
                <a:latin typeface="Microsoft YaHei"/>
              </a:rPr>
              <a:t>中优先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7683" y="5954881"/>
            <a:ext cx="285742" cy="178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457E6"/>
                </a:solidFill>
                <a:latin typeface="Microsoft YaHei"/>
              </a:rPr>
              <a:t>结论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66773" y="5852966"/>
            <a:ext cx="4421870" cy="202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0F172A"/>
                </a:solidFill>
                <a:latin typeface="Microsoft YaHei"/>
              </a:rPr>
              <a:t>完整口径与出处见意图图谱 aos-as-* 元素属性；本页为参考附录，非汇报主线。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57188" y="6554369"/>
            <a:ext cx="1990913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Microsoft YaHei"/>
              </a:rPr>
              <a:t>依据：aos-as-* measurement-* 属性即本页数据源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415565" y="6554369"/>
            <a:ext cx="1318941" cy="1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onsolas"/>
              </a:rPr>
              <a:t>ArchGraph · 附录 A · 指标明细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