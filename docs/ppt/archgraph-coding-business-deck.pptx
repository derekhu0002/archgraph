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-state-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693" y="169731"/>
            <a:ext cx="626253" cy="170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6B8CFF"/>
                </a:solidFill>
                <a:latin typeface="Consolas"/>
              </a:rPr>
              <a:t>PAGE 1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6693" y="295267"/>
            <a:ext cx="5279099" cy="4048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EEF1F6"/>
                </a:solidFill>
                <a:latin typeface="Microsoft YaHei"/>
              </a:rPr>
              <a:t>Coding 业务全景：以状态机表达的业务价值流程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6693" y="673019"/>
            <a:ext cx="4424728" cy="1862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9AA6BD"/>
                </a:solidFill>
                <a:latin typeface="Microsoft YaHei"/>
              </a:rPr>
              <a:t>主体＝一次 Agent 会话（Coding 业务单元）；左：状态机与关键转移，右：逐标号简释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693" y="822939"/>
            <a:ext cx="2419289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8CFF"/>
                </a:solidFill>
                <a:latin typeface="Microsoft YaHei"/>
              </a:rPr>
              <a:t>① 业务价值流程 = 状态机（主体：一次 Agent 会话）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36" y="5225855"/>
            <a:ext cx="1954719" cy="1862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BBF24"/>
                </a:solidFill>
                <a:latin typeface="Microsoft YaHei"/>
              </a:rPr>
              <a:t>正交区域 B · 后台任务（Region B）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9631" y="5465498"/>
            <a:ext cx="736264" cy="170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EEF1F6"/>
                </a:solidFill>
                <a:latin typeface="Microsoft YaHei"/>
              </a:rPr>
              <a:t>BG.Submitted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9652" y="5612523"/>
            <a:ext cx="316222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已提交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4837" y="5465498"/>
            <a:ext cx="626253" cy="170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EEF1F6"/>
                </a:solidFill>
                <a:latin typeface="Microsoft YaHei"/>
              </a:rPr>
              <a:t>BG.Running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9852" y="5612523"/>
            <a:ext cx="316222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运行中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7545" y="5465498"/>
            <a:ext cx="461236" cy="170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EEF1F6"/>
                </a:solidFill>
                <a:latin typeface="Microsoft YaHei"/>
              </a:rPr>
              <a:t>BG.Done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4018" y="5612523"/>
            <a:ext cx="1008291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完成 → 抛事件唤醒主区域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62739" y="5465498"/>
            <a:ext cx="571247" cy="170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EEF1F6"/>
                </a:solidFill>
                <a:latin typeface="Microsoft YaHei"/>
              </a:rPr>
              <a:t>BG.Failed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0256" y="5612523"/>
            <a:ext cx="236214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失败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436" y="1396901"/>
            <a:ext cx="1697312" cy="1862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9AA6BD"/>
                </a:solidFill>
                <a:latin typeface="Microsoft YaHei"/>
              </a:rPr>
              <a:t>主体区域 · Coding Agent 会话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881" y="1696169"/>
            <a:ext cx="2585020" cy="1943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B8CFF"/>
                </a:solidFill>
                <a:latin typeface="Microsoft YaHei"/>
              </a:rPr>
              <a:t>Running（执行回合）· 复合态：内部六个子状态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456" y="1992580"/>
            <a:ext cx="228594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E1A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099" y="1992961"/>
            <a:ext cx="594821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8CFF"/>
                </a:solidFill>
                <a:latin typeface="Microsoft YaHei"/>
              </a:rPr>
              <a:t>Reasoning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54" y="2146195"/>
            <a:ext cx="474904" cy="1489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9AA6BD"/>
                </a:solidFill>
                <a:latin typeface="Microsoft YaHei"/>
              </a:rPr>
              <a:t>推理/规划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54" y="2256911"/>
            <a:ext cx="637111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指标·计划正确率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66993" y="1992580"/>
            <a:ext cx="228594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E1A"/>
                </a:solidFill>
                <a:latin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14637" y="1992961"/>
            <a:ext cx="652446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Microsoft YaHei"/>
              </a:rPr>
              <a:t>Retrieving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43191" y="2146195"/>
            <a:ext cx="812271" cy="1489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9AA6BD"/>
                </a:solidFill>
                <a:latin typeface="Microsoft YaHei"/>
              </a:rPr>
              <a:t>检索（KG-first）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43191" y="2256911"/>
            <a:ext cx="785697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指标·检索召回与排序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81530" y="1992580"/>
            <a:ext cx="228594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E1A"/>
                </a:solidFill>
                <a:latin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29174" y="1992961"/>
            <a:ext cx="421946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Microsoft YaHei"/>
              </a:rPr>
              <a:t>Acting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7728" y="2146195"/>
            <a:ext cx="746550" cy="1489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9AA6BD"/>
                </a:solidFill>
                <a:latin typeface="Microsoft YaHei"/>
              </a:rPr>
              <a:t>工具执行 / 写图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7728" y="2256911"/>
            <a:ext cx="1287176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指标·工具成功率·轮次 / 去重·无损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456" y="2602164"/>
            <a:ext cx="228594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E1A"/>
                </a:solidFill>
                <a:latin typeface="Microsoft YaHe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0099" y="2602545"/>
            <a:ext cx="882945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Microsoft YaHei"/>
              </a:rPr>
              <a:t>AwaitingResult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654" y="2755780"/>
            <a:ext cx="864848" cy="1489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9AA6BD"/>
                </a:solidFill>
                <a:latin typeface="Microsoft YaHei"/>
              </a:rPr>
              <a:t>等工具结果（等待）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654" y="2866496"/>
            <a:ext cx="752265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指标·等待/唤醒时延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66993" y="2602164"/>
            <a:ext cx="228594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E1A"/>
                </a:solidFill>
                <a:latin typeface="Microsoft YaHe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14637" y="2602545"/>
            <a:ext cx="594821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  <a:latin typeface="Microsoft YaHei"/>
              </a:rPr>
              <a:t>Verifying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43191" y="2755780"/>
            <a:ext cx="834178" cy="1489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9AA6BD"/>
                </a:solidFill>
                <a:latin typeface="Microsoft YaHei"/>
              </a:rPr>
              <a:t>验收（可执行 AT）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43191" y="2866496"/>
            <a:ext cx="859990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指标·验收通过率与回归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81530" y="2602164"/>
            <a:ext cx="228594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E1A"/>
                </a:solidFill>
                <a:latin typeface="Microsoft YaHe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29174" y="2602545"/>
            <a:ext cx="652446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  <a:latin typeface="Microsoft YaHei"/>
              </a:rPr>
              <a:t>Finalizing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7728" y="2755780"/>
            <a:ext cx="891136" cy="1489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9AA6BD"/>
                </a:solidFill>
                <a:latin typeface="Microsoft YaHei"/>
              </a:rPr>
              <a:t>提交 / 交付 / 沉淀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7728" y="2866496"/>
            <a:ext cx="1131160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指标·登记完整率 · 记忆准确率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83155" y="2012163"/>
            <a:ext cx="396230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6B8CFF"/>
                </a:solidFill>
                <a:latin typeface="Microsoft YaHei"/>
              </a:rPr>
              <a:t>需上下文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97692" y="2012163"/>
            <a:ext cx="396230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22D3EE"/>
                </a:solidFill>
                <a:latin typeface="Microsoft YaHei"/>
              </a:rPr>
              <a:t>决定动作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0547" y="2583648"/>
            <a:ext cx="316222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A78BFA"/>
                </a:solidFill>
                <a:latin typeface="Microsoft YaHei"/>
              </a:rPr>
              <a:t>已派发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38259" y="2478876"/>
            <a:ext cx="848275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FBBF24"/>
                </a:solidFill>
                <a:latin typeface="Microsoft YaHei"/>
              </a:rPr>
              <a:t>工具结果 → 回到推理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83155" y="2012163"/>
            <a:ext cx="396230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6B8CFF"/>
                </a:solidFill>
                <a:latin typeface="Microsoft YaHei"/>
              </a:rPr>
              <a:t>实现完成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62260" y="3088461"/>
            <a:ext cx="848275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FB7185"/>
                </a:solidFill>
                <a:latin typeface="Microsoft YaHei"/>
              </a:rPr>
              <a:t>验收失败 → 回流执行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97692" y="2583648"/>
            <a:ext cx="396230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34D399"/>
                </a:solidFill>
                <a:latin typeface="Microsoft YaHei"/>
              </a:rPr>
              <a:t>验收通过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3406" y="3868958"/>
            <a:ext cx="228594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E1A"/>
                </a:solidFill>
                <a:latin typeface="Microsoft YaHei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1050" y="3802665"/>
            <a:ext cx="306697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Microsoft YaHei"/>
              </a:rPr>
              <a:t>Idle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1050" y="3948585"/>
            <a:ext cx="466237" cy="145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A6BD"/>
                </a:solidFill>
                <a:latin typeface="Microsoft YaHei"/>
              </a:rPr>
              <a:t>空闲/待命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9129" y="4161863"/>
            <a:ext cx="562818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指标·空闲时长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95547" y="3868958"/>
            <a:ext cx="228594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E1A"/>
                </a:solidFill>
                <a:latin typeface="Microsoft YaHei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43191" y="3802665"/>
            <a:ext cx="767695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7185"/>
                </a:solidFill>
                <a:latin typeface="Microsoft YaHei"/>
              </a:rPr>
              <a:t>AwaitingUser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43191" y="3948585"/>
            <a:ext cx="933426" cy="145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A6BD"/>
                </a:solidFill>
                <a:latin typeface="Microsoft YaHei"/>
              </a:rPr>
              <a:t>等待用户（人在回路）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81270" y="4161863"/>
            <a:ext cx="934283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指标·请示频率与回环轮次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95787" y="3868958"/>
            <a:ext cx="228594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E1A"/>
                </a:solidFill>
                <a:latin typeface="Microsoft YaHei"/>
              </a:rPr>
              <a:t>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43431" y="3802665"/>
            <a:ext cx="479571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Microsoft YaHei"/>
              </a:rPr>
              <a:t>Stopped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43431" y="3948585"/>
            <a:ext cx="676258" cy="145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A6BD"/>
                </a:solidFill>
                <a:latin typeface="Microsoft YaHei"/>
              </a:rPr>
              <a:t>已停止（终态）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81510" y="4161863"/>
            <a:ext cx="1157163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指标·任务完成成功率（观测点）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14617" y="3759614"/>
            <a:ext cx="956286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FB7185"/>
                </a:solidFill>
                <a:latin typeface="Microsoft YaHei"/>
              </a:rPr>
              <a:t>T7 need_clarification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81130" y="3507550"/>
            <a:ext cx="1212311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FB7185"/>
                </a:solidFill>
                <a:latin typeface="Microsoft YaHei"/>
              </a:rPr>
              <a:t>T8 user_reply → 回 Running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7228" y="3062782"/>
            <a:ext cx="1777796" cy="145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8CFF"/>
                </a:solidFill>
                <a:latin typeface="Microsoft YaHei"/>
              </a:rPr>
              <a:t>T1 user_message[需外部动作] → Running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29374" y="3145609"/>
            <a:ext cx="732263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1">
                <a:solidFill>
                  <a:srgbClr val="FBBF24"/>
                </a:solidFill>
                <a:latin typeface="Microsoft YaHei"/>
              </a:rPr>
              <a:t>T10 后台完成唤醒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19229" y="4231432"/>
            <a:ext cx="1896380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T11 / T12  stop → Stopped（任意状态可终止）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66853" y="2164025"/>
            <a:ext cx="228594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E1A"/>
                </a:solidFill>
                <a:latin typeface="Microsoft YaHei"/>
              </a:rPr>
              <a:t>13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43491" y="2992680"/>
            <a:ext cx="228594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E1A"/>
                </a:solidFill>
                <a:latin typeface="Microsoft YaHei"/>
              </a:rPr>
              <a:t>14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57708" y="3726086"/>
            <a:ext cx="228594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E1A"/>
                </a:solidFill>
                <a:latin typeface="Microsoft YaHei"/>
              </a:rPr>
              <a:t>15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76878" y="3868958"/>
            <a:ext cx="228594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E1A"/>
                </a:solidFill>
                <a:latin typeface="Microsoft YaHei"/>
              </a:rPr>
              <a:t>16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33866" y="5173850"/>
            <a:ext cx="228594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E1A"/>
                </a:solidFill>
                <a:latin typeface="Microsoft YaHei"/>
              </a:rPr>
              <a:t>10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53236" y="822939"/>
            <a:ext cx="1385852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8CFF"/>
                </a:solidFill>
                <a:latin typeface="Microsoft YaHei"/>
              </a:rPr>
              <a:t>② 逐标号简释（状态 / 转移）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53236" y="1085822"/>
            <a:ext cx="228594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0E1A"/>
                </a:solidFill>
                <a:latin typeface="Microsoft YaHei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00879" y="1048638"/>
            <a:ext cx="859609" cy="1522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1">
                <a:solidFill>
                  <a:srgbClr val="EEF1F6"/>
                </a:solidFill>
                <a:latin typeface="Microsoft YaHei"/>
              </a:rPr>
              <a:t>Idle（空闲/待命）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00879" y="1173984"/>
            <a:ext cx="2716462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无在跑回合，等待用户消息、后台完成或定时事件；此时不消耗业务价值。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53236" y="1381090"/>
            <a:ext cx="228594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0E1A"/>
                </a:solidFill>
                <a:latin typeface="Microsoft YaHei"/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800879" y="1343905"/>
            <a:ext cx="958095" cy="1522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1">
                <a:solidFill>
                  <a:srgbClr val="EEF1F6"/>
                </a:solidFill>
                <a:latin typeface="Microsoft YaHei"/>
              </a:rPr>
              <a:t>Running（执行回合）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00879" y="1469251"/>
            <a:ext cx="3160506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一个回合在执行：内部含六个子状态；含『等待自身工具结果』，故等待也属于执行回…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553236" y="1676358"/>
            <a:ext cx="228594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0E1A"/>
                </a:solidFill>
                <a:latin typeface="Microsoft YaHei"/>
              </a:rPr>
              <a:t>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800879" y="1639173"/>
            <a:ext cx="1105824" cy="1522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1">
                <a:solidFill>
                  <a:srgbClr val="EEF1F6"/>
                </a:solidFill>
                <a:latin typeface="Microsoft YaHei"/>
              </a:rPr>
              <a:t>Reasoning（推理/规划）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00879" y="1764519"/>
            <a:ext cx="2840474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决定动作与拆解任务：价值＝把模糊意图变成可执行计划。指标·计划正确率。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53236" y="1971625"/>
            <a:ext cx="228594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0E1A"/>
                </a:solidFill>
                <a:latin typeface="Microsoft YaHei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800879" y="1934441"/>
            <a:ext cx="926759" cy="1522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1">
                <a:solidFill>
                  <a:srgbClr val="EEF1F6"/>
                </a:solidFill>
                <a:latin typeface="Microsoft YaHei"/>
              </a:rPr>
              <a:t>Retrieving（检索）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00879" y="2059786"/>
            <a:ext cx="3144504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KG-first 取上下文/证据（图谱语义检索 + 结构查询 + 仓内内容）：决定『是否答…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53236" y="2266893"/>
            <a:ext cx="228594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0E1A"/>
                </a:solidFill>
                <a:latin typeface="Microsoft YaHei"/>
              </a:rPr>
              <a:t>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800879" y="2229708"/>
            <a:ext cx="1137161" cy="1522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1">
                <a:solidFill>
                  <a:srgbClr val="EEF1F6"/>
                </a:solidFill>
                <a:latin typeface="Microsoft YaHei"/>
              </a:rPr>
              <a:t>Acting（工具执行/写图）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800879" y="2355054"/>
            <a:ext cx="3132503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真正产出：改代码、跑命令，并经写入门禁写图谱（校验→去重→无损）。指标·工具成…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53236" y="2562160"/>
            <a:ext cx="228594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0E1A"/>
                </a:solidFill>
                <a:latin typeface="Microsoft YaHei"/>
              </a:rPr>
              <a:t>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800879" y="2524976"/>
            <a:ext cx="877516" cy="1522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1">
                <a:solidFill>
                  <a:srgbClr val="EEF1F6"/>
                </a:solidFill>
                <a:latin typeface="Microsoft YaHei"/>
              </a:rPr>
              <a:t>Verifying（验收）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800879" y="2650322"/>
            <a:ext cx="3148505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跑可执行验收（GIVEN-WHEN-THEN）+ 图谱校验 + 回归；失败回流 Acting，通过才…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553236" y="2857428"/>
            <a:ext cx="228594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0E1A"/>
                </a:solidFill>
                <a:latin typeface="Microsoft YaHei"/>
              </a:rPr>
              <a:t>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800879" y="2820243"/>
            <a:ext cx="1383376" cy="1522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1">
                <a:solidFill>
                  <a:srgbClr val="EEF1F6"/>
                </a:solidFill>
                <a:latin typeface="Microsoft YaHei"/>
              </a:rPr>
              <a:t>Finalizing（提交/交付/沉淀）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800879" y="2945589"/>
            <a:ext cx="3108501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提交并登记（commit 台账）+ 记忆沉淀（T1/T2/T3）：价值＝经验可复用、跨会话…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553236" y="3152696"/>
            <a:ext cx="228594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0E1A"/>
                </a:solidFill>
                <a:latin typeface="Microsoft YaHei"/>
              </a:rPr>
              <a:t>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00879" y="3115511"/>
            <a:ext cx="1392329" cy="1522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1">
                <a:solidFill>
                  <a:srgbClr val="EEF1F6"/>
                </a:solidFill>
                <a:latin typeface="Microsoft YaHei"/>
              </a:rPr>
              <a:t>AwaitingResult（等工具结果）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00879" y="3240857"/>
            <a:ext cx="3184508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等外部工具/长任务返回；价值不增而时延在涨 —— 只做正交化与唤醒优化。指标·等待…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53236" y="3447963"/>
            <a:ext cx="228594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0E1A"/>
                </a:solidFill>
                <a:latin typeface="Microsoft YaHei"/>
              </a:rPr>
              <a:t>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800879" y="3410779"/>
            <a:ext cx="1204310" cy="1522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1">
                <a:solidFill>
                  <a:srgbClr val="EEF1F6"/>
                </a:solidFill>
                <a:latin typeface="Microsoft YaHei"/>
              </a:rPr>
              <a:t>AwaitingUser（等待用户）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800879" y="3536124"/>
            <a:ext cx="3156506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回合暂停并提问，等人确认/澄清；人被显式拉进回路，防止 Agent 猜错方向。指标·…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553236" y="3743231"/>
            <a:ext cx="228594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0E1A"/>
                </a:solidFill>
                <a:latin typeface="Microsoft YaHei"/>
              </a:rPr>
              <a:t>10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800879" y="3706046"/>
            <a:ext cx="1365469" cy="1522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1">
                <a:solidFill>
                  <a:srgbClr val="EEF1F6"/>
                </a:solidFill>
                <a:latin typeface="Microsoft YaHei"/>
              </a:rPr>
              <a:t>后台任务正交区域（Region B）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00879" y="3831392"/>
            <a:ext cx="3156506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长任务在独立区域跑（Submitted→Running→Done/Failed），与主区域并行，不阻塞…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53236" y="4038499"/>
            <a:ext cx="228594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0E1A"/>
                </a:solidFill>
                <a:latin typeface="Microsoft YaHei"/>
              </a:rPr>
              <a:t>11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800879" y="4001314"/>
            <a:ext cx="868563" cy="1522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1">
                <a:solidFill>
                  <a:srgbClr val="EEF1F6"/>
                </a:solidFill>
                <a:latin typeface="Microsoft YaHei"/>
              </a:rPr>
              <a:t>Stopped（已停止）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800879" y="4126660"/>
            <a:ext cx="2076398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会话终止（终态），也是『任务完成成功率』的观测点。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553236" y="4333766"/>
            <a:ext cx="228594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0E1A"/>
                </a:solidFill>
                <a:latin typeface="Microsoft YaHei"/>
              </a:rPr>
              <a:t>12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800879" y="4296581"/>
            <a:ext cx="1258030" cy="1522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1">
                <a:solidFill>
                  <a:srgbClr val="EEF1F6"/>
                </a:solidFill>
                <a:latin typeface="Microsoft YaHei"/>
              </a:rPr>
              <a:t>Idle --user_message--&gt; …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800879" y="4421927"/>
            <a:ext cx="2236414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入口转移：需求进入，价值流启动；判断是否需要外部动作。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553236" y="4629034"/>
            <a:ext cx="228594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0E1A"/>
                </a:solidFill>
                <a:latin typeface="Microsoft YaHei"/>
              </a:rPr>
              <a:t>13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800879" y="4591849"/>
            <a:ext cx="917806" cy="1522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1">
                <a:solidFill>
                  <a:srgbClr val="EEF1F6"/>
                </a:solidFill>
                <a:latin typeface="Microsoft YaHei"/>
              </a:rPr>
              <a:t>Running 内部主回路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800879" y="4717195"/>
            <a:ext cx="3176508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规划→检索→执行→（等结果）→再规划：主回路每转一圈产出一次可验证增量；实际『干…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553236" y="4924301"/>
            <a:ext cx="228594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0E1A"/>
                </a:solidFill>
                <a:latin typeface="Microsoft YaHei"/>
              </a:rPr>
              <a:t>14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800879" y="4887117"/>
            <a:ext cx="747693" cy="1522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1">
                <a:solidFill>
                  <a:srgbClr val="EEF1F6"/>
                </a:solidFill>
                <a:latin typeface="Microsoft YaHei"/>
              </a:rPr>
              <a:t>Verifying 反馈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800879" y="5012463"/>
            <a:ext cx="2992489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验收失败→回流 Acting；验收通过→Finalizing。硬门禁，杜绝『看起来完成』。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553236" y="5219569"/>
            <a:ext cx="228594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0E1A"/>
                </a:solidFill>
                <a:latin typeface="Microsoft YaHei"/>
              </a:rPr>
              <a:t>15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00879" y="5182384"/>
            <a:ext cx="940189" cy="1522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1">
                <a:solidFill>
                  <a:srgbClr val="EEF1F6"/>
                </a:solidFill>
                <a:latin typeface="Microsoft YaHei"/>
              </a:rPr>
              <a:t>人工回路 + 后台唤醒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800879" y="5307730"/>
            <a:ext cx="3164506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Running→AwaitingUser（需要澄清）→user_reply 回 Running；后台 background…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553236" y="5514837"/>
            <a:ext cx="228594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0E1A"/>
                </a:solidFill>
                <a:latin typeface="Microsoft YaHei"/>
              </a:rPr>
              <a:t>16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800879" y="5477652"/>
            <a:ext cx="1181927" cy="1522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1">
                <a:solidFill>
                  <a:srgbClr val="EEF1F6"/>
                </a:solidFill>
                <a:latin typeface="Microsoft YaHei"/>
              </a:rPr>
              <a:t>终止：--stop--&gt; Stopped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800879" y="5602998"/>
            <a:ext cx="2260416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任意主体状态收到 stop 即终止，业务单元的终态与观测点。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553236" y="5813914"/>
            <a:ext cx="2071635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  <a:latin typeface="Microsoft YaHei"/>
              </a:rPr>
              <a:t>价值阶段 ↔ 行为指标（12 项，第 3 页展开）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686582" y="5997513"/>
            <a:ext cx="834893" cy="1441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90" b="0">
                <a:solidFill>
                  <a:srgbClr val="9AA6BD"/>
                </a:solidFill>
                <a:latin typeface="Microsoft YaHei"/>
              </a:rPr>
              <a:t>① Idle → 空闲时长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686582" y="6126098"/>
            <a:ext cx="2008962" cy="1441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90" b="0">
                <a:solidFill>
                  <a:srgbClr val="9AA6BD"/>
                </a:solidFill>
                <a:latin typeface="Microsoft YaHei"/>
              </a:rPr>
              <a:t>② Running → 任务完成成功率 · 端到端时延/成本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686582" y="6254682"/>
            <a:ext cx="1152781" cy="1441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90" b="0">
                <a:solidFill>
                  <a:srgbClr val="9AA6BD"/>
                </a:solidFill>
                <a:latin typeface="Microsoft YaHei"/>
              </a:rPr>
              <a:t>③ Reasoning → 计划正确率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686582" y="6383266"/>
            <a:ext cx="1368946" cy="1441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90" b="0">
                <a:solidFill>
                  <a:srgbClr val="9AA6BD"/>
                </a:solidFill>
                <a:latin typeface="Microsoft YaHei"/>
              </a:rPr>
              <a:t>④ Retrieving → 检索召回与排序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686582" y="6511851"/>
            <a:ext cx="2148833" cy="1441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90" b="0">
                <a:solidFill>
                  <a:srgbClr val="9AA6BD"/>
                </a:solidFill>
                <a:latin typeface="Microsoft YaHei"/>
              </a:rPr>
              <a:t>⑤ Acting → 工具成功率与轮次 · 去重 P/R 与无损率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686582" y="6640435"/>
            <a:ext cx="1407093" cy="1441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90" b="0">
                <a:solidFill>
                  <a:srgbClr val="9AA6BD"/>
                </a:solidFill>
                <a:latin typeface="Microsoft YaHei"/>
              </a:rPr>
              <a:t>⑥ Verifying → 验收通过率与回归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686582" y="6769019"/>
            <a:ext cx="1932669" cy="1441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90" b="0">
                <a:solidFill>
                  <a:srgbClr val="9AA6BD"/>
                </a:solidFill>
                <a:latin typeface="Microsoft YaHei"/>
              </a:rPr>
              <a:t>⑦ Finalizing → 提交登记完整率 · 记忆准确率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686582" y="6897603"/>
            <a:ext cx="1898761" cy="1441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90" b="0">
                <a:solidFill>
                  <a:srgbClr val="9AA6BD"/>
                </a:solidFill>
                <a:latin typeface="Microsoft YaHei"/>
              </a:rPr>
              <a:t>⑧⑨ 等待态 → 等待/唤醒时延 · 请示频率与回环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66693" y="6532005"/>
            <a:ext cx="10373227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6B7793"/>
                </a:solidFill>
                <a:latin typeface="Microsoft YaHei"/>
              </a:rPr>
              <a:t>依据：视图 uml2-coding-statemachine-view-002（顶层状态机）　·　视图 uml2-coding-running-view-002（Running 子状态，可观测）　·　视图 uml2-coding-background-view-002（后台任务正交区域）　·　tests/uml2-coding-statemachine.test.js（8 …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834607" y="6532005"/>
            <a:ext cx="1090394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4B5670"/>
                </a:solidFill>
                <a:latin typeface="Consolas"/>
              </a:rPr>
              <a:t>ArchGraph · PAGE 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-pain-and-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693" y="169731"/>
            <a:ext cx="626253" cy="170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6B8CFF"/>
                </a:solidFill>
                <a:latin typeface="Consolas"/>
              </a:rPr>
              <a:t>PAGE 2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6693" y="295267"/>
            <a:ext cx="6910214" cy="4048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EEF1F6"/>
                </a:solidFill>
                <a:latin typeface="Microsoft YaHei"/>
              </a:rPr>
              <a:t>Coding 的痛点与先进实践：缺的是人与 Agent 的『共同语言』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6693" y="673019"/>
            <a:ext cx="3707275" cy="1862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9AA6BD"/>
                </a:solidFill>
                <a:latin typeface="Microsoft YaHei"/>
              </a:rPr>
              <a:t>左：业界案例与启发 · 右：Arc 框架的应对（本体 + 图谱 = 交流窗口）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693" y="994385"/>
            <a:ext cx="2371665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  <a:latin typeface="Microsoft YaHei"/>
              </a:rPr>
              <a:t>① 业界做得好的是什么（先进实践，逐条附可查来源）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4317" y="1274413"/>
            <a:ext cx="228594" cy="1862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A0E1A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535" y="1280813"/>
            <a:ext cx="2318708" cy="1748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EEF1F6"/>
                </a:solidFill>
                <a:latin typeface="Microsoft YaHei"/>
              </a:rPr>
              <a:t>OpenAI · Harness Engineering（Lopopolo）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535" y="1396368"/>
            <a:ext cx="6298391" cy="131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9AA6BD"/>
                </a:solidFill>
                <a:latin typeface="Microsoft YaHei"/>
              </a:rPr>
              <a:t>10 条模式：AGENTS.md 只做约 100 行目录指向 docs/ 层级、『Agent 看不到的就不存在』、把品味不变量写成自定义 linter（报错面向 Agent 可读）、doc-gardening Agen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535" y="1489710"/>
            <a:ext cx="3625124" cy="131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9AA6BD"/>
                </a:solidFill>
                <a:latin typeface="Microsoft YaHei"/>
              </a:rPr>
              <a:t>t 定期开 PR 修文档漂移、后台清理 Agent + QUALITY_SCORE.md 抗熵、分层架构由 linter 强制。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9513" y="1235552"/>
            <a:ext cx="2179265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34D399"/>
                </a:solidFill>
                <a:latin typeface="Microsoft YaHei"/>
              </a:rPr>
              <a:t>3 人 · 5 个月 · ~100 万行 · 手写 0 行 · 3.5 PR/人/天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317" y="1788750"/>
            <a:ext cx="228594" cy="1862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A0E1A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535" y="1795150"/>
            <a:ext cx="2277561" cy="1748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EEF1F6"/>
                </a:solidFill>
                <a:latin typeface="Microsoft YaHei"/>
              </a:rPr>
              <a:t>Bun · Zig→Rust 整体移植（Jarred Sumner）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535" y="1910705"/>
            <a:ext cx="6317679" cy="131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9AA6BD"/>
                </a:solidFill>
                <a:latin typeface="Microsoft YaHei"/>
              </a:rPr>
              <a:t>作者先花约 3 小时与 Agent 讨论并序列化出 PORTING.md（模式映射）与 LIFETIMES.tsv（逐字段生命周期，对抗式复核），再用 ~50 个动态 workflow、峰值 64 个并行 Agen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535" y="2004047"/>
            <a:ext cx="5322436" cy="131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9AA6BD"/>
                </a:solidFill>
                <a:latin typeface="Microsoft YaHei"/>
              </a:rPr>
              <a:t>t 跑完移植（~1,300 行/分钟，5.9B 输入 + 690M 输出 token）；测试全绿才合入。备注：官方博文未提『99% 由 Agent 编写』，该百分比属传闻。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1430" y="1749889"/>
            <a:ext cx="2057348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34D399"/>
                </a:solidFill>
                <a:latin typeface="Microsoft YaHei"/>
              </a:rPr>
              <a:t>535,496 行 Zig · 1,448 文件 · 11 天 · ~6,700 co…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317" y="2303087"/>
            <a:ext cx="228594" cy="1862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A0E1A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535" y="2309488"/>
            <a:ext cx="1783797" cy="1748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EEF1F6"/>
                </a:solidFill>
                <a:latin typeface="Microsoft YaHei"/>
              </a:rPr>
              <a:t>Anthropic · 大规模代码迁移六步法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535" y="2425042"/>
            <a:ext cx="6306106" cy="131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9AA6BD"/>
                </a:solidFill>
                <a:latin typeface="Microsoft YaHei"/>
              </a:rPr>
              <a:t>先建『裁判』（语言无关测试套件，约一百万条断言）→ 写规则手册 → 画依赖图 → 列缺口 → 小规模试跑 → 全量翻译（实现-评审-修复多 Agent 循环）→ 逐一对行为。核心口号：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535" y="2518385"/>
            <a:ext cx="2699317" cy="131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9AA6BD"/>
                </a:solidFill>
                <a:latin typeface="Microsoft YaHei"/>
              </a:rPr>
              <a:t>『不要修代码，要修产生代码的循环』；规则手册随每次评审发现自动增补。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8563" y="2264226"/>
            <a:ext cx="2160215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34D399"/>
                </a:solidFill>
                <a:latin typeface="Microsoft YaHei"/>
              </a:rPr>
              <a:t>Bun：4 年/$3M → 11 天/~$165k；Krieger 周末迁 165,0…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4317" y="2817424"/>
            <a:ext cx="228594" cy="1862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A0E1A"/>
                </a:solidFill>
                <a:latin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0535" y="2823825"/>
            <a:ext cx="2123259" cy="1748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EEF1F6"/>
                </a:solidFill>
                <a:latin typeface="Microsoft YaHei"/>
              </a:rPr>
              <a:t>DHH（Rails 之父）· 近乎全量 Agent 重写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535" y="2939379"/>
            <a:ext cx="6321536" cy="131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9AA6BD"/>
                </a:solidFill>
                <a:latin typeface="Microsoft YaHei"/>
              </a:rPr>
              <a:t>把 Python 库 TerminalTextEffects 全量重写为 Rust：8 个 Agent 各占一条分支、1,100 万 token、只给计划后零干预；同任务换另一个 Harness 慢 30%。这是『框架作者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535" y="3032722"/>
            <a:ext cx="1754223" cy="131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9AA6BD"/>
                </a:solidFill>
                <a:latin typeface="Microsoft YaHei"/>
              </a:rPr>
              <a:t>+ 结构化上下文 + 隔离分支』组合的典型样本。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5695" y="2778563"/>
            <a:ext cx="2263083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34D399"/>
                </a:solidFill>
                <a:latin typeface="Microsoft YaHei"/>
              </a:rPr>
              <a:t>3 小时 11 分 · 2.1 万行 Rust · 启动 87ms→2ms · 渲染快…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317" y="3331761"/>
            <a:ext cx="228594" cy="1862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A0E1A"/>
                </a:solidFill>
                <a:latin typeface="Microsoft YaHe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535" y="3338162"/>
            <a:ext cx="2071826" cy="1748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EEF1F6"/>
                </a:solidFill>
                <a:latin typeface="Microsoft YaHei"/>
              </a:rPr>
              <a:t>OpenAI · Codex CLI 从 TS 重写为 Rust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0535" y="3453716"/>
            <a:ext cx="6313821" cy="131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9AA6BD"/>
                </a:solidFill>
                <a:latin typeface="Microsoft YaHei"/>
              </a:rPr>
              <a:t>官方 Discussion #1174《Codex CLI is Going Native》：零依赖安装、原生沙箱绑定、无 GC 停顿、可扩展 wire protocol。说明『整框架换语言』这类大改造已由 Agent 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0535" y="3547059"/>
            <a:ext cx="770553" cy="131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9AA6BD"/>
                </a:solidFill>
                <a:latin typeface="Microsoft YaHei"/>
              </a:rPr>
              <a:t>系承担主体工作量。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5224" y="3292900"/>
            <a:ext cx="2213554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34D399"/>
                </a:solidFill>
                <a:latin typeface="Microsoft YaHei"/>
              </a:rPr>
              <a:t>≈ 95.7% Rust · 约 70 个 crate（Agent 编写占比未公开）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4317" y="3846098"/>
            <a:ext cx="228594" cy="1862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A0E1A"/>
                </a:solidFill>
                <a:latin typeface="Microsoft YaHe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0535" y="3852499"/>
            <a:ext cx="2791898" cy="1748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EEF1F6"/>
                </a:solidFill>
                <a:latin typeface="Microsoft YaHei"/>
              </a:rPr>
              <a:t>Mitchell Hashimoto · 单 Agent 深度参与（对照路线）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0535" y="3968053"/>
            <a:ext cx="6263673" cy="131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9AA6BD"/>
                </a:solidFill>
                <a:latin typeface="Microsoft YaHei"/>
              </a:rPr>
              <a:t>与大规模并行相反的路线：一次只跑一个 Agent 并保持深度参与；每当 Agent 犯错就工程化一个机制让它永远不再犯；AGENTS.md 是持续积累的防错系统，而非一次写完的文档。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0535" y="4061396"/>
            <a:ext cx="2259559" cy="131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9AA6BD"/>
                </a:solidFill>
                <a:latin typeface="Microsoft YaHei"/>
              </a:rPr>
              <a:t>说明『人带 Agent』的形态可以不同，但都需要载体承接经验。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01382" y="3807237"/>
            <a:ext cx="2537396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34D399"/>
                </a:solidFill>
                <a:latin typeface="Microsoft YaHei"/>
              </a:rPr>
              <a:t>六步进阶 · 每行 AGENTS.md 对应一次真实失败 · 目标 10–20% 工时…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6693" y="4232804"/>
            <a:ext cx="1704932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B7185"/>
                </a:solidFill>
                <a:latin typeface="Microsoft YaHei"/>
              </a:rPr>
              <a:t>② 业界痛点：为什么大型项目仍然失败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4317" y="4512832"/>
            <a:ext cx="228594" cy="1862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A0E1A"/>
                </a:solidFill>
                <a:latin typeface="Microsoft YaHe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0535" y="4532491"/>
            <a:ext cx="624824" cy="1554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0" b="1">
                <a:solidFill>
                  <a:srgbClr val="EEF1F6"/>
                </a:solidFill>
                <a:latin typeface="Microsoft YaHei"/>
              </a:rPr>
              <a:t>返工与维护性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0990" y="4624576"/>
            <a:ext cx="1960481" cy="1182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30" b="0">
                <a:solidFill>
                  <a:srgbClr val="9AA6BD"/>
                </a:solidFill>
                <a:latin typeface="Microsoft YaHei"/>
              </a:rPr>
              <a:t>GitClear（2.11 亿行变更）：重复代码块为 2020 年的 4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0990" y="4708394"/>
            <a:ext cx="2057824" cy="1182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30" b="0">
                <a:solidFill>
                  <a:srgbClr val="9AA6BD"/>
                </a:solidFill>
                <a:latin typeface="Microsoft YaHei"/>
              </a:rPr>
              <a:t>倍、复制粘贴首次超过『移动代码』、30 天内被改动的 churn…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36761" y="4512832"/>
            <a:ext cx="228594" cy="1862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A0E1A"/>
                </a:solidFill>
                <a:latin typeface="Microsoft YaHe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12979" y="4532491"/>
            <a:ext cx="624824" cy="1554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0" b="1">
                <a:solidFill>
                  <a:srgbClr val="EEF1F6"/>
                </a:solidFill>
                <a:latin typeface="Microsoft YaHei"/>
              </a:rPr>
              <a:t>验证成为瓶颈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03434" y="4624576"/>
            <a:ext cx="1995247" cy="1182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30" b="0">
                <a:solidFill>
                  <a:srgbClr val="9AA6BD"/>
                </a:solidFill>
                <a:latin typeface="Microsoft YaHei"/>
              </a:rPr>
              <a:t>DORA 2025：AI 采纳同时关联『吞吐上升』与『交付不稳定上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3434" y="4708394"/>
            <a:ext cx="2009153" cy="1182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30" b="0">
                <a:solidFill>
                  <a:srgbClr val="9AA6BD"/>
                </a:solidFill>
                <a:latin typeface="Microsoft YaHei"/>
              </a:rPr>
              <a:t>升』，90% 技术人员在用 AI、30% 几乎不信任 AI 代码，省…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9206" y="4512832"/>
            <a:ext cx="228594" cy="1862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A0E1A"/>
                </a:solidFill>
                <a:latin typeface="Microsoft YaHei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35424" y="4532491"/>
            <a:ext cx="716262" cy="1554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0" b="1">
                <a:solidFill>
                  <a:srgbClr val="EEF1F6"/>
                </a:solidFill>
                <a:latin typeface="Microsoft YaHei"/>
              </a:rPr>
              <a:t>信任与调试成本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25879" y="4624576"/>
            <a:ext cx="2002200" cy="1182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30" b="0">
                <a:solidFill>
                  <a:srgbClr val="9AA6BD"/>
                </a:solidFill>
                <a:latin typeface="Microsoft YaHei"/>
              </a:rPr>
              <a:t>Stack Overflow 2025（49,000+ 受访者）：46% 不信任 AI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25879" y="4708394"/>
            <a:ext cx="2002200" cy="1182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30" b="0">
                <a:solidFill>
                  <a:srgbClr val="9AA6BD"/>
                </a:solidFill>
                <a:latin typeface="Microsoft YaHei"/>
              </a:rPr>
              <a:t> 输出准确性（去年 31%），45% 抱怨调试 AI 生成代码耗时…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4317" y="5036694"/>
            <a:ext cx="228594" cy="1862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A0E1A"/>
                </a:solidFill>
                <a:latin typeface="Microsoft YaHei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0535" y="5056353"/>
            <a:ext cx="716262" cy="1554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0" b="1">
                <a:solidFill>
                  <a:srgbClr val="EEF1F6"/>
                </a:solidFill>
                <a:latin typeface="Microsoft YaHei"/>
              </a:rPr>
              <a:t>感知与实测背离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0990" y="5148438"/>
            <a:ext cx="1977864" cy="1182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30" b="0">
                <a:solidFill>
                  <a:srgbClr val="9AA6BD"/>
                </a:solidFill>
                <a:latin typeface="Microsoft YaHei"/>
              </a:rPr>
              <a:t>METR 随机对照试验（16 名资深 OSS 开发者、246 个真实任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0990" y="5232256"/>
            <a:ext cx="2050871" cy="1182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30" b="0">
                <a:solidFill>
                  <a:srgbClr val="9AA6BD"/>
                </a:solidFill>
                <a:latin typeface="Microsoft YaHei"/>
              </a:rPr>
              <a:t>务、平均 5 年项目经验）：事前预测提速 24%、事后自评提速…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36761" y="5036694"/>
            <a:ext cx="228594" cy="1862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A0E1A"/>
                </a:solidFill>
                <a:latin typeface="Microsoft YaHei"/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12979" y="5056353"/>
            <a:ext cx="624824" cy="1554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0" b="1">
                <a:solidFill>
                  <a:srgbClr val="EEF1F6"/>
                </a:solidFill>
                <a:latin typeface="Microsoft YaHei"/>
              </a:rPr>
              <a:t>长上下文假象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03434" y="5148438"/>
            <a:ext cx="1953528" cy="1182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30" b="0">
                <a:solidFill>
                  <a:srgbClr val="9AA6BD"/>
                </a:solidFill>
                <a:latin typeface="Microsoft YaHei"/>
              </a:rPr>
              <a:t>Chroma《Context Rot》（18 个模型）：任务复杂度固定、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03434" y="5232256"/>
            <a:ext cx="2057824" cy="1182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30" b="0">
                <a:solidFill>
                  <a:srgbClr val="9AA6BD"/>
                </a:solidFill>
                <a:latin typeface="Microsoft YaHei"/>
              </a:rPr>
              <a:t>仅拉长输入，性能仍持续下降；干扰项越多越差，haystack 越…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59206" y="5036694"/>
            <a:ext cx="228594" cy="1862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A0E1A"/>
                </a:solidFill>
                <a:latin typeface="Microsoft YaHei"/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35424" y="5056353"/>
            <a:ext cx="592821" cy="1554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0" b="1">
                <a:solidFill>
                  <a:srgbClr val="EEF1F6"/>
                </a:solidFill>
                <a:latin typeface="Microsoft YaHei"/>
              </a:rPr>
              <a:t>合入 ≠ 正确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25879" y="5148438"/>
            <a:ext cx="2016106" cy="1182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30" b="0">
                <a:solidFill>
                  <a:srgbClr val="9AA6BD"/>
                </a:solidFill>
                <a:latin typeface="Microsoft YaHei"/>
              </a:rPr>
              <a:t>Bun 的 Zig→Rust 移植（100 万行变更）在全部测试通过并合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25879" y="5232256"/>
            <a:ext cx="2023059" cy="1182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30" b="0">
                <a:solidFill>
                  <a:srgbClr val="9AA6BD"/>
                </a:solidFill>
                <a:latin typeface="Microsoft YaHei"/>
              </a:rPr>
              <a:t>入后仍引入 19 个已知回归，约 4% 的 Rust 代码位于 unsa…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66693" y="5423399"/>
            <a:ext cx="1600159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BBF24"/>
                </a:solidFill>
                <a:latin typeface="Microsoft YaHei"/>
              </a:rPr>
              <a:t>启发：把成功实践里的共同点抽出来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5287" y="5638201"/>
            <a:ext cx="4043451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9AA6BD"/>
                </a:solidFill>
                <a:latin typeface="Microsoft YaHei"/>
              </a:rPr>
              <a:t>人必须是懂全景业务的专家：案例里都是『一个懂全系统的人做唯一编排者』（OpenAI 3 人 / Bun Sumner / DHH）。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5287" y="5742974"/>
            <a:ext cx="3809428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9AA6BD"/>
                </a:solidFill>
                <a:latin typeface="Microsoft YaHei"/>
              </a:rPr>
              <a:t>结构化上下文先于代码：Bun 先产出 PORTING.md + LIFETIMES.tsv，OpenAI 先有 AGENTS.md→docs/ 层级。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5287" y="5847746"/>
            <a:ext cx="3619980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9AA6BD"/>
                </a:solidFill>
                <a:latin typeface="Microsoft YaHei"/>
              </a:rPr>
              <a:t>验证器先建、由机器执行：Anthropic 六步法第一步是『建裁判』，Bun 以语言无关测试套件为唯一仲裁。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5287" y="5952518"/>
            <a:ext cx="4154891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9AA6BD"/>
                </a:solidFill>
                <a:latin typeface="Microsoft YaHei"/>
              </a:rPr>
              <a:t>对抗式评审 + 上下文隔离 + 修循环：1 个实现者配 ≥2 个只看 diff 的评审者；『不要修代码，要修产生代码的循环』。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95287" y="6057291"/>
            <a:ext cx="3493682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9AA6BD"/>
                </a:solidFill>
                <a:latin typeface="Microsoft YaHei"/>
              </a:rPr>
              <a:t>但这不是定律：METR 实测专家也慢 19%、Chroma 证明上下文越多越不可靠 —— 需要平台与度量兜底。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0990" y="6236737"/>
            <a:ext cx="4120411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FBBF24"/>
                </a:solidFill>
                <a:latin typeface="Microsoft YaHei"/>
              </a:rPr>
              <a:t>⇒ 缺的不是更强的模型，而是一个人与 Agent 都能读写的『共同语言 + 可查上下文 + 可执行门禁』平台。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57868" y="1127731"/>
            <a:ext cx="962000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8CFF"/>
                </a:solidFill>
                <a:latin typeface="Microsoft YaHei"/>
              </a:rPr>
              <a:t>③ Arc 框架解决方案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57868" y="1312435"/>
            <a:ext cx="3227751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22D3EE"/>
                </a:solidFill>
                <a:latin typeface="Microsoft YaHei"/>
              </a:rPr>
              <a:t>Base：Acme（ArchiMate 3.2 + ARGO 扩展）—— 项目可在其上扩展自己的领域本体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05492" y="1731601"/>
            <a:ext cx="228594" cy="1862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A0E1A"/>
                </a:solidFill>
                <a:latin typeface="Microsoft YaHei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81710" y="1735792"/>
            <a:ext cx="877706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EF1F6"/>
                </a:solidFill>
                <a:latin typeface="Microsoft YaHei"/>
              </a:rPr>
              <a:t>本体 = 共同语言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72165" y="1923125"/>
            <a:ext cx="4343767" cy="14087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9" b="0">
                <a:solidFill>
                  <a:srgbClr val="9AA6BD"/>
                </a:solidFill>
                <a:latin typeface="Microsoft YaHei"/>
              </a:rPr>
              <a:t>元素/关系类型是词汇与语法：人说的『能力/流程/状态』与 Agent 读的类型一一对应，歧义在类型层被消除。每个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72165" y="2032660"/>
            <a:ext cx="2698888" cy="14087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9" b="0">
                <a:solidFill>
                  <a:srgbClr val="9AA6BD"/>
                </a:solidFill>
                <a:latin typeface="Microsoft YaHei"/>
              </a:rPr>
              <a:t>项目可 extends 自己的领域本体（本仓即 Acme + UML 2 状态机）。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05492" y="2903147"/>
            <a:ext cx="228594" cy="1862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A0E1A"/>
                </a:solidFill>
                <a:latin typeface="Microsoft YaHei"/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81710" y="2907338"/>
            <a:ext cx="877706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EF1F6"/>
                </a:solidFill>
                <a:latin typeface="Microsoft YaHei"/>
              </a:rPr>
              <a:t>图谱 = 承载方式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72165" y="3094671"/>
            <a:ext cx="4376913" cy="14087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9" b="0">
                <a:solidFill>
                  <a:srgbClr val="9AA6BD"/>
                </a:solidFill>
                <a:latin typeface="Microsoft YaHei"/>
              </a:rPr>
              <a:t>同一张意图图承载业务、架构、指标与状态机；Graph RAG 让 Agent 可按语义/结构检索，并保留证据链与出处（第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72165" y="3204206"/>
            <a:ext cx="461522" cy="14087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9" b="0">
                <a:solidFill>
                  <a:srgbClr val="9AA6BD"/>
                </a:solidFill>
                <a:latin typeface="Microsoft YaHei"/>
              </a:rPr>
              <a:t> 4 页）。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05492" y="4074693"/>
            <a:ext cx="228594" cy="1862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A0E1A"/>
                </a:solidFill>
                <a:latin typeface="Microsoft YaHei"/>
              </a:rP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81710" y="4078884"/>
            <a:ext cx="877706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EF1F6"/>
                </a:solidFill>
                <a:latin typeface="Microsoft YaHei"/>
              </a:rPr>
              <a:t>窗口 = 双向读写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72165" y="4266217"/>
            <a:ext cx="4314764" cy="14087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9" b="0">
                <a:solidFill>
                  <a:srgbClr val="9AA6BD"/>
                </a:solidFill>
                <a:latin typeface="Microsoft YaHei"/>
              </a:rPr>
              <a:t>人写意图、Agent 写实现与验收结论，读写都经 MCP 契约；写入门禁（去重/无损/墓碑）保证这份语言不被写坏。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05492" y="5246238"/>
            <a:ext cx="228594" cy="1862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A0E1A"/>
                </a:solidFill>
                <a:latin typeface="Microsoft YaHei"/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581710" y="5250429"/>
            <a:ext cx="809604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EF1F6"/>
                </a:solidFill>
                <a:latin typeface="Microsoft YaHei"/>
              </a:rPr>
              <a:t>从单项目到组织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72165" y="5437762"/>
            <a:ext cx="2781754" cy="14087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9" b="0">
                <a:solidFill>
                  <a:srgbClr val="9AA6BD"/>
                </a:solidFill>
                <a:latin typeface="Microsoft YaHei"/>
              </a:rPr>
              <a:t>同一套语言可以跨项目引用：联邦式组合出组织级知识图谱（第 5 页）。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66693" y="6532005"/>
            <a:ext cx="10369036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6B7793"/>
                </a:solidFill>
                <a:latin typeface="Microsoft YaHei"/>
              </a:rPr>
              <a:t>依据：核心模型视图 docs/diagrams/core-model.svg　·　AGENTS.md / argo/rules/archgraph.instructions.md（框架侧语言与纪律）　·　来源与口径：OpenAI 官网对抓取 403，其数字取自第三方评述且标注『无法独立验证』；SWE-bench/Terminal-Bench 榜单…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834607" y="6532005"/>
            <a:ext cx="1090394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4B5670"/>
                </a:solidFill>
                <a:latin typeface="Consolas"/>
              </a:rPr>
              <a:t>ArchGraph · PAGE 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3-metric-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693" y="169731"/>
            <a:ext cx="626253" cy="170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6B8CFF"/>
                </a:solidFill>
                <a:latin typeface="Consolas"/>
              </a:rPr>
              <a:t>PAGE 3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6693" y="295267"/>
            <a:ext cx="5755337" cy="4048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EEF1F6"/>
                </a:solidFill>
                <a:latin typeface="Microsoft YaHei"/>
              </a:rPr>
              <a:t>指标体系：指标 ↔ 状态机映射、我方评测与业界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6693" y="673019"/>
            <a:ext cx="5552936" cy="1862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9AA6BD"/>
                </a:solidFill>
                <a:latin typeface="Microsoft YaHei"/>
              </a:rPr>
              <a:t>20 个指标元素（Assessment）：12 个局部/状态指标挂在被测动作上，8 个业界整体基准挂在状态机主体/终态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693" y="994385"/>
            <a:ext cx="1662070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8CFF"/>
                </a:solidFill>
                <a:latin typeface="Microsoft YaHei"/>
              </a:rPr>
              <a:t>指标 ↔ 状态机映射（挂到被测动作）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267" y="1320131"/>
            <a:ext cx="228594" cy="170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A0E1A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911" y="1263288"/>
            <a:ext cx="384228" cy="1586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94A3B8"/>
                </a:solidFill>
                <a:latin typeface="Microsoft YaHei"/>
              </a:rPr>
              <a:t>① Idle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911" y="1412103"/>
            <a:ext cx="440234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空闲/待命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14497" y="1250867"/>
            <a:ext cx="426709" cy="1489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9AA6BD"/>
                </a:solidFill>
                <a:latin typeface="Microsoft YaHei"/>
              </a:rPr>
              <a:t>空闲时长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267" y="1739221"/>
            <a:ext cx="228594" cy="170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A0E1A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911" y="1682377"/>
            <a:ext cx="911614" cy="1586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B8CFF"/>
                </a:solidFill>
                <a:latin typeface="Microsoft YaHei"/>
              </a:rPr>
              <a:t>② Running（主体）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11" y="1831192"/>
            <a:ext cx="768267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执行回合 · 跨整体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14497" y="1669957"/>
            <a:ext cx="689592" cy="1489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9AA6BD"/>
                </a:solidFill>
                <a:latin typeface="Microsoft YaHei"/>
              </a:rPr>
              <a:t>任务完成成功率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14497" y="1784254"/>
            <a:ext cx="1048866" cy="1489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9AA6BD"/>
                </a:solidFill>
                <a:latin typeface="Microsoft YaHei"/>
              </a:rPr>
              <a:t>端到端时延/成本/可复现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267" y="2158311"/>
            <a:ext cx="228594" cy="170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A0E1A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911" y="2101467"/>
            <a:ext cx="640921" cy="1586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B8CFF"/>
                </a:solidFill>
                <a:latin typeface="Microsoft YaHei"/>
              </a:rPr>
              <a:t>③ Reasoning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911" y="2250282"/>
            <a:ext cx="440234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推理/规划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14497" y="2089046"/>
            <a:ext cx="514337" cy="1489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9AA6BD"/>
                </a:solidFill>
                <a:latin typeface="Microsoft YaHei"/>
              </a:rPr>
              <a:t>计划正确率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267" y="2577400"/>
            <a:ext cx="228594" cy="170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A0E1A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911" y="2520556"/>
            <a:ext cx="692259" cy="1586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22D3EE"/>
                </a:solidFill>
                <a:latin typeface="Microsoft YaHei"/>
              </a:rPr>
              <a:t>④ Retrieving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911" y="2669371"/>
            <a:ext cx="236214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检索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14497" y="2508136"/>
            <a:ext cx="689592" cy="1489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9AA6BD"/>
                </a:solidFill>
                <a:latin typeface="Microsoft YaHei"/>
              </a:rPr>
              <a:t>检索召回与排序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5267" y="2996490"/>
            <a:ext cx="228594" cy="170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A0E1A"/>
                </a:solidFill>
                <a:latin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2911" y="2939646"/>
            <a:ext cx="486905" cy="1586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A78BFA"/>
                </a:solidFill>
                <a:latin typeface="Microsoft YaHei"/>
              </a:rPr>
              <a:t>⑤ Acting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911" y="3088461"/>
            <a:ext cx="688259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工具执行 / 写图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14497" y="2927226"/>
            <a:ext cx="777220" cy="1489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9AA6BD"/>
                </a:solidFill>
                <a:latin typeface="Microsoft YaHei"/>
              </a:rPr>
              <a:t>工具成功率与轮次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14497" y="3041523"/>
            <a:ext cx="842941" cy="1489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9AA6BD"/>
                </a:solidFill>
                <a:latin typeface="Microsoft YaHei"/>
              </a:rPr>
              <a:t>去重 P/R 与无损率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5267" y="3415579"/>
            <a:ext cx="228594" cy="170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A0E1A"/>
                </a:solidFill>
                <a:latin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2911" y="3358735"/>
            <a:ext cx="640921" cy="1586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34D399"/>
                </a:solidFill>
                <a:latin typeface="Microsoft YaHei"/>
              </a:rPr>
              <a:t>⑥ Verifying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2911" y="3507550"/>
            <a:ext cx="236214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验收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14497" y="3346315"/>
            <a:ext cx="777220" cy="1489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9AA6BD"/>
                </a:solidFill>
                <a:latin typeface="Microsoft YaHei"/>
              </a:rPr>
              <a:t>验收通过率与回归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5267" y="3834669"/>
            <a:ext cx="228594" cy="170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A0E1A"/>
                </a:solidFill>
                <a:latin typeface="Microsoft YaHei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2911" y="3777825"/>
            <a:ext cx="692259" cy="1586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34D399"/>
                </a:solidFill>
                <a:latin typeface="Microsoft YaHei"/>
              </a:rPr>
              <a:t>⑦ Finalizing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2911" y="3926640"/>
            <a:ext cx="820272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提交 / 交付 / 沉淀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14497" y="3765405"/>
            <a:ext cx="689592" cy="1489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9AA6BD"/>
                </a:solidFill>
                <a:latin typeface="Microsoft YaHei"/>
              </a:rPr>
              <a:t>提交登记完整率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14497" y="3879702"/>
            <a:ext cx="777220" cy="1489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9AA6BD"/>
                </a:solidFill>
                <a:latin typeface="Microsoft YaHei"/>
              </a:rPr>
              <a:t>记忆准确率与拒答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5267" y="4253758"/>
            <a:ext cx="228594" cy="170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A0E1A"/>
                </a:solidFill>
                <a:latin typeface="Microsoft YaHei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2911" y="4196914"/>
            <a:ext cx="510241" cy="1586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FBBF24"/>
                </a:solidFill>
                <a:latin typeface="Microsoft YaHei"/>
              </a:rPr>
              <a:t>⑧⑨ 等待态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2911" y="4345729"/>
            <a:ext cx="848275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等工具结果 / 等用户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14497" y="4184494"/>
            <a:ext cx="650160" cy="1489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9AA6BD"/>
                </a:solidFill>
                <a:latin typeface="Microsoft YaHei"/>
              </a:rPr>
              <a:t>等待/唤醒时延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14497" y="4298791"/>
            <a:ext cx="864848" cy="1489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9AA6BD"/>
                </a:solidFill>
                <a:latin typeface="Microsoft YaHei"/>
              </a:rPr>
              <a:t>请示频率与回环轮次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5267" y="4672848"/>
            <a:ext cx="228594" cy="170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A0E1A"/>
                </a:solidFill>
                <a:latin typeface="Microsoft YaHei"/>
              </a:rPr>
              <a:t>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2911" y="4616004"/>
            <a:ext cx="850942" cy="1586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94A3B8"/>
                </a:solidFill>
                <a:latin typeface="Microsoft YaHei"/>
              </a:rPr>
              <a:t>⑩⑪ 正交区 / 终态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2911" y="4764819"/>
            <a:ext cx="836274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后台任务 / Stopped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14497" y="4603584"/>
            <a:ext cx="514337" cy="1489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9AA6BD"/>
                </a:solidFill>
                <a:latin typeface="Microsoft YaHei"/>
              </a:rPr>
              <a:t>（观测点）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6693" y="5032884"/>
            <a:ext cx="995337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  <a:latin typeface="Microsoft YaHei"/>
              </a:rPr>
              <a:t>度量覆盖：20 个指标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3841" y="5224903"/>
            <a:ext cx="228594" cy="145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0E1A"/>
                </a:solidFill>
                <a:latin typeface="Microsoft YaHei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0583" y="5224903"/>
            <a:ext cx="228594" cy="145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0E1A"/>
                </a:solidFill>
                <a:latin typeface="Microsoft YaHei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04009" y="5224903"/>
            <a:ext cx="228594" cy="145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0E1A"/>
                </a:solidFill>
                <a:latin typeface="Microsoft YaHei"/>
              </a:rPr>
              <a:t>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6693" y="5408083"/>
            <a:ext cx="1920191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9AA6BD"/>
                </a:solidFill>
                <a:latin typeface="Microsoft YaHei"/>
              </a:rPr>
              <a:t>measured 4 · partial 5 · not_measured 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6693" y="5544744"/>
            <a:ext cx="3739659" cy="137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793"/>
                </a:solidFill>
                <a:latin typeface="Microsoft YaHei"/>
              </a:rPr>
              <a:t>aos-as-memory / aos-as-retrieve / aos-as-tool / aos-as-wait = measured；4/20 已定量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6693" y="5644754"/>
            <a:ext cx="2500964" cy="137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793"/>
                </a:solidFill>
                <a:latin typeface="Microsoft YaHei"/>
              </a:rPr>
              <a:t>，11/20 未测（含 8 个业界基准），骨架已建、进入机制化迭代。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52796" y="994385"/>
            <a:ext cx="2281180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  <a:latin typeface="Microsoft YaHei"/>
              </a:rPr>
              <a:t>20 个指标：状态机映射 · 我方评测 · 业界与 Gap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19469" y="1209263"/>
            <a:ext cx="228594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EEF1F6"/>
                </a:solidFill>
                <a:latin typeface="Microsoft YaHei"/>
              </a:rPr>
              <a:t>#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48063" y="1209263"/>
            <a:ext cx="549769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EEF1F6"/>
                </a:solidFill>
                <a:latin typeface="Microsoft YaHei"/>
              </a:rPr>
              <a:t>指标 / 分组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24421" y="1209263"/>
            <a:ext cx="495287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EEF1F6"/>
                </a:solidFill>
                <a:latin typeface="Microsoft YaHei"/>
              </a:rPr>
              <a:t>状态机映射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86402" y="1209263"/>
            <a:ext cx="243833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EEF1F6"/>
                </a:solidFill>
                <a:latin typeface="Microsoft YaHei"/>
              </a:rPr>
              <a:t>状态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72185" y="1209263"/>
            <a:ext cx="1714838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EEF1F6"/>
                </a:solidFill>
                <a:latin typeface="Microsoft YaHei"/>
              </a:rPr>
              <a:t>我方评测结果（KG measurement-result）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67673" y="1209263"/>
            <a:ext cx="549769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EEF1F6"/>
                </a:solidFill>
                <a:latin typeface="Microsoft YaHei"/>
              </a:rPr>
              <a:t>业界 / 口径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34446" y="1209263"/>
            <a:ext cx="688068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EEF1F6"/>
                </a:solidFill>
                <a:latin typeface="Microsoft YaHei"/>
              </a:rPr>
              <a:t>Gap · 优化方向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19469" y="1412674"/>
            <a:ext cx="228594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6B7793"/>
                </a:solidFill>
                <a:latin typeface="Microsoft YaHei"/>
              </a:rP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48063" y="1414884"/>
            <a:ext cx="403849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空闲时长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48063" y="1519656"/>
            <a:ext cx="321936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状态级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4421" y="1421513"/>
            <a:ext cx="327651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93"/>
                </a:solidFill>
                <a:latin typeface="Microsoft YaHei"/>
              </a:rPr>
              <a:t>① Idle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86402" y="1419303"/>
            <a:ext cx="318317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FB7185"/>
                </a:solidFill>
                <a:latin typeface="Microsoft YaHei"/>
              </a:rPr>
              <a:t>✗ 未测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72185" y="1423723"/>
            <a:ext cx="373370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9AA6BD"/>
                </a:solidFill>
                <a:latin typeface="Microsoft YaHei"/>
              </a:rPr>
              <a:t>尚未采集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67673" y="1423723"/>
            <a:ext cx="596250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无业界统一口径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134446" y="1423723"/>
            <a:ext cx="819129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低优先：需要会话时间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134446" y="1528495"/>
            <a:ext cx="299077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戳埋点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19469" y="1631744"/>
            <a:ext cx="228594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6B7793"/>
                </a:solidFill>
                <a:latin typeface="Microsoft YaHei"/>
              </a:rPr>
              <a:t>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48063" y="1633953"/>
            <a:ext cx="813414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请示频率与回环轮次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48063" y="1738726"/>
            <a:ext cx="321936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状态级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24421" y="1640583"/>
            <a:ext cx="662923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93"/>
                </a:solidFill>
                <a:latin typeface="Microsoft YaHei"/>
              </a:rPr>
              <a:t>⑨ AwaitingUser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86402" y="1638373"/>
            <a:ext cx="318317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FB7185"/>
                </a:solidFill>
                <a:latin typeface="Microsoft YaHei"/>
              </a:rPr>
              <a:t>✗ 未测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72185" y="1642792"/>
            <a:ext cx="373370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9AA6BD"/>
                </a:solidFill>
                <a:latin typeface="Microsoft YaHei"/>
              </a:rPr>
              <a:t>尚未采集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067673" y="1642792"/>
            <a:ext cx="1027150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τ-bench pass^k 度量工具-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67673" y="1747565"/>
            <a:ext cx="373370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用户交互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134446" y="1642792"/>
            <a:ext cx="819129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从会话日志统计请示次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134446" y="1747565"/>
            <a:ext cx="488525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数/回环轮次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19469" y="1850813"/>
            <a:ext cx="228594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6B7793"/>
                </a:solidFill>
                <a:latin typeface="Microsoft YaHei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448063" y="1853023"/>
            <a:ext cx="485762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计划正确率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448063" y="1957795"/>
            <a:ext cx="240023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执行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24421" y="1859652"/>
            <a:ext cx="537196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93"/>
                </a:solidFill>
                <a:latin typeface="Microsoft YaHei"/>
              </a:rPr>
              <a:t>③ Reasoning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86402" y="1857442"/>
            <a:ext cx="318317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FBBF24"/>
                </a:solidFill>
                <a:latin typeface="Microsoft YaHei"/>
              </a:rPr>
              <a:t>◐ 部分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572185" y="1861862"/>
            <a:ext cx="1305749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9AA6BD"/>
                </a:solidFill>
                <a:latin typeface="Microsoft YaHei"/>
              </a:rPr>
              <a:t>代理指标：navigation-eval 20/20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067673" y="1861862"/>
            <a:ext cx="930569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PlanBench 等有专用口径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134446" y="1861862"/>
            <a:ext cx="819129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设计计划质量题集（目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134446" y="1966634"/>
            <a:ext cx="637111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标-步骤可判定）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219469" y="2069883"/>
            <a:ext cx="228594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6B7793"/>
                </a:solidFill>
                <a:latin typeface="Microsoft YaHei"/>
              </a:rPr>
              <a:t>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448063" y="2072092"/>
            <a:ext cx="649588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检索召回与排序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448063" y="2176865"/>
            <a:ext cx="240023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检索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124421" y="2078722"/>
            <a:ext cx="579105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93"/>
                </a:solidFill>
                <a:latin typeface="Microsoft YaHei"/>
              </a:rPr>
              <a:t>④ Retrieving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86402" y="2076512"/>
            <a:ext cx="318317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34D399"/>
                </a:solidFill>
                <a:latin typeface="Microsoft YaHei"/>
              </a:rPr>
              <a:t>✓ 实测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572185" y="2080931"/>
            <a:ext cx="2438720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9AA6BD"/>
                </a:solidFill>
                <a:latin typeface="Microsoft YaHei"/>
              </a:rPr>
              <a:t>vector r@1 94.6 / r@5 99.4 / MRR 0.967；rerank r@1 98.7→99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572185" y="2185704"/>
            <a:ext cx="811700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9AA6BD"/>
                </a:solidFill>
                <a:latin typeface="Microsoft YaHei"/>
              </a:rPr>
              <a:t>.3–100 / MRR 0.997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067673" y="2080931"/>
            <a:ext cx="960286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GraphRAG/LightRAG 公开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067673" y="2185704"/>
            <a:ext cx="559103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报 r@1 80–95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134446" y="2080931"/>
            <a:ext cx="774553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补多跳 Recall 深度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134446" y="2185704"/>
            <a:ext cx="833988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评测（与社区索引 P0…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19469" y="2288952"/>
            <a:ext cx="228594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6B7793"/>
                </a:solidFill>
                <a:latin typeface="Microsoft YaHei"/>
              </a:rPr>
              <a:t>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448063" y="2291162"/>
            <a:ext cx="731501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工具成功率与轮次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448063" y="2395934"/>
            <a:ext cx="240023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执行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124421" y="2297791"/>
            <a:ext cx="411469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93"/>
                </a:solidFill>
                <a:latin typeface="Microsoft YaHei"/>
              </a:rPr>
              <a:t>⑤ Acting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886402" y="2295581"/>
            <a:ext cx="318317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34D399"/>
                </a:solidFill>
                <a:latin typeface="Microsoft YaHei"/>
              </a:rPr>
              <a:t>✓ 实测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572185" y="2300001"/>
            <a:ext cx="2423861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9AA6BD"/>
                </a:solidFill>
                <a:latin typeface="Microsoft YaHei"/>
              </a:rPr>
              <a:t>A/B(10 题) 挂 MCP 臂：成功率 100%、err 0、轮次 −39%、工具 −4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572185" y="2404773"/>
            <a:ext cx="640825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9AA6BD"/>
                </a:solidFill>
                <a:latin typeface="Microsoft YaHei"/>
              </a:rPr>
              <a:t>3%、token −18%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067673" y="2300001"/>
            <a:ext cx="964001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无统一口径（各 Harness 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067673" y="2404773"/>
            <a:ext cx="299077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自报）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134446" y="2300001"/>
            <a:ext cx="800556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扩充 A/B 题集与宿主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134446" y="2404773"/>
            <a:ext cx="830273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矩阵（opencode/Cur…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219469" y="2508022"/>
            <a:ext cx="228594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6B7793"/>
                </a:solidFill>
                <a:latin typeface="Microsoft YaHei"/>
              </a:rPr>
              <a:t>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448063" y="2510231"/>
            <a:ext cx="792936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去重 P/R 与无损率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448063" y="2615004"/>
            <a:ext cx="240023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写入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124421" y="2516861"/>
            <a:ext cx="312412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93"/>
                </a:solidFill>
                <a:latin typeface="Microsoft YaHei"/>
              </a:rPr>
              <a:t>⑤ 写图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886402" y="2514651"/>
            <a:ext cx="318317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FBBF24"/>
                </a:solidFill>
                <a:latin typeface="Microsoft YaHei"/>
              </a:rPr>
              <a:t>◐ 部分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572185" y="2519070"/>
            <a:ext cx="2427576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9AA6BD"/>
                </a:solidFill>
                <a:latin typeface="Microsoft YaHei"/>
              </a:rPr>
              <a:t>L0 精确复用；L1 语义门阈值 0.85（实测假阳性 0.853–0.889）；无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572185" y="2623843"/>
            <a:ext cx="1175736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9AA6BD"/>
                </a:solidFill>
                <a:latin typeface="Microsoft YaHei"/>
              </a:rPr>
              <a:t>损门名称合并/acknowledgeLoss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067673" y="2519070"/>
            <a:ext cx="967715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框架一般不做写入侧治理（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067673" y="2623843"/>
            <a:ext cx="447663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我方独有）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134446" y="2519070"/>
            <a:ext cx="774553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建去重 P/R 套件 + 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134446" y="2623843"/>
            <a:ext cx="859990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阈值调优（按类型分档…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219469" y="2727091"/>
            <a:ext cx="228594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6B7793"/>
                </a:solidFill>
                <a:latin typeface="Microsoft YaHei"/>
              </a:rPr>
              <a:t>7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448063" y="2729301"/>
            <a:ext cx="731501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验收通过率与回归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448063" y="2834073"/>
            <a:ext cx="240023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验收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124421" y="2735930"/>
            <a:ext cx="537196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93"/>
                </a:solidFill>
                <a:latin typeface="Microsoft YaHei"/>
              </a:rPr>
              <a:t>⑥ Verifying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886402" y="2733720"/>
            <a:ext cx="318317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FBBF24"/>
                </a:solidFill>
                <a:latin typeface="Microsoft YaHei"/>
              </a:rPr>
              <a:t>◐ 部分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572185" y="2738140"/>
            <a:ext cx="2420146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9AA6BD"/>
                </a:solidFill>
                <a:latin typeface="Microsoft YaHei"/>
              </a:rPr>
              <a:t>本模型 AT 12/12；ARGO MCP 回归 38/38；npm test 目标 0 fail 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572185" y="2842912"/>
            <a:ext cx="403087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9AA6BD"/>
                </a:solidFill>
                <a:latin typeface="Microsoft YaHei"/>
              </a:rPr>
              <a:t>/ 0 skip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067673" y="2738140"/>
            <a:ext cx="1019721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业界强调 verification 是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067673" y="2842912"/>
            <a:ext cx="618538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瓶颈（Fowler）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134446" y="2738140"/>
            <a:ext cx="807985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AT 覆盖率守护（acce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134446" y="2842912"/>
            <a:ext cx="804270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ptance-guardian）…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219469" y="2946161"/>
            <a:ext cx="228594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6B7793"/>
                </a:solidFill>
                <a:latin typeface="Microsoft YaHei"/>
              </a:rPr>
              <a:t>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448063" y="2948370"/>
            <a:ext cx="612727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等待/唤醒时延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448063" y="3053143"/>
            <a:ext cx="240023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等待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124421" y="2955000"/>
            <a:ext cx="704832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93"/>
                </a:solidFill>
                <a:latin typeface="Microsoft YaHei"/>
              </a:rPr>
              <a:t>⑧ AwaitingResul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124421" y="3059772"/>
            <a:ext cx="228594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93"/>
                </a:solidFill>
                <a:latin typeface="Microsoft YaHei"/>
              </a:rPr>
              <a:t>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886402" y="2952790"/>
            <a:ext cx="318317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34D399"/>
                </a:solidFill>
                <a:latin typeface="Microsoft YaHei"/>
              </a:rPr>
              <a:t>✓ 实测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572185" y="2957209"/>
            <a:ext cx="2431290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9AA6BD"/>
                </a:solidFill>
                <a:latin typeface="Microsoft YaHei"/>
              </a:rPr>
              <a:t>检索 ~2.0–2.5s；写入 ~1.1s；memory 检索 5.7ms（优化前读 19s 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572185" y="3061982"/>
            <a:ext cx="469951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9AA6BD"/>
                </a:solidFill>
                <a:latin typeface="Microsoft YaHei"/>
              </a:rPr>
              <a:t>/ 写 25s）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067673" y="2957209"/>
            <a:ext cx="964001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GraphRAG 类查询多为秒级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134446" y="2957209"/>
            <a:ext cx="819129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补唤醒路径时延与并发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1134446" y="3061982"/>
            <a:ext cx="373370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场景度量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219469" y="3165230"/>
            <a:ext cx="228594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6B7793"/>
                </a:solidFill>
                <a:latin typeface="Microsoft YaHei"/>
              </a:rPr>
              <a:t>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448063" y="3167440"/>
            <a:ext cx="649588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提交登记完整率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448063" y="3272212"/>
            <a:ext cx="240023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沉淀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124421" y="3174069"/>
            <a:ext cx="579105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93"/>
                </a:solidFill>
                <a:latin typeface="Microsoft YaHei"/>
              </a:rPr>
              <a:t>⑦ Finalizing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886402" y="3171860"/>
            <a:ext cx="318317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FB7185"/>
                </a:solidFill>
                <a:latin typeface="Microsoft YaHei"/>
              </a:rPr>
              <a:t>✗ 未测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572185" y="3176279"/>
            <a:ext cx="1116302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9AA6BD"/>
                </a:solidFill>
                <a:latin typeface="Microsoft YaHei"/>
              </a:rPr>
              <a:t>流程要求登记，但无完整率统计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067673" y="3176279"/>
            <a:ext cx="997433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无（业界普遍无 commit→图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067673" y="3281051"/>
            <a:ext cx="447663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登记闭环）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1134446" y="3176279"/>
            <a:ext cx="774553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由 commit 台账脚本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1134446" y="3281051"/>
            <a:ext cx="447663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统计并回归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219469" y="3384300"/>
            <a:ext cx="228594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6B7793"/>
                </a:solidFill>
                <a:latin typeface="Microsoft YaHei"/>
              </a:rPr>
              <a:t>10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448063" y="3386510"/>
            <a:ext cx="731501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记忆准确率与拒答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448063" y="3491282"/>
            <a:ext cx="240023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沉淀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124421" y="3393139"/>
            <a:ext cx="579105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93"/>
                </a:solidFill>
                <a:latin typeface="Microsoft YaHei"/>
              </a:rPr>
              <a:t>⑦ Finalizing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886402" y="3390929"/>
            <a:ext cx="318317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34D399"/>
                </a:solidFill>
                <a:latin typeface="Microsoft YaHei"/>
              </a:rPr>
              <a:t>✓ 实测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572185" y="3395349"/>
            <a:ext cx="2431290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9AA6BD"/>
                </a:solidFill>
                <a:latin typeface="Microsoft YaHei"/>
              </a:rPr>
              <a:t>整体准确率 100%(31/31)；拒答 100%；检索 5.7ms；4890 token/查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572185" y="3500121"/>
            <a:ext cx="692831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9AA6BD"/>
                </a:solidFill>
                <a:latin typeface="Microsoft YaHei"/>
              </a:rPr>
              <a:t>询；压缩率 94.5%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067673" y="3395349"/>
            <a:ext cx="1001147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LongMemEval/LOCOMO 公开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067673" y="3500121"/>
            <a:ext cx="228594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评测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1134446" y="3395349"/>
            <a:ext cx="785697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对齐公开记忆基准（L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1134446" y="3500121"/>
            <a:ext cx="748551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ongMemEval 子集）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219469" y="3603369"/>
            <a:ext cx="228594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6B7793"/>
                </a:solidFill>
                <a:latin typeface="Microsoft YaHei"/>
              </a:rPr>
              <a:t>11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448063" y="3605579"/>
            <a:ext cx="649588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任务完成成功率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448063" y="3710351"/>
            <a:ext cx="240023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整体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124421" y="3612208"/>
            <a:ext cx="506717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93"/>
                </a:solidFill>
                <a:latin typeface="Microsoft YaHei"/>
              </a:rPr>
              <a:t>② 主体/终态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886402" y="3609999"/>
            <a:ext cx="318317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FBBF24"/>
                </a:solidFill>
                <a:latin typeface="Microsoft YaHei"/>
              </a:rPr>
              <a:t>◐ 部分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572185" y="3614418"/>
            <a:ext cx="2145262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9AA6BD"/>
                </a:solidFill>
                <a:latin typeface="Microsoft YaHei"/>
              </a:rPr>
              <a:t>memory-eval 100%(31/31)、navigation 20/20、A/B 100%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0067673" y="3614418"/>
            <a:ext cx="1001147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SWE-bench Verified 顶尖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0067673" y="3719190"/>
            <a:ext cx="403087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 70%–76%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1134446" y="3614418"/>
            <a:ext cx="774553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补 coding 闭环端到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1134446" y="3719190"/>
            <a:ext cx="833988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端基准 + 制度对照（…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219469" y="3822439"/>
            <a:ext cx="228594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6B7793"/>
                </a:solidFill>
                <a:latin typeface="Microsoft YaHei"/>
              </a:rPr>
              <a:t>12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448063" y="3824649"/>
            <a:ext cx="985431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端到端时延/成本/可复现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448063" y="3929421"/>
            <a:ext cx="240023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整体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124421" y="3831278"/>
            <a:ext cx="312412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93"/>
                </a:solidFill>
                <a:latin typeface="Microsoft YaHei"/>
              </a:rPr>
              <a:t>② 主体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886402" y="3829068"/>
            <a:ext cx="318317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FBBF24"/>
                </a:solidFill>
                <a:latin typeface="Microsoft YaHei"/>
              </a:rPr>
              <a:t>◐ 部分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7572185" y="3833488"/>
            <a:ext cx="2405288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9AA6BD"/>
                </a:solidFill>
                <a:latin typeface="Microsoft YaHei"/>
              </a:rPr>
              <a:t>读 ~2.0–2.5s / 写 ~1.1s；4890 token/查询；rerank 开关准确率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572185" y="3938260"/>
            <a:ext cx="915710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9AA6BD"/>
                </a:solidFill>
                <a:latin typeface="Microsoft YaHei"/>
              </a:rPr>
              <a:t>一致 0.935（不降召回）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067673" y="3833488"/>
            <a:ext cx="964001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各 Harness 自报，口径不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067673" y="3938260"/>
            <a:ext cx="228594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一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1134446" y="3833488"/>
            <a:ext cx="804270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接 agent-cost-prof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1134446" y="3938260"/>
            <a:ext cx="807985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iler 出成本-召回曲…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4219469" y="4041508"/>
            <a:ext cx="228594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6B7793"/>
                </a:solidFill>
                <a:latin typeface="Microsoft YaHei"/>
              </a:rPr>
              <a:t>13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4448063" y="4043718"/>
            <a:ext cx="932188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SWE-bench Resolved%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448063" y="4148490"/>
            <a:ext cx="403849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业界基准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124421" y="4050347"/>
            <a:ext cx="506717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93"/>
                </a:solidFill>
                <a:latin typeface="Microsoft YaHei"/>
              </a:rPr>
              <a:t>② 主体/终态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6886402" y="4048138"/>
            <a:ext cx="318317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FB7185"/>
                </a:solidFill>
                <a:latin typeface="Microsoft YaHei"/>
              </a:rPr>
              <a:t>✗ 未测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572185" y="4052557"/>
            <a:ext cx="596250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9AA6BD"/>
                </a:solidFill>
                <a:latin typeface="Microsoft YaHei"/>
              </a:rPr>
              <a:t>未跑（无实测）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0067673" y="4052557"/>
            <a:ext cx="993718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顶尖 70%–76%（AI Index 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067673" y="4157329"/>
            <a:ext cx="313936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2026）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134446" y="4052557"/>
            <a:ext cx="793126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E2 制度对照：同仓同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1134446" y="4157329"/>
            <a:ext cx="848846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模型，挂 vs 不挂 Ar…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4219469" y="4260578"/>
            <a:ext cx="228594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6B7793"/>
                </a:solidFill>
                <a:latin typeface="Microsoft YaHei"/>
              </a:rPr>
              <a:t>14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4448063" y="4262788"/>
            <a:ext cx="1337657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SWE-bench Verified Resolved%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4448063" y="4367560"/>
            <a:ext cx="403849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业界基准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124421" y="4269417"/>
            <a:ext cx="506717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93"/>
                </a:solidFill>
                <a:latin typeface="Microsoft YaHei"/>
              </a:rPr>
              <a:t>② 主体/终态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886402" y="4267207"/>
            <a:ext cx="318317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FB7185"/>
                </a:solidFill>
                <a:latin typeface="Microsoft YaHei"/>
              </a:rPr>
              <a:t>✗ 未测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7572185" y="4271627"/>
            <a:ext cx="596250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9AA6BD"/>
                </a:solidFill>
                <a:latin typeface="Microsoft YaHei"/>
              </a:rPr>
              <a:t>未跑（无实测）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0067673" y="4271627"/>
            <a:ext cx="819129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同上（人工校验子集）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1134446" y="4271627"/>
            <a:ext cx="596250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同上（优先项）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4219469" y="4479647"/>
            <a:ext cx="228594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6B7793"/>
                </a:solidFill>
                <a:latin typeface="Microsoft YaHei"/>
              </a:rPr>
              <a:t>15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4448063" y="4481857"/>
            <a:ext cx="1161544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Terminal-Bench 任务成功率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4448063" y="4586630"/>
            <a:ext cx="403849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业界基准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6124421" y="4488486"/>
            <a:ext cx="506717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93"/>
                </a:solidFill>
                <a:latin typeface="Microsoft YaHei"/>
              </a:rPr>
              <a:t>② 主体/终态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886402" y="4486277"/>
            <a:ext cx="318317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FB7185"/>
                </a:solidFill>
                <a:latin typeface="Microsoft YaHei"/>
              </a:rPr>
              <a:t>✗ 未测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7572185" y="4490696"/>
            <a:ext cx="596250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9AA6BD"/>
                </a:solidFill>
                <a:latin typeface="Microsoft YaHei"/>
              </a:rPr>
              <a:t>未跑（无实测）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0067673" y="4490696"/>
            <a:ext cx="960286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LangChain 只换 Harness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0067673" y="4595469"/>
            <a:ext cx="681687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：52.8% → 66.5%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1134446" y="4490696"/>
            <a:ext cx="796841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接入 terminal-benc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11134446" y="4595469"/>
            <a:ext cx="677972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h 评测并出对照数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4219469" y="4698717"/>
            <a:ext cx="228594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6B7793"/>
                </a:solidFill>
                <a:latin typeface="Microsoft YaHei"/>
              </a:rPr>
              <a:t>16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448063" y="4700927"/>
            <a:ext cx="1022292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HumanEval/MBPP pass@k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4448063" y="4805699"/>
            <a:ext cx="403849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业界基准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6124421" y="4707556"/>
            <a:ext cx="312412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93"/>
                </a:solidFill>
                <a:latin typeface="Microsoft YaHei"/>
              </a:rPr>
              <a:t>② 主体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6886402" y="4705346"/>
            <a:ext cx="318317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FB7185"/>
                </a:solidFill>
                <a:latin typeface="Microsoft YaHei"/>
              </a:rPr>
              <a:t>✗ 未测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7572185" y="4709766"/>
            <a:ext cx="785697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9AA6BD"/>
                </a:solidFill>
                <a:latin typeface="Microsoft YaHei"/>
              </a:rPr>
              <a:t>未跑（不适用/未测）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0067673" y="4709766"/>
            <a:ext cx="744836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函数级代码生成基准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1134446" y="4709766"/>
            <a:ext cx="819129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低优先：可作为模型侧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11134446" y="4814538"/>
            <a:ext cx="670543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参考，非框架指标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4219469" y="4917786"/>
            <a:ext cx="228594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6B7793"/>
                </a:solidFill>
                <a:latin typeface="Microsoft YaHei"/>
              </a:rPr>
              <a:t>17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4448063" y="4919996"/>
            <a:ext cx="977240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LiveCodeBench pass@1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4448063" y="5024769"/>
            <a:ext cx="403849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业界基准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6124421" y="4926625"/>
            <a:ext cx="312412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93"/>
                </a:solidFill>
                <a:latin typeface="Microsoft YaHei"/>
              </a:rPr>
              <a:t>② 主体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6886402" y="4924416"/>
            <a:ext cx="318317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FB7185"/>
                </a:solidFill>
                <a:latin typeface="Microsoft YaHei"/>
              </a:rPr>
              <a:t>✗ 未测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7572185" y="4928835"/>
            <a:ext cx="596250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9AA6BD"/>
                </a:solidFill>
                <a:latin typeface="Microsoft YaHei"/>
              </a:rPr>
              <a:t>未跑（无实测）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10067673" y="4928835"/>
            <a:ext cx="596250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防污染代码基准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11134446" y="4928835"/>
            <a:ext cx="774553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低优先：与 pass@k 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1134446" y="5033608"/>
            <a:ext cx="744836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同类，先做闭环基准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4219469" y="5136856"/>
            <a:ext cx="228594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6B7793"/>
                </a:solidFill>
                <a:latin typeface="Microsoft YaHei"/>
              </a:rPr>
              <a:t>18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448063" y="5139066"/>
            <a:ext cx="711023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GAIA 任务成功率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4448063" y="5243838"/>
            <a:ext cx="403849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业界基准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6124421" y="5145695"/>
            <a:ext cx="312412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93"/>
                </a:solidFill>
                <a:latin typeface="Microsoft YaHei"/>
              </a:rPr>
              <a:t>② 主体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6886402" y="5143485"/>
            <a:ext cx="318317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FB7185"/>
                </a:solidFill>
                <a:latin typeface="Microsoft YaHei"/>
              </a:rPr>
              <a:t>✗ 未测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572185" y="5147905"/>
            <a:ext cx="596250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9AA6BD"/>
                </a:solidFill>
                <a:latin typeface="Microsoft YaHei"/>
              </a:rPr>
              <a:t>未跑（无实测）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10067673" y="5147905"/>
            <a:ext cx="807985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通用 Agent 任务基准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1134446" y="5147905"/>
            <a:ext cx="807985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中优先：通用 Agent 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1134446" y="5252677"/>
            <a:ext cx="373370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能力对照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4219469" y="5355925"/>
            <a:ext cx="228594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6B7793"/>
                </a:solidFill>
                <a:latin typeface="Microsoft YaHei"/>
              </a:rPr>
              <a:t>19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4448063" y="5358135"/>
            <a:ext cx="706927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τ-bench pass^k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4448063" y="5462908"/>
            <a:ext cx="403849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业界基准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6124421" y="5364764"/>
            <a:ext cx="506717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93"/>
                </a:solidFill>
                <a:latin typeface="Microsoft YaHei"/>
              </a:rPr>
              <a:t>② 主体/终态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6886402" y="5362555"/>
            <a:ext cx="318317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FB7185"/>
                </a:solidFill>
                <a:latin typeface="Microsoft YaHei"/>
              </a:rPr>
              <a:t>✗ 未测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7572185" y="5366974"/>
            <a:ext cx="596250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9AA6BD"/>
                </a:solidFill>
                <a:latin typeface="Microsoft YaHei"/>
              </a:rPr>
              <a:t>未跑（无实测）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0067673" y="5366974"/>
            <a:ext cx="848846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工具-用户交互 pass^k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11134446" y="5366974"/>
            <a:ext cx="819129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中优先：可同时验证人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11134446" y="5471747"/>
            <a:ext cx="447663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工回路设计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4219469" y="5574995"/>
            <a:ext cx="228594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6B7793"/>
                </a:solidFill>
                <a:latin typeface="Microsoft YaHei"/>
              </a:rPr>
              <a:t>20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4448063" y="5577205"/>
            <a:ext cx="981336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AgentBench 任务成功率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4448063" y="5681977"/>
            <a:ext cx="403849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EEF1F6"/>
                </a:solidFill>
                <a:latin typeface="Microsoft YaHei"/>
              </a:rPr>
              <a:t>业界基准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6124421" y="5583834"/>
            <a:ext cx="312412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93"/>
                </a:solidFill>
                <a:latin typeface="Microsoft YaHei"/>
              </a:rPr>
              <a:t>② 主体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6886402" y="5581624"/>
            <a:ext cx="318317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FB7185"/>
                </a:solidFill>
                <a:latin typeface="Microsoft YaHei"/>
              </a:rPr>
              <a:t>✗ 未测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7572185" y="5586044"/>
            <a:ext cx="596250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9AA6BD"/>
                </a:solidFill>
                <a:latin typeface="Microsoft YaHei"/>
              </a:rPr>
              <a:t>未跑（无实测）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0067673" y="5586044"/>
            <a:ext cx="733692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6B7793"/>
                </a:solidFill>
                <a:latin typeface="Microsoft YaHei"/>
              </a:rPr>
              <a:t>多环境 Agent 基准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1134446" y="5586044"/>
            <a:ext cx="819129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中优先：多环境泛化对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1134446" y="5690816"/>
            <a:ext cx="228594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照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4267093" y="6020563"/>
            <a:ext cx="255263" cy="1522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1">
                <a:solidFill>
                  <a:srgbClr val="FB7185"/>
                </a:solidFill>
                <a:latin typeface="Microsoft YaHei"/>
              </a:rPr>
              <a:t>结论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4590935" y="6040451"/>
            <a:ext cx="3330047" cy="1230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0" b="0">
                <a:solidFill>
                  <a:srgbClr val="9AA6BD"/>
                </a:solidFill>
                <a:latin typeface="Microsoft YaHei"/>
              </a:rPr>
              <a:t>已定量 4 项：检索召回、工具成功率、等待时延、记忆准确率 —— 都落在『检索/执行/沉淀』这些框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4590935" y="6128079"/>
            <a:ext cx="872468" cy="1230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0" b="0">
                <a:solidFill>
                  <a:srgbClr val="9AA6BD"/>
                </a:solidFill>
                <a:latin typeface="Microsoft YaHei"/>
              </a:rPr>
              <a:t>架真正提供能力的环节。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4590935" y="6211897"/>
            <a:ext cx="3373480" cy="1230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0" b="0">
                <a:solidFill>
                  <a:srgbClr val="FB7185"/>
                </a:solidFill>
                <a:latin typeface="Microsoft YaHei"/>
              </a:rPr>
              <a:t>最大 Gap 在整体任务层：8 个业界基准全部未跑（not_measured），整体成功率只有自建小样本的 p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590935" y="6299525"/>
            <a:ext cx="387467" cy="1230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0" b="0">
                <a:solidFill>
                  <a:srgbClr val="FB7185"/>
                </a:solidFill>
                <a:latin typeface="Microsoft YaHei"/>
              </a:rPr>
              <a:t>artial。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8200819" y="6020563"/>
            <a:ext cx="1329656" cy="1522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1">
                <a:solidFill>
                  <a:srgbClr val="FBBF24"/>
                </a:solidFill>
                <a:latin typeface="Microsoft YaHei"/>
              </a:rPr>
              <a:t>接下来的优化方向（按优先级）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8200819" y="6180427"/>
            <a:ext cx="1189642" cy="1133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A6BD"/>
                </a:solidFill>
                <a:latin typeface="Microsoft YaHei"/>
              </a:rPr>
              <a:t>P0 整体基准 + 制度对照：SWE-benc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8200819" y="6260435"/>
            <a:ext cx="1236314" cy="1133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A6BD"/>
                </a:solidFill>
                <a:latin typeface="Microsoft YaHei"/>
              </a:rPr>
              <a:t>h Verified / Terminal-Bench，同…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9404114" y="6180427"/>
            <a:ext cx="1169640" cy="1133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A6BD"/>
                </a:solidFill>
                <a:latin typeface="Microsoft YaHei"/>
              </a:rPr>
              <a:t>P1 局部指标补定量：去重 P/R 套件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9404114" y="6260435"/>
            <a:ext cx="1232980" cy="1133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A6BD"/>
                </a:solidFill>
                <a:latin typeface="Microsoft YaHei"/>
              </a:rPr>
              <a:t>（已知 L1 假阳性 0.853–0.889）、…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10607409" y="6180427"/>
            <a:ext cx="1206311" cy="1133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A6BD"/>
                </a:solidFill>
                <a:latin typeface="Microsoft YaHei"/>
              </a:rPr>
              <a:t>P2 与公开口径对齐：记忆对齐 LongM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10607409" y="6260435"/>
            <a:ext cx="1202977" cy="1133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A6BD"/>
                </a:solidFill>
                <a:latin typeface="Microsoft YaHei"/>
              </a:rPr>
              <a:t>emEval 子集；Influence 补数值权…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266693" y="6532005"/>
            <a:ext cx="10327127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6B7793"/>
                </a:solidFill>
                <a:latin typeface="Microsoft YaHei"/>
              </a:rPr>
              <a:t>依据：20 个 Assessment 元素（aos-as-*）的 measurement-status / measurement-result 属性即本页数据源　·　视图 uml2-metric-decomp-agent-view-002 / uml2-metric-decomp-code-view-002（指标分解）　·　视图 uml2-metric-tradeoff-view-002…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10834607" y="6532005"/>
            <a:ext cx="1090394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4B5670"/>
                </a:solidFill>
                <a:latin typeface="Consolas"/>
              </a:rPr>
              <a:t>ArchGraph · PAGE 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4-graph-rag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693" y="169731"/>
            <a:ext cx="626253" cy="170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6B8CFF"/>
                </a:solidFill>
                <a:latin typeface="Consolas"/>
              </a:rPr>
              <a:t>PAGE 4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6693" y="295267"/>
            <a:ext cx="5433876" cy="4048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EEF1F6"/>
                </a:solidFill>
                <a:latin typeface="Microsoft YaHei"/>
              </a:rPr>
              <a:t>检索的一级通用流程：Graph RAG 全景与我方覆盖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6693" y="673019"/>
            <a:ext cx="8022945" cy="1862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9AA6BD"/>
                </a:solidFill>
                <a:latin typeface="Microsoft YaHei"/>
              </a:rPr>
              <a:t>左：业界通用流程（写入 → 检索 → 生成 → 评估闭环，覆盖 RAG 与 Graph 全部相关技术） · 右：Arc 框架的 Graph MCP 供给与环节覆盖/指标映射/度量结果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693" y="994385"/>
            <a:ext cx="2324041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Microsoft YaHei"/>
              </a:rPr>
              <a:t>业界通用流程（覆盖 RAG 与 Graph 全部相关技术）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990" y="1225455"/>
            <a:ext cx="295267" cy="1862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6B8CFF"/>
                </a:solidFill>
                <a:latin typeface="Microsoft YaHei"/>
              </a:rPr>
              <a:t>写入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7268" y="1297805"/>
            <a:ext cx="2164406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6B8CFF"/>
                </a:solidFill>
                <a:latin typeface="Microsoft YaHei"/>
              </a:rPr>
              <a:t>① 写入阶段＝治理阶段：这一步的取舍决定后面检索的上限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990" y="3320903"/>
            <a:ext cx="295267" cy="1862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22D3EE"/>
                </a:solidFill>
                <a:latin typeface="Microsoft YaHei"/>
              </a:rPr>
              <a:t>检索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7268" y="3393253"/>
            <a:ext cx="1816372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22D3EE"/>
                </a:solidFill>
                <a:latin typeface="Microsoft YaHei"/>
              </a:rPr>
              <a:t>② 多路召回 + 融合重排＝当前工业界的主流做法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990" y="4387676"/>
            <a:ext cx="623871" cy="1862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34D399"/>
                </a:solidFill>
                <a:latin typeface="Microsoft YaHei"/>
              </a:rPr>
              <a:t>生成与闭环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19" y="1431762"/>
            <a:ext cx="228594" cy="1554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0" b="1">
                <a:solidFill>
                  <a:srgbClr val="0A0E1A"/>
                </a:solidFill>
                <a:latin typeface="Microsoft YaHei"/>
              </a:rPr>
              <a:t>L1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12" y="1359221"/>
            <a:ext cx="782935" cy="1716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60" b="1">
                <a:solidFill>
                  <a:srgbClr val="EEF1F6"/>
                </a:solidFill>
                <a:latin typeface="Microsoft YaHei"/>
              </a:rPr>
              <a:t>数据接入与治理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4912" y="1516875"/>
            <a:ext cx="1968387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用哪个库，把它放进仓库 （治理：来源/权限/版本）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119" y="1927049"/>
            <a:ext cx="228594" cy="1554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0" b="1">
                <a:solidFill>
                  <a:srgbClr val="0A0E1A"/>
                </a:solidFill>
                <a:latin typeface="Microsoft YaHei"/>
              </a:rPr>
              <a:t>L2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4912" y="1854509"/>
            <a:ext cx="581010" cy="1716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60" b="1">
                <a:solidFill>
                  <a:srgbClr val="EEF1F6"/>
                </a:solidFill>
                <a:latin typeface="Microsoft YaHei"/>
              </a:rPr>
              <a:t>解析与切块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12" y="2012163"/>
            <a:ext cx="1012291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chunk/summary 粒度策略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0119" y="2422337"/>
            <a:ext cx="228594" cy="1554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0" b="1">
                <a:solidFill>
                  <a:srgbClr val="0A0E1A"/>
                </a:solidFill>
                <a:latin typeface="Microsoft YaHei"/>
              </a:rPr>
              <a:t>L3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4912" y="2349796"/>
            <a:ext cx="581010" cy="1716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60" b="1">
                <a:solidFill>
                  <a:srgbClr val="EEF1F6"/>
                </a:solidFill>
                <a:latin typeface="Microsoft YaHei"/>
              </a:rPr>
              <a:t>嵌入与索引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4912" y="2507450"/>
            <a:ext cx="1664356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向量索引 · 关键词倒排 · 语义/结构双投影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0119" y="2917625"/>
            <a:ext cx="228594" cy="1554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0" b="1">
                <a:solidFill>
                  <a:srgbClr val="0A0E1A"/>
                </a:solidFill>
                <a:latin typeface="Microsoft YaHei"/>
              </a:rPr>
              <a:t>L4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4912" y="2845084"/>
            <a:ext cx="681972" cy="1716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60" b="1">
                <a:solidFill>
                  <a:srgbClr val="EEF1F6"/>
                </a:solidFill>
                <a:latin typeface="Microsoft YaHei"/>
              </a:rPr>
              <a:t>图构建与对齐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4912" y="3002738"/>
            <a:ext cx="1708361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实体/关系抽取 · 本体对齐 · 社区/主题层级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0119" y="3736754"/>
            <a:ext cx="228594" cy="1554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0" b="1">
                <a:solidFill>
                  <a:srgbClr val="0A0E1A"/>
                </a:solidFill>
                <a:latin typeface="Microsoft YaHei"/>
              </a:rPr>
              <a:t>L5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4912" y="3664213"/>
            <a:ext cx="278123" cy="1716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60" b="1">
                <a:solidFill>
                  <a:srgbClr val="EEF1F6"/>
                </a:solidFill>
                <a:latin typeface="Microsoft YaHei"/>
              </a:rPr>
              <a:t>召回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4912" y="3821867"/>
            <a:ext cx="1968387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语义(向量) · 稀疏(BM25) · 结构(Cypher/图遍历)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0119" y="4232042"/>
            <a:ext cx="228594" cy="1554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0" b="1">
                <a:solidFill>
                  <a:srgbClr val="0A0E1A"/>
                </a:solidFill>
                <a:latin typeface="Microsoft YaHei"/>
              </a:rPr>
              <a:t>L6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4912" y="4159501"/>
            <a:ext cx="581010" cy="1716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60" b="1">
                <a:solidFill>
                  <a:srgbClr val="EEF1F6"/>
                </a:solidFill>
                <a:latin typeface="Microsoft YaHei"/>
              </a:rPr>
              <a:t>融合与重排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4912" y="4317155"/>
            <a:ext cx="1780368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RRF/加权融合 → Cross-encoder 或 LLM 重排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0119" y="4803527"/>
            <a:ext cx="228594" cy="1554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0" b="1">
                <a:solidFill>
                  <a:srgbClr val="0A0E1A"/>
                </a:solidFill>
                <a:latin typeface="Microsoft YaHei"/>
              </a:rPr>
              <a:t>L7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4912" y="4730987"/>
            <a:ext cx="934379" cy="1716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60" b="1">
                <a:solidFill>
                  <a:srgbClr val="EEF1F6"/>
                </a:solidFill>
                <a:latin typeface="Microsoft YaHei"/>
              </a:rPr>
              <a:t>生成与 grounding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4912" y="4888641"/>
            <a:ext cx="1740364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引用/可追溯 · 拒答 (GraphRAG 的社区摘要)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00119" y="5298815"/>
            <a:ext cx="228594" cy="1554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0" b="1">
                <a:solidFill>
                  <a:srgbClr val="0A0E1A"/>
                </a:solidFill>
                <a:latin typeface="Microsoft YaHei"/>
              </a:rPr>
              <a:t>L8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4912" y="5226274"/>
            <a:ext cx="581010" cy="1716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60" b="1">
                <a:solidFill>
                  <a:srgbClr val="EEF1F6"/>
                </a:solidFill>
                <a:latin typeface="Microsoft YaHei"/>
              </a:rPr>
              <a:t>评估与迭代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4912" y="5383928"/>
            <a:ext cx="1460336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离线指标 → 反馈改进 索引/权重/提示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90258" y="5905580"/>
            <a:ext cx="1300796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FB7185"/>
                </a:solidFill>
                <a:latin typeface="Microsoft YaHei"/>
              </a:rPr>
              <a:t>评估反馈 → 索引 / 权重 / 提示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2971" y="5986198"/>
            <a:ext cx="3872006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6B7793"/>
                </a:solidFill>
                <a:latin typeface="Microsoft YaHei"/>
              </a:rPr>
              <a:t>闭环：度量 → 反馈 → 改进索引/权重/提示，再回到写入与召回 —— 检索质量不是一次调参，而是一个循环。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5847" y="994385"/>
            <a:ext cx="2128784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8CFF"/>
                </a:solidFill>
                <a:latin typeface="Microsoft YaHei"/>
              </a:rPr>
              <a:t>我方 Graph 框架 · 单项目 Graph MCP 供给面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62520" y="1192119"/>
            <a:ext cx="356226" cy="1586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EEF1F6"/>
                </a:solidFill>
                <a:latin typeface="Microsoft YaHei"/>
              </a:rPr>
              <a:t>工具组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53056" y="1192119"/>
            <a:ext cx="1616352" cy="1586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EEF1F6"/>
                </a:solidFill>
                <a:latin typeface="Microsoft YaHei"/>
              </a:rPr>
              <a:t>Graph MCP 工具（单项目内即可用）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62520" y="1373584"/>
            <a:ext cx="492239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22D3EE"/>
                </a:solidFill>
                <a:latin typeface="Microsoft YaHei"/>
              </a:rPr>
              <a:t>R1 读·语义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53056" y="1376899"/>
            <a:ext cx="4230756" cy="131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9AA6BD"/>
                </a:solidFill>
                <a:latin typeface="Microsoft YaHei"/>
              </a:rPr>
              <a:t>getSystemArchitecture（purpose/intent 语义检索）· memory_search（记忆召回，带 matchedSnippet 与出处）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62520" y="1535505"/>
            <a:ext cx="492239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22D3EE"/>
                </a:solidFill>
                <a:latin typeface="Microsoft YaHei"/>
              </a:rPr>
              <a:t>R2 读·上下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62520" y="1640278"/>
            <a:ext cx="228594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22D3EE"/>
                </a:solidFill>
                <a:latin typeface="Microsoft YaHei"/>
              </a:rPr>
              <a:t>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53056" y="1538820"/>
            <a:ext cx="4149748" cy="131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9AA6BD"/>
                </a:solidFill>
                <a:latin typeface="Microsoft YaHei"/>
              </a:rPr>
              <a:t>getIntentElementContext（元素子图/依赖）· getArchitectureViewContext（视图成员全量，含 EA 连线几何）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62520" y="1697426"/>
            <a:ext cx="492239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22D3EE"/>
                </a:solidFill>
                <a:latin typeface="Microsoft YaHei"/>
              </a:rPr>
              <a:t>R3 读·结构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53056" y="1700741"/>
            <a:ext cx="3355097" cy="131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9AA6BD"/>
                </a:solidFill>
                <a:latin typeface="Microsoft YaHei"/>
              </a:rPr>
              <a:t>queryNeo4jGraph（先取 schema 再自行构造只读 Cypher；写子句被拒；投影陈旧自动重建）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62520" y="1859347"/>
            <a:ext cx="492239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22D3EE"/>
                </a:solidFill>
                <a:latin typeface="Microsoft YaHei"/>
              </a:rPr>
              <a:t>W1 写·对象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53056" y="1862662"/>
            <a:ext cx="2749465" cy="131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9AA6BD"/>
                </a:solidFill>
                <a:latin typeface="Microsoft YaHei"/>
              </a:rPr>
              <a:t>add / update / remove ArchitectureElement · Relationship · 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62520" y="2021268"/>
            <a:ext cx="492239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22D3EE"/>
                </a:solidFill>
                <a:latin typeface="Microsoft YaHei"/>
              </a:rPr>
              <a:t>W2 写·批次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53056" y="2024583"/>
            <a:ext cx="3169935" cy="131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9AA6BD"/>
                </a:solidFill>
                <a:latin typeface="Microsoft YaHei"/>
              </a:rPr>
              <a:t>preview / applySystemArchitectureMutation（原子校验）· initializeWorkspace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62520" y="2183189"/>
            <a:ext cx="492239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22D3EE"/>
                </a:solidFill>
                <a:latin typeface="Microsoft YaHei"/>
              </a:rPr>
              <a:t>W3 写·门禁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62520" y="2287962"/>
            <a:ext cx="228594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22D3EE"/>
                </a:solidFill>
                <a:latin typeface="Microsoft YaHei"/>
              </a:rPr>
              <a:t>链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53056" y="2186504"/>
            <a:ext cx="3173793" cy="131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9AA6BD"/>
                </a:solidFill>
                <a:latin typeface="Microsoft YaHei"/>
              </a:rPr>
              <a:t>图谱校验 → 去重门禁（L0 精确 + L1 语义 0.85）→ 无损门禁（merge/delta + 墓碑）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62520" y="2345110"/>
            <a:ext cx="448235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22D3EE"/>
                </a:solidFill>
                <a:latin typeface="Microsoft YaHei"/>
              </a:rPr>
              <a:t>X1 跨项目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53056" y="2348425"/>
            <a:ext cx="3038780" cy="131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9AA6BD"/>
                </a:solidFill>
                <a:latin typeface="Microsoft YaHei"/>
              </a:rPr>
              <a:t>5 个读工具支持 projectId → 经联邦中心读托管副本（引用式，带 namespaceKey）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95847" y="2470723"/>
            <a:ext cx="2628834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  <a:latin typeface="Microsoft YaHei"/>
              </a:rPr>
              <a:t>(a)(b) 环节覆盖 + 指标映射（对应左侧通用流程 L1–L8）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62520" y="2668457"/>
            <a:ext cx="262883" cy="1586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EEF1F6"/>
                </a:solidFill>
                <a:latin typeface="Microsoft YaHei"/>
              </a:rPr>
              <a:t>环节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67313" y="2668457"/>
            <a:ext cx="790269" cy="1586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EEF1F6"/>
                </a:solidFill>
                <a:latin typeface="Microsoft YaHei"/>
              </a:rPr>
              <a:t>名称 / 我方实现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48503" y="2668457"/>
            <a:ext cx="262883" cy="1586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EEF1F6"/>
                </a:solidFill>
                <a:latin typeface="Microsoft YaHei"/>
              </a:rPr>
              <a:t>状态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81890" y="2668457"/>
            <a:ext cx="468237" cy="1586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EEF1F6"/>
                </a:solidFill>
                <a:latin typeface="Microsoft YaHei"/>
              </a:rPr>
              <a:t>(b) 指标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62880" y="2668457"/>
            <a:ext cx="892946" cy="1586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EEF1F6"/>
                </a:solidFill>
                <a:latin typeface="Microsoft YaHei"/>
              </a:rPr>
              <a:t>证据（KG / 实测）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62520" y="2856895"/>
            <a:ext cx="228594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22D3EE"/>
                </a:solidFill>
                <a:latin typeface="Microsoft YaHei"/>
              </a:rPr>
              <a:t>L1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67313" y="2864629"/>
            <a:ext cx="2133546" cy="121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AA6BD"/>
                </a:solidFill>
                <a:latin typeface="Microsoft YaHei"/>
              </a:rPr>
              <a:t>数据接入与治理｜mutation 入库 + 本体校验 + 版本/发布登记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48503" y="2861314"/>
            <a:ext cx="306506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34D399"/>
                </a:solidFill>
                <a:latin typeface="Microsoft YaHei"/>
              </a:rPr>
              <a:t>✓ 覆盖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81890" y="2861314"/>
            <a:ext cx="280504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FBBF24"/>
                </a:solidFill>
                <a:latin typeface="Microsoft YaHei"/>
              </a:rPr>
              <a:t>11·12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62880" y="2867943"/>
            <a:ext cx="1132303" cy="1165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6B7793"/>
                </a:solidFill>
                <a:latin typeface="Microsoft YaHei"/>
              </a:rPr>
              <a:t>写入门禁落库；登记 commit 台账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62520" y="3028340"/>
            <a:ext cx="228594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22D3EE"/>
                </a:solidFill>
                <a:latin typeface="Microsoft YaHei"/>
              </a:rPr>
              <a:t>L2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67313" y="3036074"/>
            <a:ext cx="2337138" cy="121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AA6BD"/>
                </a:solidFill>
                <a:latin typeface="Microsoft YaHei"/>
              </a:rPr>
              <a:t>解析与切块｜不切块：元素/关系/视图即语义单元，策展文本去噪（不…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48503" y="3032760"/>
            <a:ext cx="455093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2D3EE"/>
                </a:solidFill>
                <a:latin typeface="Microsoft YaHei"/>
              </a:rPr>
              <a:t>◎ 本体替代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81890" y="3032760"/>
            <a:ext cx="228594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FBBF24"/>
                </a:solidFill>
                <a:latin typeface="Microsoft YaHei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62880" y="3039389"/>
            <a:ext cx="1492339" cy="1165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6B7793"/>
                </a:solidFill>
                <a:latin typeface="Microsoft YaHei"/>
              </a:rPr>
              <a:t>复合成视图 r@1 82.8→91.9、关系 98.1→100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62520" y="3199786"/>
            <a:ext cx="228594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22D3EE"/>
                </a:solidFill>
                <a:latin typeface="Microsoft YaHei"/>
              </a:rPr>
              <a:t>L3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67313" y="3207520"/>
            <a:ext cx="2347853" cy="121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AA6BD"/>
                </a:solidFill>
                <a:latin typeface="Microsoft YaHei"/>
              </a:rPr>
              <a:t>嵌入与索引｜向量投影（1536 维）+ 全文投影 + 结构投影（Neo4j）…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48503" y="3204206"/>
            <a:ext cx="306506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34D399"/>
                </a:solidFill>
                <a:latin typeface="Microsoft YaHei"/>
              </a:rPr>
              <a:t>✓ 覆盖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381890" y="3204206"/>
            <a:ext cx="228594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FBBF24"/>
                </a:solidFill>
                <a:latin typeface="Microsoft YaHei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62880" y="3210835"/>
            <a:ext cx="1509484" cy="1165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6B7793"/>
                </a:solidFill>
                <a:latin typeface="Microsoft YaHei"/>
              </a:rPr>
              <a:t>vector r@1 94.6 / r@5 99.4 / MRR 0.967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62520" y="3371232"/>
            <a:ext cx="228594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22D3EE"/>
                </a:solidFill>
                <a:latin typeface="Microsoft YaHei"/>
              </a:rPr>
              <a:t>L4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67313" y="3378966"/>
            <a:ext cx="2344282" cy="121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AA6BD"/>
                </a:solidFill>
                <a:latin typeface="Microsoft YaHei"/>
              </a:rPr>
              <a:t>图构建与对齐｜本体即图：类型约束 + 关系端点规则校验；社区索引 …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48503" y="3375651"/>
            <a:ext cx="306506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FBBF24"/>
                </a:solidFill>
                <a:latin typeface="Microsoft YaHei"/>
              </a:rPr>
              <a:t>◐ 部分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81890" y="3375651"/>
            <a:ext cx="228594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FBBF24"/>
                </a:solidFill>
                <a:latin typeface="Microsoft YaHei"/>
              </a:rPr>
              <a:t>7·6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762880" y="3382281"/>
            <a:ext cx="1742650" cy="1165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6B7793"/>
                </a:solidFill>
                <a:latin typeface="Microsoft YaHei"/>
              </a:rPr>
              <a:t>视图成员唯一性不变量；55.7% 元素无结构关系已量化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62520" y="3542678"/>
            <a:ext cx="228594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22D3EE"/>
                </a:solidFill>
                <a:latin typeface="Microsoft YaHei"/>
              </a:rPr>
              <a:t>L5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67313" y="3550412"/>
            <a:ext cx="2347853" cy="121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AA6BD"/>
                </a:solidFill>
                <a:latin typeface="Microsoft YaHei"/>
              </a:rPr>
              <a:t>召回｜语义（purpose-aware 阈值 0.70 + topK）· 词法（BM25/RR…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848503" y="3547097"/>
            <a:ext cx="306506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34D399"/>
                </a:solidFill>
                <a:latin typeface="Microsoft YaHei"/>
              </a:rPr>
              <a:t>✓ 覆盖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381890" y="3547097"/>
            <a:ext cx="228594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FBBF24"/>
                </a:solidFill>
                <a:latin typeface="Microsoft YaHei"/>
              </a:rP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762880" y="3553726"/>
            <a:ext cx="1900380" cy="1165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6B7793"/>
                </a:solidFill>
                <a:latin typeface="Microsoft YaHei"/>
              </a:rPr>
              <a:t>阈值分离窗口 0.686–0.833；hybrid 3:1 权重 A/B +0.4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62520" y="3714123"/>
            <a:ext cx="228594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22D3EE"/>
                </a:solidFill>
                <a:latin typeface="Microsoft YaHei"/>
              </a:rPr>
              <a:t>L6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67313" y="3721857"/>
            <a:ext cx="2376428" cy="121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AA6BD"/>
                </a:solidFill>
                <a:latin typeface="Microsoft YaHei"/>
              </a:rPr>
              <a:t>融合与重排｜RRF 融合（向量占优 3:1）+ LLM listwise 二阶段重排…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848503" y="3718543"/>
            <a:ext cx="306506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34D399"/>
                </a:solidFill>
                <a:latin typeface="Microsoft YaHei"/>
              </a:rPr>
              <a:t>✓ 覆盖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381890" y="3718543"/>
            <a:ext cx="228594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FBBF24"/>
                </a:solidFill>
                <a:latin typeface="Microsoft YaHei"/>
              </a:rPr>
              <a:t>4·8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762880" y="3725172"/>
            <a:ext cx="1903809" cy="1165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6B7793"/>
                </a:solidFill>
                <a:latin typeface="Microsoft YaHei"/>
              </a:rPr>
              <a:t>rerank r@1 98.7→99.3–100、MRR 0.997；读 ~2.0–2.5s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162520" y="3885569"/>
            <a:ext cx="228594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22D3EE"/>
                </a:solidFill>
                <a:latin typeface="Microsoft YaHei"/>
              </a:rPr>
              <a:t>L7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67313" y="3893303"/>
            <a:ext cx="2344282" cy="121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AA6BD"/>
                </a:solidFill>
                <a:latin typeface="Microsoft YaHei"/>
              </a:rPr>
              <a:t>生成与 grounding｜证据链（元素/关系/视图 + commit 属性）+ 拒…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48503" y="3889988"/>
            <a:ext cx="306506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34D399"/>
                </a:solidFill>
                <a:latin typeface="Microsoft YaHei"/>
              </a:rPr>
              <a:t>✓ 覆盖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381890" y="3889988"/>
            <a:ext cx="228594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FBBF24"/>
                </a:solidFill>
                <a:latin typeface="Microsoft YaHei"/>
              </a:rPr>
              <a:t>10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762880" y="3896618"/>
            <a:ext cx="2092399" cy="1165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6B7793"/>
                </a:solidFill>
                <a:latin typeface="Microsoft YaHei"/>
              </a:rPr>
              <a:t>记忆评测：准确率 100%(31/31)、拒答 100%、4890 token/查询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162520" y="4057015"/>
            <a:ext cx="228594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22D3EE"/>
                </a:solidFill>
                <a:latin typeface="Microsoft YaHei"/>
              </a:rPr>
              <a:t>L8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467313" y="4064749"/>
            <a:ext cx="2358569" cy="121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AA6BD"/>
                </a:solidFill>
                <a:latin typeface="Microsoft YaHei"/>
              </a:rPr>
              <a:t>评估与迭代｜golden 题集 + A/B（开/关 MCP）+ 4-way 检索对比 +…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848503" y="4061434"/>
            <a:ext cx="306506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34D399"/>
                </a:solidFill>
                <a:latin typeface="Microsoft YaHei"/>
              </a:rPr>
              <a:t>✓ 覆盖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381890" y="4061434"/>
            <a:ext cx="362226" cy="126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FBBF24"/>
                </a:solidFill>
                <a:latin typeface="Microsoft YaHei"/>
              </a:rPr>
              <a:t>5·10·1…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62880" y="4068063"/>
            <a:ext cx="1927811" cy="1165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6B7793"/>
                </a:solidFill>
                <a:latin typeface="Microsoft YaHei"/>
              </a:rPr>
              <a:t>轮次 −39%、工具 −43%、token −18%；三项度量脚本可复跑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095847" y="4185180"/>
            <a:ext cx="2243081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  <a:latin typeface="Microsoft YaHei"/>
              </a:rPr>
              <a:t>(c) 度量结果（measured / partial，取自 KG）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181570" y="4386038"/>
            <a:ext cx="388610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34D399"/>
                </a:solidFill>
                <a:latin typeface="Microsoft YaHei"/>
              </a:rPr>
              <a:t>检索召回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81570" y="4514965"/>
            <a:ext cx="751979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1">
                <a:solidFill>
                  <a:srgbClr val="EEF1F6"/>
                </a:solidFill>
                <a:latin typeface="Microsoft YaHei"/>
              </a:rPr>
              <a:t>r@1 94.6 → 98.7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143671" y="4386038"/>
            <a:ext cx="232404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34D399"/>
                </a:solidFill>
                <a:latin typeface="Microsoft YaHei"/>
              </a:rPr>
              <a:t>时延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143671" y="4514965"/>
            <a:ext cx="1005910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1">
                <a:solidFill>
                  <a:srgbClr val="EEF1F6"/>
                </a:solidFill>
                <a:latin typeface="Microsoft YaHei"/>
              </a:rPr>
              <a:t>读 2.0–2.5s / 写 1.1s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105772" y="4386038"/>
            <a:ext cx="388610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34D399"/>
                </a:solidFill>
                <a:latin typeface="Microsoft YaHei"/>
              </a:rPr>
              <a:t>记忆检索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105772" y="4514965"/>
            <a:ext cx="870753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1">
                <a:solidFill>
                  <a:srgbClr val="EEF1F6"/>
                </a:solidFill>
                <a:latin typeface="Microsoft YaHei"/>
              </a:rPr>
              <a:t>5.7ms / 压缩 94.5%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181570" y="4747979"/>
            <a:ext cx="525290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34D399"/>
                </a:solidFill>
                <a:latin typeface="Microsoft YaHei"/>
              </a:rPr>
              <a:t>挂 MCP 增量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181570" y="4876906"/>
            <a:ext cx="1050962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1">
                <a:solidFill>
                  <a:srgbClr val="EEF1F6"/>
                </a:solidFill>
                <a:latin typeface="Microsoft YaHei"/>
              </a:rPr>
              <a:t>工具 −43% · token −18%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143671" y="4747979"/>
            <a:ext cx="431566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FBBF24"/>
                </a:solidFill>
                <a:latin typeface="Microsoft YaHei"/>
              </a:rPr>
              <a:t>去重/无损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143671" y="4876906"/>
            <a:ext cx="1468718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1">
                <a:solidFill>
                  <a:srgbClr val="EEF1F6"/>
                </a:solidFill>
                <a:latin typeface="Microsoft YaHei"/>
              </a:rPr>
              <a:t>L1 阈值 0.85（假阳性 0.853–0.88…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105772" y="4747979"/>
            <a:ext cx="388610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FBBF24"/>
                </a:solidFill>
                <a:latin typeface="Microsoft YaHei"/>
              </a:rPr>
              <a:t>整体成功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105772" y="4876906"/>
            <a:ext cx="661875" cy="139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1">
                <a:solidFill>
                  <a:srgbClr val="EEF1F6"/>
                </a:solidFill>
                <a:latin typeface="Microsoft YaHei"/>
              </a:rPr>
              <a:t>31/31 · 20/20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095847" y="4985260"/>
            <a:ext cx="1628734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B7185"/>
                </a:solidFill>
                <a:latin typeface="Microsoft YaHei"/>
              </a:rPr>
              <a:t>Gap（与通用流程的差距 → 下一步）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14917" y="5204482"/>
            <a:ext cx="3385386" cy="119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9AA6BD"/>
                </a:solidFill>
                <a:latin typeface="Microsoft YaHei"/>
              </a:rPr>
              <a:t>稀疏/多跳：词法通道默认关（增益有限），图遍历多跳召回深度未评测 —— 对应业界 L5 的图遍历一环。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314917" y="5328304"/>
            <a:ext cx="3469965" cy="119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9AA6BD"/>
                </a:solidFill>
                <a:latin typeface="Microsoft YaHei"/>
              </a:rPr>
              <a:t>社区级摘要（GraphRAG 的 global 检索）：社区索引 P0 判定增量价值低已暂缓，故 L4 只算 partial。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314917" y="5452126"/>
            <a:ext cx="2758085" cy="119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9AA6BD"/>
                </a:solidFill>
                <a:latin typeface="Microsoft YaHei"/>
              </a:rPr>
              <a:t>端到端 coding 闭环：检索→改码→验收的整链基准与制度对照（挂/不挂）尚未开跑。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314917" y="5575947"/>
            <a:ext cx="2613594" cy="119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9AA6BD"/>
                </a:solidFill>
                <a:latin typeface="Microsoft YaHei"/>
              </a:rPr>
              <a:t>引用可审计：跨项目读已返回引用，但『引用悬空检测』仍靠墓碑账本人工核对。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66693" y="6532005"/>
            <a:ext cx="10381609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6B7793"/>
                </a:solidFill>
                <a:latin typeface="Microsoft YaHei"/>
              </a:rPr>
              <a:t>依据：视图 298 Harness（读/写两条机制链路）· uml2 / graph-rag 组件（default-semantic-retrieval-001、hybrid-semantic-retrieval-001、semantic-rerank-001、graph-write-dedup-gate、lossless-write-gate）　·　评测脚本：scripts/eval-ret…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834607" y="6532005"/>
            <a:ext cx="1090394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4B5670"/>
                </a:solidFill>
                <a:latin typeface="Consolas"/>
              </a:rPr>
              <a:t>ArchGraph · PAGE 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5-fed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693" y="169731"/>
            <a:ext cx="626253" cy="170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6B8CFF"/>
                </a:solidFill>
                <a:latin typeface="Consolas"/>
              </a:rPr>
              <a:t>PAGE 5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6693" y="295267"/>
            <a:ext cx="5433876" cy="4048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EEF1F6"/>
                </a:solidFill>
                <a:latin typeface="Microsoft YaHei"/>
              </a:rPr>
              <a:t>联邦式组织级知识图谱：用 ArcGraph 项目当积木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6693" y="673019"/>
            <a:ext cx="3904438" cy="1862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9AA6BD"/>
                </a:solidFill>
                <a:latin typeface="Microsoft YaHei"/>
              </a:rPr>
              <a:t>上：整体方案 · 下左：三大好处 · 下中：联邦组合示意 · 下右：一句话讲清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39" y="1092109"/>
            <a:ext cx="634825" cy="1862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6B8CFF"/>
                </a:solidFill>
                <a:latin typeface="Microsoft YaHei"/>
              </a:rPr>
              <a:t>① 整体方案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39" y="1286757"/>
            <a:ext cx="6177855" cy="1522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EEF1F6"/>
                </a:solidFill>
                <a:latin typeface="Microsoft YaHei"/>
              </a:rPr>
              <a:t>单个 ArcGraph 项目 = 一个自治的知识图谱单元（含本领域本体的治理与消费）；把这些单元以联邦方式组合，就构成组织级知识图谱（组织知识库）。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4337" y="1624962"/>
            <a:ext cx="3567261" cy="131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9AA6BD"/>
                </a:solidFill>
                <a:latin typeface="Microsoft YaHei"/>
              </a:rPr>
              <a:t>积木：每个项目维护自己的 canonical 意图图（主权、唯一事实源）—— 治理在本项目内闭环（建模/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337" y="1718305"/>
            <a:ext cx="778268" cy="131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9AA6BD"/>
                </a:solidFill>
                <a:latin typeface="Microsoft YaHei"/>
              </a:rPr>
              <a:t>写入/验收/记忆）。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6941" y="1624962"/>
            <a:ext cx="3501683" cy="131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9AA6BD"/>
                </a:solidFill>
                <a:latin typeface="Microsoft YaHei"/>
              </a:rPr>
              <a:t>联邦：成员向联邦中心自注册 → 被发现 → 显式授权（默认拒绝）→ 跨项目读返回引用而非拷贝；中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6941" y="1718305"/>
            <a:ext cx="1908524" cy="131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9AA6BD"/>
                </a:solidFill>
                <a:latin typeface="Microsoft YaHei"/>
              </a:rPr>
              <a:t>心只持元数据（成员/能力/接口/授权）+ 只读镜像。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9546" y="1624962"/>
            <a:ext cx="3092785" cy="131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9AA6BD"/>
                </a:solidFill>
                <a:latin typeface="Microsoft YaHei"/>
              </a:rPr>
              <a:t>价值：领域自治（质量由懂该领域的人负责）+ 组合即组织级知识库（无需合并图谱）。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792" y="2171264"/>
            <a:ext cx="671305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22D3EE"/>
                </a:solidFill>
                <a:latin typeface="Microsoft YaHei"/>
              </a:rPr>
              <a:t>已注册成员：23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8493" y="2171264"/>
            <a:ext cx="671305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22D3EE"/>
                </a:solidFill>
                <a:latin typeface="Microsoft YaHei"/>
              </a:rPr>
              <a:t>已授权关系：45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52195" y="2171264"/>
            <a:ext cx="3097833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22D3EE"/>
                </a:solidFill>
                <a:latin typeface="Microsoft YaHei"/>
              </a:rPr>
              <a:t>archgraph 对外授权：graph-wiki、new-era-cybersecurity-strategy（*）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2424" y="2171264"/>
            <a:ext cx="3621695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22D3EE"/>
                </a:solidFill>
                <a:latin typeface="Microsoft YaHei"/>
              </a:rPr>
              <a:t>跨项目读验证：projectId=soc-demo 实读 soc-demo 库（386 元素，namespaceKey 回传）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6693" y="2365950"/>
            <a:ext cx="847703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  <a:latin typeface="Microsoft YaHei"/>
              </a:rPr>
              <a:t>② 这种方法的好处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4317" y="2665028"/>
            <a:ext cx="228594" cy="1862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A0E1A"/>
                </a:solidFill>
                <a:latin typeface="Microsoft YaHe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535" y="2669219"/>
            <a:ext cx="914377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EF1F6"/>
                </a:solidFill>
                <a:latin typeface="Microsoft YaHei"/>
              </a:rPr>
              <a:t>质量按领域专业化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990" y="2877811"/>
            <a:ext cx="2666933" cy="137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A6BD"/>
                </a:solidFill>
                <a:latin typeface="Microsoft YaHei"/>
              </a:rPr>
              <a:t>知识库维护按领域划分：谁的业务谁建模、谁验收。组织级图谱的质量来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0990" y="2984488"/>
            <a:ext cx="2181170" cy="137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A6BD"/>
                </a:solidFill>
                <a:latin typeface="Microsoft YaHei"/>
              </a:rPr>
              <a:t>自各领域专家的专业度，而不是一个中心团队的二手转述。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4317" y="3598455"/>
            <a:ext cx="228594" cy="1862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A0E1A"/>
                </a:solidFill>
                <a:latin typeface="Microsoft Ya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0535" y="3602645"/>
            <a:ext cx="914377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EF1F6"/>
                </a:solidFill>
                <a:latin typeface="Microsoft YaHei"/>
              </a:rPr>
              <a:t>闭环且地基已铺好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0990" y="3811238"/>
            <a:ext cx="2679077" cy="137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A6BD"/>
                </a:solidFill>
                <a:latin typeface="Microsoft YaHei"/>
              </a:rPr>
              <a:t>基于 ArcGraph 框架做项目知识管理非常闭环：基础设施层（MCP）已代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0990" y="3917915"/>
            <a:ext cx="2614309" cy="137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A6BD"/>
                </a:solidFill>
                <a:latin typeface="Microsoft YaHei"/>
              </a:rPr>
              <a:t>做去重（L0/L1）、无损（merge/delta/墓碑）、结构校验与视图成员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0990" y="4024592"/>
            <a:ext cx="1549678" cy="137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A6BD"/>
                </a:solidFill>
                <a:latin typeface="Microsoft YaHei"/>
              </a:rPr>
              <a:t>唯一性 —— 业务侧只需做业务语义治理。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317" y="4531881"/>
            <a:ext cx="228594" cy="1862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A0E1A"/>
                </a:solidFill>
                <a:latin typeface="Microsoft Ya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535" y="4536072"/>
            <a:ext cx="809604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EF1F6"/>
                </a:solidFill>
                <a:latin typeface="Microsoft YaHei"/>
              </a:rPr>
              <a:t>统一权限与授权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0990" y="4744664"/>
            <a:ext cx="2638597" cy="137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A6BD"/>
                </a:solidFill>
                <a:latin typeface="Microsoft YaHei"/>
              </a:rPr>
              <a:t>联邦方式让图谱组合统一受权限管控：注册/发现/授权/撤销都在中心一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0990" y="4851342"/>
            <a:ext cx="2424051" cy="137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A6BD"/>
                </a:solidFill>
                <a:latin typeface="Microsoft YaHei"/>
              </a:rPr>
              <a:t>处，默认拒绝；读取返回引用不拷贝，避免副本漂移与越权扩散。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76518" y="2365950"/>
            <a:ext cx="1609684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  <a:latin typeface="Microsoft YaHei"/>
              </a:rPr>
              <a:t>③ 联邦方式构建组织级图谱（示意）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43211" y="2726367"/>
            <a:ext cx="1543011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  <a:latin typeface="Microsoft YaHei"/>
              </a:rPr>
              <a:t>组织级知识图谱（组织知识库）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43211" y="2909700"/>
            <a:ext cx="2989441" cy="13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9AA6BD"/>
                </a:solidFill>
                <a:latin typeface="Microsoft YaHei"/>
              </a:rPr>
              <a:t>领域知识彼此可见可用 · 权限统一管控 · 内容仍是各项目自己的图（引用不拷贝）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43211" y="3475928"/>
            <a:ext cx="3503588" cy="1683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40" b="1">
                <a:solidFill>
                  <a:srgbClr val="A78BFA"/>
                </a:solidFill>
                <a:latin typeface="Microsoft YaHei"/>
              </a:rPr>
              <a:t>联邦中心（registry + broker）· graph://argo.derekworkspacev5.com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81310" y="3672748"/>
            <a:ext cx="605774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A78BFA"/>
                </a:solidFill>
                <a:latin typeface="Microsoft YaHei"/>
              </a:rPr>
              <a:t>注册 register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0431" y="3672748"/>
            <a:ext cx="605774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A78BFA"/>
                </a:solidFill>
                <a:latin typeface="Microsoft YaHei"/>
              </a:rPr>
              <a:t>发现 discover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59553" y="3672748"/>
            <a:ext cx="937236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A78BFA"/>
                </a:solidFill>
                <a:latin typeface="Microsoft YaHei"/>
              </a:rPr>
              <a:t>授权 grant（默认拒绝）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30136" y="3672748"/>
            <a:ext cx="914377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A78BFA"/>
                </a:solidFill>
                <a:latin typeface="Microsoft YaHei"/>
              </a:rPr>
              <a:t>跨项目读取（返回引用）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7860" y="3672748"/>
            <a:ext cx="674353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A78BFA"/>
                </a:solidFill>
                <a:latin typeface="Microsoft YaHei"/>
              </a:rPr>
              <a:t>镜像托管 mirror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43211" y="3835812"/>
            <a:ext cx="2918387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AA6BD"/>
                </a:solidFill>
                <a:latin typeface="Microsoft YaHei"/>
              </a:rPr>
              <a:t>中心只持联邦元数据（成员/能力/接口/授权）—— 不持有成员内容，成员图保持主权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47963" y="4144185"/>
            <a:ext cx="2278704" cy="1522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1">
                <a:solidFill>
                  <a:srgbClr val="6B8CFF"/>
                </a:solidFill>
                <a:latin typeface="Microsoft YaHei"/>
              </a:rPr>
              <a:t>ArcGraph 单项目 = 一块积木（自治的知识图谱单元）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05112" y="4388934"/>
            <a:ext cx="491096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6B8CFF"/>
                </a:solidFill>
                <a:latin typeface="Microsoft YaHei"/>
              </a:rPr>
              <a:t>archgraph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05112" y="4528224"/>
            <a:ext cx="675305" cy="119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9AA6BD"/>
                </a:solidFill>
                <a:latin typeface="Microsoft YaHei"/>
              </a:rPr>
              <a:t>canonical 意图图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05112" y="4615852"/>
            <a:ext cx="597774" cy="119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9AA6BD"/>
                </a:solidFill>
                <a:latin typeface="Microsoft YaHei"/>
              </a:rPr>
              <a:t>本体可 extends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05112" y="4703479"/>
            <a:ext cx="358131" cy="119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9AA6BD"/>
                </a:solidFill>
                <a:latin typeface="Microsoft YaHei"/>
              </a:rPr>
              <a:t>治理闭环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16662" y="4388934"/>
            <a:ext cx="537196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EEF1F6"/>
                </a:solidFill>
                <a:latin typeface="Microsoft YaHei"/>
              </a:rPr>
              <a:t>graph-wiki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16662" y="4528224"/>
            <a:ext cx="675305" cy="119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9AA6BD"/>
                </a:solidFill>
                <a:latin typeface="Microsoft YaHei"/>
              </a:rPr>
              <a:t>canonical 意图图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16662" y="4615852"/>
            <a:ext cx="597774" cy="119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9AA6BD"/>
                </a:solidFill>
                <a:latin typeface="Microsoft YaHei"/>
              </a:rPr>
              <a:t>本体可 extends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16662" y="4703479"/>
            <a:ext cx="358131" cy="119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9AA6BD"/>
                </a:solidFill>
                <a:latin typeface="Microsoft YaHei"/>
              </a:rPr>
              <a:t>治理闭环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28211" y="4388934"/>
            <a:ext cx="260597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EEF1F6"/>
                </a:solidFill>
                <a:latin typeface="Microsoft YaHei"/>
              </a:rPr>
              <a:t>abot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28211" y="4528224"/>
            <a:ext cx="675305" cy="119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9AA6BD"/>
                </a:solidFill>
                <a:latin typeface="Microsoft YaHei"/>
              </a:rPr>
              <a:t>canonical 意图图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28211" y="4615852"/>
            <a:ext cx="597774" cy="119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9AA6BD"/>
                </a:solidFill>
                <a:latin typeface="Microsoft YaHei"/>
              </a:rPr>
              <a:t>本体可 extends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28211" y="4703479"/>
            <a:ext cx="358131" cy="119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9AA6BD"/>
                </a:solidFill>
                <a:latin typeface="Microsoft YaHei"/>
              </a:rPr>
              <a:t>治理闭环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9761" y="4388934"/>
            <a:ext cx="398897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EEF1F6"/>
                </a:solidFill>
                <a:latin typeface="Microsoft YaHei"/>
              </a:rPr>
              <a:t>my-army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9761" y="4528224"/>
            <a:ext cx="675305" cy="119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9AA6BD"/>
                </a:solidFill>
                <a:latin typeface="Microsoft YaHei"/>
              </a:rPr>
              <a:t>canonical 意图图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9761" y="4615852"/>
            <a:ext cx="597774" cy="119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9AA6BD"/>
                </a:solidFill>
                <a:latin typeface="Microsoft YaHei"/>
              </a:rPr>
              <a:t>本体可 extends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39761" y="4703479"/>
            <a:ext cx="358131" cy="119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9AA6BD"/>
                </a:solidFill>
                <a:latin typeface="Microsoft YaHei"/>
              </a:rPr>
              <a:t>治理闭环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51311" y="4388934"/>
            <a:ext cx="998195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EEF1F6"/>
                </a:solidFill>
                <a:latin typeface="Microsoft YaHei"/>
              </a:rPr>
              <a:t>HarmonyOS-Dev-Stand…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51311" y="4528224"/>
            <a:ext cx="675305" cy="119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9AA6BD"/>
                </a:solidFill>
                <a:latin typeface="Microsoft YaHei"/>
              </a:rPr>
              <a:t>canonical 意图图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51311" y="4615852"/>
            <a:ext cx="597774" cy="119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9AA6BD"/>
                </a:solidFill>
                <a:latin typeface="Microsoft YaHei"/>
              </a:rPr>
              <a:t>本体可 extends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51311" y="4703479"/>
            <a:ext cx="358131" cy="119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9AA6BD"/>
                </a:solidFill>
                <a:latin typeface="Microsoft YaHei"/>
              </a:rPr>
              <a:t>治理闭环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52916" y="3240857"/>
            <a:ext cx="928283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A78BFA"/>
                </a:solidFill>
                <a:latin typeface="Microsoft YaHei"/>
              </a:rPr>
              <a:t>组合 = 组织级知识图谱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52756" y="4045356"/>
            <a:ext cx="887707" cy="129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AA6BD"/>
                </a:solidFill>
                <a:latin typeface="Microsoft YaHei"/>
              </a:rPr>
              <a:t>注册 · 自注册即被发现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77158" y="2365950"/>
            <a:ext cx="371465" cy="161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BBF24"/>
                </a:solidFill>
                <a:latin typeface="Microsoft YaHei"/>
              </a:rPr>
              <a:t>④ 图注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15257" y="2659313"/>
            <a:ext cx="228594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E1A"/>
                </a:solidFill>
                <a:latin typeface="Microsoft YaHei"/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81950" y="2669371"/>
            <a:ext cx="1888379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① 每个项目：canonical 图 + 本体（可 extends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981950" y="2770334"/>
            <a:ext cx="1896380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 自己的领域类型）+ 治理闭环（写入门禁/验收/记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981950" y="2871296"/>
            <a:ext cx="316222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忆）。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15257" y="3649888"/>
            <a:ext cx="228594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E1A"/>
                </a:solidFill>
                <a:latin typeface="Microsoft YaHei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81950" y="3659946"/>
            <a:ext cx="1868377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② 注册 + 授权：成员自注册到联邦中心（23 个成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981950" y="3760909"/>
            <a:ext cx="1888379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员已注册）；跨项目读取需显式授权（45 条已在册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81950" y="3861871"/>
            <a:ext cx="636254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），默认拒绝。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715257" y="4640463"/>
            <a:ext cx="228594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E1A"/>
                </a:solidFill>
                <a:latin typeface="Microsoft YaHei"/>
              </a:rPr>
              <a:t>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81950" y="4650522"/>
            <a:ext cx="1872377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③ 引用式读取：ArcGraph 的 5 个读工具带 proj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81950" y="4751484"/>
            <a:ext cx="1888379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ectId → 中心返回托管副本 + namespaceKey，读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81950" y="4852447"/>
            <a:ext cx="956286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到的是引用，不是拷贝。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15257" y="5631039"/>
            <a:ext cx="228594" cy="178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E1A"/>
                </a:solidFill>
                <a:latin typeface="Microsoft YaHei"/>
              </a:rPr>
              <a:t>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81950" y="5641097"/>
            <a:ext cx="1844374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④ 组织级效果：领域知识库彼此可见可用，形成组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81950" y="5742059"/>
            <a:ext cx="1836374" cy="1360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9AA6BD"/>
                </a:solidFill>
                <a:latin typeface="Microsoft YaHei"/>
              </a:rPr>
              <a:t>织级知识视图；成员图保持自治，不做图谱合并。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66693" y="6532005"/>
            <a:ext cx="10377418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6B7793"/>
                </a:solidFill>
                <a:latin typeface="Microsoft YaHei"/>
              </a:rPr>
              <a:t>依据：design-federated-intent-graph-001（Registry–Broker Federation over sovereign graphs）· overseer-federation-vision-001（项目即国家、组织即联邦）　·　docs/external-graph-query.md · wp-federation-framework-side-001（框架侧联…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834607" y="6532005"/>
            <a:ext cx="1090394" cy="142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4B5670"/>
                </a:solidFill>
                <a:latin typeface="Consolas"/>
              </a:rPr>
              <a:t>ArchGraph · PAGE 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