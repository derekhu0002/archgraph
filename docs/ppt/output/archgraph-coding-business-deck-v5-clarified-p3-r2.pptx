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c7ad38629440f5" /><Relationship Type="http://schemas.openxmlformats.org/officeDocument/2006/relationships/extended-properties" Target="/docProps/app.xml" Id="R8d1099a37dae4462" /><Relationship Type="http://schemas.openxmlformats.org/officeDocument/2006/relationships/officeDocument" Target="/ppt/presentation.xml" Id="Rb3ce74c2b0e743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6e1390c637458e"/>
  </p:sldMasterIdLst>
  <p:notesMasterIdLst>
    <p:notesMasterId xmlns:r="http://schemas.openxmlformats.org/officeDocument/2006/relationships" r:id="R6c50186266894f4e"/>
  </p:notesMasterIdLst>
  <p:sldIdLst>
    <p:sldId xmlns:r="http://schemas.openxmlformats.org/officeDocument/2006/relationships" id="256" r:id="R72fe04fed44545ee"/>
    <p:sldId xmlns:r="http://schemas.openxmlformats.org/officeDocument/2006/relationships" id="257" r:id="R9a32471cf73d4a1d"/>
    <p:sldId xmlns:r="http://schemas.openxmlformats.org/officeDocument/2006/relationships" id="258" r:id="R81117354e7884df2"/>
    <p:sldId xmlns:r="http://schemas.openxmlformats.org/officeDocument/2006/relationships" id="259" r:id="R62651238d9fc43df"/>
    <p:sldId xmlns:r="http://schemas.openxmlformats.org/officeDocument/2006/relationships" id="260" r:id="R1485556b3b6a4f71"/>
    <p:sldId xmlns:r="http://schemas.openxmlformats.org/officeDocument/2006/relationships" id="261" r:id="Raf1d310f8d0c407c"/>
    <p:sldId xmlns:r="http://schemas.openxmlformats.org/officeDocument/2006/relationships" id="262" r:id="Rc21b751ababc4d95"/>
    <p:sldId xmlns:r="http://schemas.openxmlformats.org/officeDocument/2006/relationships" id="263" r:id="Radf74ed18c4042b3"/>
    <p:sldId xmlns:r="http://schemas.openxmlformats.org/officeDocument/2006/relationships" id="264" r:id="Rb3f77d6491c44e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894787bac742fa" /><Relationship Type="http://schemas.openxmlformats.org/officeDocument/2006/relationships/slideMaster" Target="/ppt/slideMasters/slideMaster1.xml" Id="Rac6e1390c637458e" /><Relationship Type="http://schemas.openxmlformats.org/officeDocument/2006/relationships/notesMaster" Target="/ppt/notesMasters/notesMaster1.xml" Id="R6c50186266894f4e" /><Relationship Type="http://schemas.openxmlformats.org/officeDocument/2006/relationships/presProps" Target="/ppt/presProps.xml" Id="R708225ef06264cc9" /><Relationship Type="http://schemas.openxmlformats.org/officeDocument/2006/relationships/tableStyles" Target="/ppt/tableStyles.xml" Id="R7a18ec0467f74867" /><Relationship Type="http://schemas.openxmlformats.org/officeDocument/2006/relationships/slide" Target="/ppt/slides/slide1.xml" Id="R72fe04fed44545ee" /><Relationship Type="http://schemas.openxmlformats.org/officeDocument/2006/relationships/slide" Target="/ppt/slides/slide2.xml" Id="R9a32471cf73d4a1d" /><Relationship Type="http://schemas.openxmlformats.org/officeDocument/2006/relationships/slide" Target="/ppt/slides/slide3.xml" Id="R81117354e7884df2" /><Relationship Type="http://schemas.openxmlformats.org/officeDocument/2006/relationships/slide" Target="/ppt/slides/slide4.xml" Id="R62651238d9fc43df" /><Relationship Type="http://schemas.openxmlformats.org/officeDocument/2006/relationships/slide" Target="/ppt/slides/slide5.xml" Id="R1485556b3b6a4f71" /><Relationship Type="http://schemas.openxmlformats.org/officeDocument/2006/relationships/slide" Target="/ppt/slides/slide6.xml" Id="Raf1d310f8d0c407c" /><Relationship Type="http://schemas.openxmlformats.org/officeDocument/2006/relationships/slide" Target="/ppt/slides/slide7.xml" Id="Rc21b751ababc4d95" /><Relationship Type="http://schemas.openxmlformats.org/officeDocument/2006/relationships/slide" Target="/ppt/slides/slide8.xml" Id="Radf74ed18c4042b3" /><Relationship Type="http://schemas.openxmlformats.org/officeDocument/2006/relationships/slide" Target="/ppt/slides/slide9.xml" Id="Rb3f77d6491c44e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b7cf97cac84b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9122595e5f48af" /><Relationship Type="http://schemas.openxmlformats.org/officeDocument/2006/relationships/notesMaster" Target="/ppt/notesMasters/notesMaster1.xml" Id="R748f7a4b0ef046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8545a1d8884df7" /><Relationship Type="http://schemas.openxmlformats.org/officeDocument/2006/relationships/notesMaster" Target="/ppt/notesMasters/notesMaster1.xml" Id="Re57a3ea5984b43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dcfa2ccf1f4009" /><Relationship Type="http://schemas.openxmlformats.org/officeDocument/2006/relationships/notesMaster" Target="/ppt/notesMasters/notesMaster1.xml" Id="R65132be6f0f34f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c320a8bded45be" /><Relationship Type="http://schemas.openxmlformats.org/officeDocument/2006/relationships/notesMaster" Target="/ppt/notesMasters/notesMaster1.xml" Id="Re76f5eb42b4e4d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815157e5ec40b7" /><Relationship Type="http://schemas.openxmlformats.org/officeDocument/2006/relationships/notesMaster" Target="/ppt/notesMasters/notesMaster1.xml" Id="R0247a2b1aaae4c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dca369b9f24dbc" /><Relationship Type="http://schemas.openxmlformats.org/officeDocument/2006/relationships/notesMaster" Target="/ppt/notesMasters/notesMaster1.xml" Id="R8791561d096c4f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b7d43b711948ef" /><Relationship Type="http://schemas.openxmlformats.org/officeDocument/2006/relationships/notesMaster" Target="/ppt/notesMasters/notesMaster1.xml" Id="R02dc4f4671104e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0b23c168f14488" /><Relationship Type="http://schemas.openxmlformats.org/officeDocument/2006/relationships/notesMaster" Target="/ppt/notesMasters/notesMaster1.xml" Id="Rc794aace1f5a46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a791ea081d40e3" /><Relationship Type="http://schemas.openxmlformats.org/officeDocument/2006/relationships/notesMaster" Target="/ppt/notesMasters/notesMaster1.xml" Id="Rde135590a1bc47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Layer 描述跨行业的业务价值活动：明确目标与验收 → 理解与规划 → 获取所需上下文 → 执行与迭代 → 验证与人类校准 → 交付与沉淀。此层不指定文件搜索、RAG 或 Graph RAG 等实现。等待工具/用户、异步任务与停止均是会话执行状态，不等同业务成功。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Application Layer 通用架构，前页是 Business Layer 业务活动；垂直映射表示多个应用组件协同支撑一个业务阶段，不是一对一产品部署图。Harness 编排会话、权限、隔离、工具与反馈。上下文访问可按任务选择普通检索（代码搜索/文件/全文）、传统 RAG（切块/向量或词法召回/重排），或 Graph RAG（实体关系/图遍历/子图上下文）。三者是可组合或替代的应用层实现选项；通用 Harness 不必自带 RAG。裁判包括测试、评审与任务指标。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业务层构建点：Schema/本体把领域词汇和关系显式化；意图图谱沉淀需求、决策、架构、状态、指标、验收与证据；业务阶段、应用能力和Assessment指标可建立关系。应用层构建点：Graph MCP 提供语义/结构/上下文访问与受护栏写入；去重、无损、墓碑、验收测试与commit/path溯源形成知识治理；联邦中心支持发现、授权、按引用跨图读取。普通 Coding Agent 可以不使用 Graph RAG，Graph 是按需能力与治理方案，不是业务流程的替代品。质量维度 coverage/structure/provenance/freshness/redundancy 是拟议评测剖面，并非均已测。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指标不是只属于一个层级：业务层定义结果与阶段，应用层提供具体观测点。表中每行将Business Layer环节映射到Application Layer能力，再列相应Assessment指标及当前测量状态。部分映射可能横跨多个阶段；完整20项见附录。当前状态 measured 4 / partial 5 / not_measured 11。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 Graph RAG 写入/索引与查询流程示意，节点与 Triggering 关系对应 ARGO 视图 generic-graph-rag-end-to-end-001。具体框架可能不使用图社区、LLM 抽取或混合召回，流程不是某产品实现规格。业界参考：Microsoft GraphRAG indexing dataflow https://github.com/microsoft/graphrag/blob/main/docs/index/default_dataflow.md ; query overview https://microsoft.github.io/graphrag/query/overview/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按应用能力呈现测评：Context Access 检索R@1 94.6→98.7（同项目向量基线到重排）；MCP/工具成功率10/10来自自建小样本；记忆题集31/31，拒答正确率100%；读路径2.0–2.5s、写约1.1s。10题A/B差值工具−43%、轮次−39%、token−18%受OFF组grep失败与慢速回退污染，仅方向性观察。不能由局部检索提升推导总体Coding成功率提升；8项整体基准未运行。下一步同模型/任务/Harness做挂载Graph与不挂载的对照，并追踪知识覆盖/结构/溯源/新鲜度/冗余。</a:t>
            </a:r>
          </a:p>
          <a:p xmlns:a="http://schemas.openxmlformats.org/drawingml/2006/main">
            <a:r>
              <a:t>专家提供项目地图、可解释的把控与评审，是本项目的设计洞察；低年资工程师借此逐步学习领域本体属于尚未测量的潜在价值。图遍历在关系密集、多跳问题上有明确表达优势，但当前没有可与业界比较的多跳 Recall 数据，因此不宣称 Graph RAG 普遍优于普通检索或 RAG。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联邦架构依据 federation registry 和 external graph query：中心维护成员、能力、接口与授权元数据；跨成员读取返回引用，项目图谱仍是其唯一事实源。当前快照：23 个成员、45 条授权关系，SOC-DEMO 实读 386 个元素。组织级结果来自互操作，不要求合并各项目图。</a:t>
            </a:r>
          </a:p>
          <a:p xmlns:a="http://schemas.openxmlformats.org/drawingml/2006/main">
            <a:r>
              <a:t>图中组件、服务、数据对象和关系对齐视图 federated-intent-graph-architecture-001；“Access”表达经授权读取，“Federated Graph Reference”指向成员图，不表示中心合并或保存副本。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完整指标表依据意图图谱 aos-as-* measurement-status / measurement-result；状态与结果在生成前逐项对照。公开基准区间仅用于比较口径，不替代本项目实测。</a:t>
            </a:r>
          </a:p>
          <a:p xmlns:a="http://schemas.openxmlformats.org/drawingml/2006/main">
            <a:r>
              <a:t>业务阶段映射和应用能力映射分别来自四个 canonical 指标子视图。公开基准数字仅作口径背景，未在同一模型/任务/Harness 下运行时不作性能比较。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业界信号与工程案例只用于提出问题、总结可复用做法，不可合并成单一效果预测。</a:t>
            </a:r>
          </a:p>
          <a:p xmlns:a="http://schemas.openxmlformats.org/drawingml/2006/main">
            <a:r>
              <a:t>来源与口径：</a:t>
            </a:r>
          </a:p>
          <a:p xmlns:a="http://schemas.openxmlformats.org/drawingml/2006/main">
            <a:r>
              <a:t>GitClear, 2025 report, 211 million changed lines across 2020–2024; duplicate-code trend is observational and does not establish AI as the sole cause: https://staging2.gitclear.com/ai_assistant_code_quality_2025_research</a:t>
            </a:r>
          </a:p>
          <a:p xmlns:a="http://schemas.openxmlformats.org/drawingml/2006/main">
            <a:r>
              <a:t>DORA 2025, 30% report little or no trust in AI-generated code: https://dora.dev/insights/managing-ai-dependency/</a:t>
            </a:r>
          </a:p>
          <a:p xmlns:a="http://schemas.openxmlformats.org/drawingml/2006/main">
            <a:r>
              <a:t>Faros AI, telemetry across 1,255 teams and 10,000+ developers; high-adoption teams showed PR review time +91% and PRs +98%: https://www.faros.ai/blog/ai-software-engineering</a:t>
            </a:r>
          </a:p>
          <a:p xmlns:a="http://schemas.openxmlformats.org/drawingml/2006/main">
            <a:r>
              <a:t>METR randomized controlled trial: 16 experienced open-source developers, 246 tasks, early-2025 tools; measured 19% slower while participants estimated 20% faster: https://metr.org/Early_2025_AI_Experienced_OS_Devs_Study-paper.pdf</a:t>
            </a:r>
          </a:p>
          <a:p xmlns:a="http://schemas.openxmlformats.org/drawingml/2006/main">
            <a:r>
              <a:t>These sources use different methods and populations; do not treat them as one causal estimate.</a:t>
            </a:r>
          </a:p>
          <a:p xmlns:a="http://schemas.openxmlformats.org/drawingml/2006/main">
            <a:r>
              <a:t>来源：OpenAI Harness Engineering (3 engineers, about five months, roughly one million lines, no manually written code): https://openai.com/index/harness-engineering/</a:t>
            </a:r>
          </a:p>
          <a:p xmlns:a="http://schemas.openxmlformats.org/drawingml/2006/main">
            <a:r>
              <a:t>Bun Rust rewrite (11 days, 6,778 commits including merges, about $165,000 API-price estimate): https://bun.com/blog/bun-in-rust</a:t>
            </a:r>
          </a:p>
          <a:p xmlns:a="http://schemas.openxmlformats.org/drawingml/2006/main">
            <a:r>
              <a:t>Anthropic large-scale migration six-step method: https://claude.com/resources/articles/ai-code-migration</a:t>
            </a:r>
          </a:p>
          <a:p xmlns:a="http://schemas.openxmlformats.org/drawingml/2006/main">
            <a:r>
              <a:t>Codex CLI native rewrite discussion: https://github.com/openai/codex/discussions/1174</a:t>
            </a:r>
          </a:p>
          <a:p xmlns:a="http://schemas.openxmlformats.org/drawingml/2006/main">
            <a:r>
              <a:t>DHH TerminalTextEffects figure is a reported single demonstration, not a controlled comparison; it is not used to infer typical productivity.</a:t>
            </a:r>
          </a:p>
          <a:p xmlns:a="http://schemas.openxmlformats.org/drawingml/2006/main">
            <a:r>
              <a:t>OpenAI Harness Engineering 案例：三名工程师在约五个月内由 Codex 产出约一百万行代码，团队报告没有手写代码；文章强调人类设计环境、定义意图与架构、建立反馈机制。这里将“专家脑中有项目地图”作为对实践的解释，不是文章原话。来源：https://openai.com/index/harness-engineering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291a3251745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be7c0299b04aef" /><Relationship Type="http://schemas.openxmlformats.org/officeDocument/2006/relationships/slideLayout" Target="/ppt/slideLayouts/slideLayout1.xml" Id="R6021b69b4b4f46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21b69b4b4f46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7f258dc564d8f" /><Relationship Type="http://schemas.openxmlformats.org/officeDocument/2006/relationships/notesSlide" Target="/ppt/notesSlides/notesSlide1.xml" Id="Rc81bae0a421c4e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4ea5b0b924683" /><Relationship Type="http://schemas.openxmlformats.org/officeDocument/2006/relationships/notesSlide" Target="/ppt/notesSlides/notesSlide2.xml" Id="R3a58afae12f542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548414c3c4569" /><Relationship Type="http://schemas.openxmlformats.org/officeDocument/2006/relationships/notesSlide" Target="/ppt/notesSlides/notesSlide3.xml" Id="Re069b6658d1648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59273126841e2" /><Relationship Type="http://schemas.openxmlformats.org/officeDocument/2006/relationships/notesSlide" Target="/ppt/notesSlides/notesSlide4.xml" Id="Rbc22b9b2dcda4c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5b030840644d0" /><Relationship Type="http://schemas.openxmlformats.org/officeDocument/2006/relationships/notesSlide" Target="/ppt/notesSlides/notesSlide5.xml" Id="R4971a02ff2044d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9e5eb64e44b19" /><Relationship Type="http://schemas.openxmlformats.org/officeDocument/2006/relationships/notesSlide" Target="/ppt/notesSlides/notesSlide6.xml" Id="R33487ddee2bc4c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b8a53ddc449fe" /><Relationship Type="http://schemas.openxmlformats.org/officeDocument/2006/relationships/notesSlide" Target="/ppt/notesSlides/notesSlide7.xml" Id="R548fa6e493d74b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ab88ba8cb44c1" /><Relationship Type="http://schemas.openxmlformats.org/officeDocument/2006/relationships/notesSlide" Target="/ppt/notesSlides/notesSlide8.xml" Id="Ra49d3fcb613a40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deb05cb1c4e88" /><Relationship Type="http://schemas.openxmlformats.org/officeDocument/2006/relationships/notesSlide" Target="/ppt/notesSlides/notesSlide9.xml" Id="R3208f1b69fcb49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893FE0-6CF0-4678-B996-786D7F07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ARCHGRAPH  /  01     01 · 通用业务价值流程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D54FF-2C30-474D-AE97-F5470DB1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Coding Agent 业务价值流程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10B93-1E94-4A85-BD7C-F714B067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C7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BC7D5"/>
                </a:solidFill>
                <a:latin typeface="Arial"/>
                <a:ea typeface="Arial"/>
                <a:cs typeface="Arial"/>
              </a:rPr>
              <a:t>Business Layer：跨业务场景的价值活动；先说明“做什么”，再进入实现架构。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F7A81-D729-4285-9615-3212424F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7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5A374-2E29-4DA7-9499-F47F6711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BC7D5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BC7D5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A1F8D-BB2A-4E64-AB79-25215BAE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BC7D5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BC7D5"/>
                </a:solidFill>
                <a:latin typeface="Arial"/>
                <a:ea typeface="Arial"/>
                <a:cs typeface="Arial"/>
              </a:rPr>
              <a:t>视图 uml2-coding-statemachine-view-002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A0266-3AE3-4887-872A-4EA8AB9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Business Process  /  Coding Agent 业务价值流程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FC9B2-94BF-4D59-A499-C328E84A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609725" cy="1257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A727B-4B33-4847-A21D-A6594A40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D6C59-08B2-4092-B2B0-EEC92DE2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856E3-FE42-4371-AC20-999F9918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明确任务与验收目标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273FA-FDB9-45E5-88B3-647FFBAC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419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目标 · 边界 · 完成定义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3EBDF-9A13-456E-B284-EEF3BEDC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38375" y="309562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91A9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A8ECF-1805-4FE2-92BD-68809162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669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940CD-80DC-45D3-9C44-6B0665C0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76500"/>
            <a:ext cx="1609725" cy="1257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A421A-F848-4FEA-9BCB-FD5B20C8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5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79D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0C4D7-B43D-4618-BDC3-BC54983D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62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7DDBB-7CAE-4305-B0AB-4F58BAB4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765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获取相关项目上下文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D4AC9-5965-4087-BD44-2ABC6AC9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33750"/>
            <a:ext cx="1419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按任务需要获取相关信息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59115-D0A4-4101-8117-C18366A5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00525" y="309562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91A9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DECD7-6887-49F3-A998-DFE5A7C4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3A394-20ED-48CC-A3D9-5F0A96D1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1609725" cy="1257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49855-13D2-4F75-8109-6400713A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86C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282FF3-0F7A-43DD-ACDD-AF223B4B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62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D450C3-AB35-47A6-8BCE-B042C842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规划并执行代码变更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9FCB4C-10F8-4579-9E7C-F705AEE6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33750"/>
            <a:ext cx="1419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拆解 · 工具调用 · 迭代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B2A4A0-0F42-4CF9-A561-DCAE72FB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62675" y="309562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91A9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CEB9F7-CC43-4D80-994D-218EF5E7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C3C66C-DB34-4BF5-9BF5-BD840093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1609725" cy="1257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416CE9-A03E-474D-B2B7-BD3D6856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7AA59C-BB8F-4A4D-9A99-A87A4E8C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62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FF9B19-24B5-447D-AD61-E7FAD4BD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765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验证并评审结果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217DE8-822C-4689-BCB5-D0608902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33750"/>
            <a:ext cx="1419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测试 · 评审 · 修正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B20ACA-B030-4798-92C3-A052C5AB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24825" y="309562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91A9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457BB9-D3B1-4DE9-A383-732ADDA1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FAB57B-EA27-4983-9630-6A1BD6E8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1609725" cy="1257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F3FA25-CC09-4F74-8754-055DCC5D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5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7A4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1C4347-04BC-4F22-90A0-B81DE7F9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62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A3B3EA-29E1-4056-9599-916C0D5A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765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交付可验收结果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F06057-7A70-45C1-9E8D-18B2CD4A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1419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交付满足验收条件的变更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B65EB5-378C-41D0-B140-B638906C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86975" y="309562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91A9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B1BA33-A40D-4089-BEC4-3F3F068D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669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648E08-3700-4F28-8224-9D8D4A29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76500"/>
            <a:ext cx="1609725" cy="1257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F5E2FD-9C17-4874-9B14-2D32DA53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5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56D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7A90FC-D8E2-4D43-ACDB-C2A9C535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62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B04C7A-D856-488E-B9C3-16B7EEB5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765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沉淀可复用项目知识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FB0FE1-3192-4263-BAFA-01599D94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33750"/>
            <a:ext cx="1419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更新可复用的项目上下文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5C4D4E-DCA6-495C-86FE-FFE87E14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287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图中相邻 Business Process 以 Triggering 连接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B46E64-9ABD-48C5-9B3C-5CA2067D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10075"/>
            <a:ext cx="10420350" cy="790575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192B40"/>
          </a:solidFill>
          <a:ln xmlns:a="http://schemas.openxmlformats.org/drawingml/2006/main" w="9525">
            <a:solidFill>
              <a:srgbClr val="3E536B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48B85F-4BC4-4549-BE4E-DB50724E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50532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端到端目标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9E1090-B95F-4DD3-95D7-479E5822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48175"/>
            <a:ext cx="840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业务需求转成经过验证、可交付、可追溯的工程结果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A3392B-C871-4629-8243-B8F9E72C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8172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流程只描述业务活动，不预设代码搜索、RAG 或 Graph RAG 等应用实现。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AFA834-8A58-4783-89E7-CDCCBF57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59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C59E"/>
                </a:solidFill>
                <a:latin typeface="Arial"/>
                <a:ea typeface="Arial"/>
                <a:cs typeface="Arial"/>
              </a:rPr>
              <a:t>指标骨架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68D182-AB14-417E-A842-DE582427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61022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每个业务活动都能关联对应 Assessment；整体 Coding 基准衡量端到端结果。</a:t>
            </a:r>
          </a:p>
        </p:txBody>
      </p:sp>
    </p:spTree>
    <p:extLst>
      <p:ext uri="{BB962C8B-B14F-4D97-AF65-F5344CB8AC3E}">
        <p14:creationId xmlns:p14="http://schemas.microsoft.com/office/powerpoint/2010/main" val="7864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AAAEC48-C2C7-4E4C-B903-118A813E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 /  02     02 · APPLICATION LAYER / 通用 Harness 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06AAA-34CF-4119-A7C4-DFC9B557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通用 Coding Agent 应用架构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394EF-493F-4D8B-A058-C71FB12E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Layer：Harness 编排应用功能；普通检索、RAG 与 Graph RAG 是可选实现。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13ECA-F20F-4A97-A438-E1456F49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6C00D-C586-4E48-9669-D4FE14C6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B9BB1-9B2D-44FC-A835-A5327974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coding-agent-application-architecture-001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2AB2B-3E2D-4EF3-B226-19BF6C3F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APPLICATION COMPONENT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9B7B6-156F-4B0A-B53B-A27BA02D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43075"/>
            <a:ext cx="3333750" cy="485775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233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48AF4-5F24-4131-B121-B140E4F3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43075"/>
            <a:ext cx="476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5CD4D-C1E2-4F8D-AA4A-E17E26FB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19275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通用 Coding Agent Harness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DB124-F874-45EA-BDF9-FE58E67C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95500"/>
            <a:ext cx="310515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41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Component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C4011-8F93-49F5-B021-00794A19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2514600" cy="762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CF1E5-FC1A-452D-BFF9-E2951392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62115-46ED-4159-969B-4C24D25B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会话编排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0CDFF-3B73-410D-90A5-C327C265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Function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22D2F-7B4C-4E28-AE81-1C8F2A66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14500" y="2228850"/>
            <a:ext cx="43815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15E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738CB-D7D5-4348-9403-8EB8B9F8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B5B71-A899-4A7C-87E1-E11601D9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76575"/>
            <a:ext cx="2514600" cy="762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BCDFC-1965-4CCE-A11F-CDB710D4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7657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1F36D-BF26-4C39-BA29-EC19F106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52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上下文访问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F846C-F8A8-41CD-8B15-B178E8B1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290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Function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44C675-B3F2-4155-AB30-3F33D469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10100" y="2228850"/>
            <a:ext cx="14859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866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D8C7F6-1AF1-475F-A2CB-565B4F72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3845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069308-A659-411D-91C1-1065C54E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76575"/>
            <a:ext cx="2514600" cy="762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836FE8-55D2-4C1F-86C1-B255CF45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7657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926748-0CAA-492F-8069-C60BEFD1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52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工具与代码执行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81A62-611A-4ACA-85B1-DF08EF71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Function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80298D-A0EB-4038-9A90-DD1B04E4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228850"/>
            <a:ext cx="14097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15EF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DA1601-76B8-418A-80BA-5F867B6A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3845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C2F1C4-FBCD-422C-AAF4-81D028E2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6575"/>
            <a:ext cx="2514600" cy="762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3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D038DB-BD07-42CB-A4D3-027A214D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657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21D2CC-074A-45B9-813B-DE0D1E76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52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验证与反馈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23EC3A-EAFF-47B0-BEBB-5E087D6A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290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Function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F87F2A-6F3B-4726-B1D4-D373E5AD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228850"/>
            <a:ext cx="43053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65D3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AFA69E-3472-427C-82AE-28320DBF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3845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97AFED-5535-4B7C-92E9-7C1E149B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57187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15EF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482F39-9F16-4460-A471-CDE890C2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14500" y="3838575"/>
            <a:ext cx="953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5EF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53C5C8-0D5B-4135-852A-86DD5700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14500" y="3990975"/>
            <a:ext cx="5791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5EF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43A833-0686-4F68-B69E-0BD4A695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05700" y="3838575"/>
            <a:ext cx="953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5EF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FB4B43-036C-450C-BDEA-385F7281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357187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65D32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C5E7CE-8550-4968-A126-AEE08C67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82250" y="3857625"/>
            <a:ext cx="953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5D32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8E4D36-67B8-4CCF-BBF0-FB7B6EBE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14500" y="4295775"/>
            <a:ext cx="8667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5D3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37C2D3-43DA-402F-B192-FDF5A3B6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714500" y="3857625"/>
            <a:ext cx="953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5D3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F59D09-2D06-42B5-BB2A-28634BBB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876675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E8076F-BC4B-4226-8215-AEE4708F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00500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15895C-7252-47DE-87EA-7FA1AEA9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876675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4F6380-27F0-4351-B68F-AB326313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24350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Triggering · 验证结果反馈到会话编排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D82477-D12D-4776-AC69-ED2B6DA2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Context Access 的实现选项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A6F591-9DE3-4598-9478-71840CFF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010150"/>
            <a:ext cx="2266950" cy="695325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FDCB70-D041-4F0A-99DC-76B34B1E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010150"/>
            <a:ext cx="47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54C3FE-EDE7-4D7B-A4A9-CBE2EC54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0863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普通检索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74F6B8-C5C8-40C0-95CF-99C055C0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362575"/>
            <a:ext cx="2038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文件 · 代码 · 全文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98731F-19D7-4FF3-8C20-DB0BF91F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10100" y="3857625"/>
            <a:ext cx="20955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EF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8C6626-D6A2-4477-83C5-5C734DB0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62500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Specialization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2FE6DF-E751-449A-A4E6-27EF0E4D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10150"/>
            <a:ext cx="2266950" cy="695325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3EC709-4535-4303-907E-DB58DFA9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10150"/>
            <a:ext cx="47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EF2DE25-5DC3-4782-9FE6-61F71D7B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863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RAG 检索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E9B7D7-9C28-4556-9005-13DD8EF7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362575"/>
            <a:ext cx="2038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文本块 · 语义召回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B1EAF5-3592-48C0-9FA5-48BA498C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10100" y="3857625"/>
            <a:ext cx="287655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4866D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AB8D31-32D0-40B6-BBFE-F6A866AF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Specialization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9E08ED-BC16-40A3-82D1-1CA7FD7B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10150"/>
            <a:ext cx="2266950" cy="695325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8ECE6"/>
          </a:solidFill>
          <a:ln xmlns:a="http://schemas.openxmlformats.org/drawingml/2006/main" w="9525">
            <a:solidFill>
              <a:srgbClr val="C65D32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8F58AF-1B36-4744-B9B5-C6700F59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10150"/>
            <a:ext cx="47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A9CB80-A5E3-4FBF-A9BA-73AF3551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0863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Graph RAG 检索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745BD9A-AEF6-4382-9FDD-53101D85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362575"/>
            <a:ext cx="2038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实体 · 关系 · 图遍历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671AEB-D0CB-4DCE-B8DA-0B62DF9F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10100" y="3857625"/>
            <a:ext cx="554355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5D32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FE078CC-3BA8-43BD-8A28-37CE8508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62500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Specialization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F207DA6-6183-4682-83E8-F726A487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934075"/>
            <a:ext cx="607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按任务与知识结构选用；通用 Harness 本身不要求部署 RAG。</a:t>
            </a:r>
          </a:p>
        </p:txBody>
      </p:sp>
    </p:spTree>
    <p:extLst>
      <p:ext uri="{BB962C8B-B14F-4D97-AF65-F5344CB8AC3E}">
        <p14:creationId xmlns:p14="http://schemas.microsoft.com/office/powerpoint/2010/main" val="210504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9FD7A2C-56AF-4183-854A-16A07E4D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 /  03     03 · ARCHGRAPH / 两层构建点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C68C5-3A5E-495C-B767-CB888EF6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ArchGraph 在业务层与应用层中的位置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B5A1B-C6D4-4FC8-A6F5-644CC9D1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清楚标出框架边界：Harness 在外按需调用；图谱写入治理、语义检索与结构查询由 ArchGraph 提供。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B14A3-BBDB-4900-B6CC-E666A567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92056-AB55-4D7E-8623-4CDA652F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361C0-2D0A-48F3-BB5C-4B571A5B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archgraph-internal-read-write-001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D2120-4534-4558-B14C-A6236D83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24000"/>
            <a:ext cx="10991850" cy="7239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F6B1B-42C5-410E-A0C1-B9A81BED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BUSINESS LAYER · 业务背景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E70F8-BD79-4B91-937A-914752D2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2428875" cy="371475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5C9CD-940C-4AF0-A3E0-86EF16F5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47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876B4-81EB-4249-A8D3-EF3DD810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09750"/>
            <a:ext cx="2257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Coding Agent 业务价值流程</a:t>
            </a:r>
          </a:p>
          <a:p xmlns:a="http://schemas.openxmlformats.org/drawingml/2006/main">
            <a:pPr algn="ctr">
              <a:defRPr sz="7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Business 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328D9-352A-4445-ADBA-28A33E13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81175"/>
            <a:ext cx="1924050" cy="371475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BC08F-8F39-4261-9002-BE0C262F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81175"/>
            <a:ext cx="47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E3ED2-FC9D-490E-A36A-0FDDDF07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809750"/>
            <a:ext cx="1752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项目领域本体</a:t>
            </a:r>
          </a:p>
          <a:p xmlns:a="http://schemas.openxmlformats.org/drawingml/2006/main">
            <a:pPr algn="ctr">
              <a:defRPr sz="7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Business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B6F2F-6E3F-4FC1-A3B0-1B9EC625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76400"/>
            <a:ext cx="2447925" cy="2286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7DE97-038F-4912-A9E6-F296611C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7640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297F9-E4F4-4D82-99F5-1AA5B564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04975"/>
            <a:ext cx="2276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Coding领域专家</a:t>
            </a:r>
          </a:p>
          <a:p xmlns:a="http://schemas.openxmlformats.org/drawingml/2006/main">
            <a:pPr algn="ctr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Business Actor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6D8A1-1012-46B5-AF4E-2CF6A531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71675"/>
            <a:ext cx="2447925" cy="2286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5367F6-301A-427E-BEDB-BED399D4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71675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6EC22-A90F-4A3E-A4B7-97BF8299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00250"/>
            <a:ext cx="2276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Coding开发者</a:t>
            </a:r>
          </a:p>
          <a:p xmlns:a="http://schemas.openxmlformats.org/drawingml/2006/main">
            <a:pPr algn="ctr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Business Actor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F1928-AC0C-4FA2-954F-4A137C8B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00900" y="1790700"/>
            <a:ext cx="16097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4748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CB847-C933-4BE5-9ECA-367E043D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00900" y="1990725"/>
            <a:ext cx="16097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4748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D5F79-CDA3-4B0C-8498-336FA096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695450"/>
            <a:ext cx="78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D8E0E9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D8E0E9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D55676-7C66-49E8-9826-7FD6C1D8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76450"/>
            <a:ext cx="78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D8E0E9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D8E0E9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ADB26-7A49-49B7-9520-6C4F70F9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847850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233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A46B25-60D0-4972-A3AC-13C53E65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E90E38-47BC-456A-ACAB-E43776F9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765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通用 Coding Agent Harness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EFE05A-D2BB-4671-B7CE-25D42244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Component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84B534-60AC-4790-AB24-2AFC9D99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0522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按需调用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B545C4-1536-4F1E-AD4F-4A7B611C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90775"/>
            <a:ext cx="87820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4757F5-4208-4FF6-B8C2-8641D8D2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14600"/>
            <a:ext cx="76200" cy="238125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F18E85-20B7-44B5-940A-415D66F9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860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框架提供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A4E7FD-581C-470B-BC89-7A7A0748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33650"/>
            <a:ext cx="34194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MCP 接入的项目图谱上下文能力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02EE1C-A0CE-4C59-9ADA-50ACF347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76550"/>
            <a:ext cx="1562100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B67F66-979F-440C-9658-F487ECA9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76550"/>
            <a:ext cx="47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CB72DD-EDD2-4DB4-9A3A-AFBB9B6A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952750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MCP Provider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E62192-0AD1-438A-B7D0-CDFAC88D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228975"/>
            <a:ext cx="1333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Component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4F13D6-947E-4143-BBCB-E717F7F0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76550"/>
            <a:ext cx="1762125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6D8CD2-A565-4896-9784-8DB41C24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76550"/>
            <a:ext cx="47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C3E411-6093-46B3-87D8-D1EDC0A5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952750"/>
            <a:ext cx="1533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Graph MCP Tool Interface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C83726-1731-4ECC-9971-736D8208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28975"/>
            <a:ext cx="15335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Interface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6B77B8-5B0F-4F52-83C6-724A8CDF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76550"/>
            <a:ext cx="1971675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72EC37-4E17-4A44-8E9F-8519EBE1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76550"/>
            <a:ext cx="47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98CD9C-7E77-49A0-9D7F-01513CFC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52750"/>
            <a:ext cx="1743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项目图谱上下文服务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4379A9-3854-4644-8545-BB9BF39C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28975"/>
            <a:ext cx="17430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Service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EF0257-CBC0-4B88-8FB1-D21154FD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76550"/>
            <a:ext cx="1695450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32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18AD05-F5D9-4E74-9B60-23CF8183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76550"/>
            <a:ext cx="47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A13140-6B45-4D34-AD48-650A7EFA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项目意图图谱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278741-54E5-437C-8342-10A87633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28975"/>
            <a:ext cx="1466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 Object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1C636B-59DB-40F6-A51C-5322F9DC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19625" y="3133725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15EF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6F155B-C201-42C4-847B-4DE6E1B3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8667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CED1B5-6687-479E-8C7F-B6B0189F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91300" y="3133725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4866D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979635-4478-406F-AF0E-668C3145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14650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7B8B73-D4BE-47ED-854F-1CF2B3CE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72525" y="3133725"/>
            <a:ext cx="219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C65D32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9E5DCD-E7E5-4D4D-A717-5102EE42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14650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DD7E3B-889B-4AC9-9234-E9908D9E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81925" y="3381375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866D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87BF77-2553-4650-AF52-D4DEDF18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552700" y="3590925"/>
            <a:ext cx="5229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866D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D2BC69-CA97-4264-A561-F739256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52700" y="3324225"/>
            <a:ext cx="953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866D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7B7A9C-5522-4388-9EC8-6B67B8F6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76625"/>
            <a:ext cx="2362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Serving · Harness 按需调用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8A8AC4-3ACF-4A80-9588-94B9DC90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839325" y="2314575"/>
            <a:ext cx="953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15EF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A6CCA84-7B75-441F-877D-B489B9E1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238875" y="2314575"/>
            <a:ext cx="3600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15EF6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5190506-E909-4542-BEC7-ECA24FC1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8875" y="2152650"/>
            <a:ext cx="95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15EF6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4ACD3C-521B-404C-A6D1-3A18E66F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809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Realization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723A5BB-336E-4E5D-BEB5-49E00789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43325"/>
            <a:ext cx="2362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框架内的三类工作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DEF3044-AC35-4379-A00A-6A9ECB44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990975"/>
            <a:ext cx="83343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EEB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8F37E3-BECB-4CC3-8636-72CE5299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990975"/>
            <a:ext cx="971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D87563-5802-4EFC-9E78-9403ABAD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800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写入治理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9A95F34-A500-4EB3-9DAD-D4B6C3F6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19550"/>
            <a:ext cx="10572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4C6E60-9C03-42B7-92A1-257DE844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14800"/>
            <a:ext cx="1552575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65D32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816BD64-7AEA-4784-91DD-983A6AA9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Graph Semantics 校验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565E925-72BC-44DA-8426-212C6683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7375" y="4333875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C65D32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B5B810F-95EF-420E-9035-E0357A6C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14800"/>
            <a:ext cx="1552575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65D32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D0C2301-16AE-480E-85DF-6B650713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338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写入去重门禁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516F1D-90F7-42AF-B750-98031805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9975" y="4333875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C65D32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2C5E740-D004-47AB-8431-544EB887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14800"/>
            <a:ext cx="1552575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65D32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B96DA05-8724-4BD1-A206-530EE329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338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无损写入门禁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E812B55-60A7-4961-85D2-4DB09ECD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72575" y="4333875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C65D32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517C954-9821-4D4D-9452-E8FAE662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14800"/>
            <a:ext cx="1552575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65D32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82BDDD9-6CFC-482C-9F04-C1F9D20F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338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Semantic Projection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C6757A2-D92D-4D0B-B844-D262FC5D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72025"/>
            <a:ext cx="83343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EEB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E966ABD-56A4-4895-A906-58CCF8E2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72025"/>
            <a:ext cx="971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1C07FA8-1B8A-4033-B331-35BF6081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38700"/>
            <a:ext cx="800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语义检索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A82FE71-FE4F-4901-ABA3-8E1F7188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00600"/>
            <a:ext cx="10572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265836B-3F6E-4E3B-9167-D0BD90BE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829175"/>
            <a:ext cx="148590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1F8F6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280F07C-6310-4AE1-A06F-147E523E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4822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Semantic Projection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BFFD545-5BB2-4047-9C08-98F1B69C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153025"/>
            <a:ext cx="148590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1F8F6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5F89067-2B46-4315-82E3-6289D779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7207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Embedding Provider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FF1AD05-8470-4C33-8658-94934B77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895850"/>
            <a:ext cx="152400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4866D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5952318-AA97-4E2E-9811-70B98E6B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149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Default Semantic Retrieval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5A3E154-56D9-4654-8590-81C6E813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95850"/>
            <a:ext cx="1552575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4866D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FDAE636-2D94-41EB-B759-763A8EDD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91490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Hybrid Semantic Retrieval</a:t>
            </a:r>
          </a:p>
          <a:p xmlns:a="http://schemas.openxmlformats.org/drawingml/2006/main">
            <a:pPr algn="ctr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默认关闭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B6FD1CA-456E-42E5-8FCB-F964A426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95850"/>
            <a:ext cx="1552575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4866D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E087D8A-40A3-4877-9399-9A7E29F3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1490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Semantic Rerank</a:t>
            </a:r>
          </a:p>
          <a:p xmlns:a="http://schemas.openxmlformats.org/drawingml/2006/main">
            <a:pPr algn="ctr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默认关闭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AD5E471-EACF-404B-83A5-E2836E37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91175" y="4943475"/>
            <a:ext cx="30480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866D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7C07577-95EF-48C5-B1EE-38E2F270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91175" y="5229225"/>
            <a:ext cx="3048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866D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BC35F3D-C7C0-4BA0-A547-D3F07E58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57775"/>
            <a:ext cx="419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1A3E87E-E20B-4675-AF3A-F462019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9975" y="5114925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4866D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D34FE05-4869-4066-89FF-8BDE8CCF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1150" y="5114925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4866D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E99EA73-7081-4FEA-A318-6ADD349D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524500"/>
            <a:ext cx="83343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EEB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CD60D88-AF7E-42F3-9347-0D92A618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524500"/>
            <a:ext cx="971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0BAB0E0-4E17-48E1-B729-D46A6DE2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591175"/>
            <a:ext cx="800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结构查询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CD694AB-94FB-4CDC-BB45-FFABF7FE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53075"/>
            <a:ext cx="10572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9CC189F-6F1E-4360-A176-CDC46BB9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48325"/>
            <a:ext cx="1552575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15EF6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C2D96C6-D6B8-426E-B392-EF7EA1F1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67375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Neo4j Structural Sync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B2EE116-84C1-461C-AAA4-90C5AFE0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7375" y="586740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15EF6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21D2C84-5533-40F4-94C1-E497AF6F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48325"/>
            <a:ext cx="1552575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15EF6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9CC3673-8B79-4E0A-823C-91963291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667375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Read-only Cypher Query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A0C8CF5-7063-4FD6-8C5A-F27EA2B4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9975" y="586740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15EF6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FC64BB6-7091-458D-B76C-FEA7BF0E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48325"/>
            <a:ext cx="1552575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15EF6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C2E0C0B-8172-4763-92FD-34DBD9AF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67375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Community Index · P1 暂缓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B66C236-2DC2-4A71-A57C-3FA34B09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219825"/>
            <a:ext cx="4191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社区索引完成 P0 探针评估；因增量价值不足，P1 暂缓。</a:t>
            </a:r>
          </a:p>
        </p:txBody>
      </p:sp>
    </p:spTree>
    <p:extLst>
      <p:ext uri="{BB962C8B-B14F-4D97-AF65-F5344CB8AC3E}">
        <p14:creationId xmlns:p14="http://schemas.microsoft.com/office/powerpoint/2010/main" val="10748445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6C7D0C6-8711-4595-B8CD-09498087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 /  04     04 · 业务 × 应用 × 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790C0-1EC3-4B2F-8AEC-FC2680E6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业务阶段、应用能力与指标映射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410F2-8BB6-47CD-B59E-1532367D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每个 Assessment 关联到业务活动和应用能力，为结果页提供统一口径。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988D8-2837-4592-852D-E1604BFE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44B3B-CC5F-46F4-A4AD-248C43BB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67740-727E-4E6F-AACE-921E5DE3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aos-as-* measurement-status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2D9C0-37D2-4011-86BC-BC89BFBC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2590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0874D-F876-45E7-A95B-3F47F242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28775"/>
            <a:ext cx="2419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Process · 业务活动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E97A3-6D10-4B01-B796-106E1FD8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00200"/>
            <a:ext cx="2857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3D5FA-D74D-40AF-9C77-88960B39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628775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 · 支撑能力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A80A2-B434-44A8-9CA6-4E6438C2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00200"/>
            <a:ext cx="5143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065A3-A347-4FB0-B5C9-EBA6CDEE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28775"/>
            <a:ext cx="497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Assessment · 指标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9D703-8584-4E9C-BC88-A35BDC32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259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0D618-5A7E-4B76-9BC0-071B611D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3357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B7973-588B-441D-9689-04B7EA13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33575"/>
            <a:ext cx="5143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56215-35AE-42DD-AF60-98E3B243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4B212-97D0-40B2-BCF7-5A96E9A6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明确任务与验收目标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79739-1D2D-4819-91AF-1909C8BF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62150"/>
            <a:ext cx="260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会话编排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6BF6D-691B-4F8F-B0C3-75570AC5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空闲时长 · 请示频率/回环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32CFA-C49B-446F-9550-F110DAEE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4312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31046-378D-41B9-8A2B-C4F6D695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4312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9C977-1FB0-4478-B06A-AA1B87CB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259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B2493C-D54A-4549-B961-D6B0457B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1460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50EEB1-8BC6-4C14-A6FF-B77B17CC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14600"/>
            <a:ext cx="5143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A95F7C-0575-46BF-A243-CE40558B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DC1247-43DC-4FF7-A2B7-CA6E787C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获取相关项目上下文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12B1E7-2BD6-447F-BDE5-1867156D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43175"/>
            <a:ext cx="260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上下文访问 · 项目图谱上下文服务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F0BC3-CC90-4073-B6A6-796BD07D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43175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检索召回与排序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1BF9E5-70BD-494B-BD98-785C15CD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241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9A7773-04E7-41CE-A759-FDB4A2F1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24150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FCC583-CB5F-400B-A92F-B7EA7318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259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DFAD0B-74D7-44F5-A48D-F030DCD9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9562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6C4BCD-DA89-4F0F-AD46-71FEF1D9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95625"/>
            <a:ext cx="5143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FB9CAF-CE6A-4761-AB56-C84F4EAB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90502D-BB79-48E4-92A7-F4EB04C5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规划并执行代码变更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7F90BA-3B64-444A-BABF-EEF6F160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24200"/>
            <a:ext cx="260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会话编排 · 工具与代码执行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186A63-84AB-4CB7-A23A-1422DCE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计划正确率 · 工具成功率 · 写入去重/无损 · 等待时延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6D69E7-EEF6-4185-92C3-CDA393BE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3051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5DC2AA-DE2E-4349-B5F4-E6A464D3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0517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6FF618-F098-404F-95E6-FFF5711F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59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99E50E-629A-4386-9A05-41E33076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7665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2A4249-5EBF-43EA-AE89-4CD16ACC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76650"/>
            <a:ext cx="5143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837640-2583-4EAA-9BBB-CD5CC538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AA0AD0-4B2B-49E1-A2F6-02AA61F9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验证并评审结果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73FD25-B2CD-447B-B007-6B65F0F9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05225"/>
            <a:ext cx="260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验证与反馈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525D5A-D6CD-4DC8-AD1F-378D6D69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验收通过率与回归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688772-86A7-4A78-9D90-B7A3669C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862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CC6CD3-E578-431F-9663-0AA35DD0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886200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AE59CF-9209-4665-8CF3-F0A3F585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259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6F37BF-0DAA-4FDB-8680-6E234660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5767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F92CC1-7704-49ED-8EBD-57E7D63B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57675"/>
            <a:ext cx="5143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00BE42-80EB-409F-AB22-9CCA43AB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33A386-3B10-439F-9FB1-464B1CE8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交付可验收结果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1E4E27-480A-44C8-923C-DFDC9ED0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286250"/>
            <a:ext cx="260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项目图谱上下文服务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1F975D-C1AD-4A6B-85E7-8A8566ED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提交完整率 · 任务成功率 · 端到端时延/成本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7C3F5E-87DE-4F93-B892-D1385B05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46722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5CFA06-15E0-4D55-B1A6-07908D09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46722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B69E82-26C2-45B3-8079-1FB22751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259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E68022-6B24-4E73-90E6-45E7EBDD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3870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9CA355-87F2-405E-8F2E-3D113E74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838700"/>
            <a:ext cx="5143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780CE4-3C01-4CF3-B1ED-D6050110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798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0B84A1-15B1-47EF-A0E5-1389A725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沉淀可复用项目知识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507C64-44F0-46BF-9C70-0F0B1D8D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867275"/>
            <a:ext cx="260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项目图谱上下文服务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45DA30-405C-498E-AF1F-704E1EC5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67275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记忆准确率与拒答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7D42FE-D911-4E00-A95C-911FF2DE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048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55BF82-89C9-47FA-8A7A-76C8BCFA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048250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43848A-4B74-4781-ACAA-68F280EB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9725"/>
            <a:ext cx="259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06617C-FD02-4A11-B1CB-3ED88868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1972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C44D5B3-7D63-4BB3-AEC8-090820F1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419725"/>
            <a:ext cx="5143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56FDF3A-E61B-492E-B36A-35E2E5A9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9725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B590F51-307D-4DFF-8D0A-9F4C2C15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整体任务结果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888DFCB-4711-44BE-BDA1-295124C6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448300"/>
            <a:ext cx="260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通用 Coding Agent Harness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3A9872A-DC12-4AEB-8112-380176E4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48300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SWE-bench · Terminal-Bench 等 8 项整体基准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C5BA642-CE99-4185-9C60-59F5C320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6292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A676A1F-7F53-4327-808E-AAB6741C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62927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3DD535C-D40A-4E22-83B2-64B5FAB6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069BE24-D2EB-47EE-8D50-A970FDCF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44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业务阶段 ↔ 指标与应用能力分别由 canonical 模型中的业务映射、Serving 与 Association 关系表达。</a:t>
            </a:r>
          </a:p>
        </p:txBody>
      </p:sp>
    </p:spTree>
    <p:extLst>
      <p:ext uri="{BB962C8B-B14F-4D97-AF65-F5344CB8AC3E}">
        <p14:creationId xmlns:p14="http://schemas.microsoft.com/office/powerpoint/2010/main" val="16234123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9899B0-B81B-4808-9C4D-BAE8C609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 /  05     05 · APPLICATION LAYER / 知识访问选项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9647A-5E25-4BAE-AC9F-AA257733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Graph RAG 通用检索流程：写入、索引与查询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5DF7F-D830-4BB4-A192-4656FC61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业界参考流程；各实现会省略、替换或扩展其中部分阶段。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2A2D7-01B8-4890-ACE6-2ECE048E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810B8-D96D-4CBE-836C-345B06D6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517F9-AE73-4739-B607-8E3F365A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Microsoft GraphRAG indexing dataflow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6C52C-49EA-49A3-AC99-E406A481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811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业界参考 · Generic Graph 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BB9B2-7FA9-4764-BA18-D038F8D4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53816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1AD59-ACF6-4CF3-88D8-069712C4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3357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写入与索引  /  Offline or incremental indexing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BA4EF-A06B-46AF-8166-587405B0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53816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76C62-4120-42C0-A8D6-E38E50E8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3357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查询与生成  /  Query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2A2D3-9BE7-496A-8EEA-BA0AA7C6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F9907-2D1C-4132-8D86-2CA1D446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C4E60-49CB-46C5-89B3-7D48906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知识写入与解析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D650E-26BE-4582-B82A-989C3ADE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文档 / 代码解析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30626-9A28-4551-A8CF-4407BF5E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95550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1ED2E-2C40-4680-9636-1FA7CA1A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955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7EE56-C5FC-40D2-8293-1CCD07E4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实体关系抽取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DD796-C97D-47B4-B72B-64CE5D0D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479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实体与关系抽取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4297C-EFD2-4298-AD9A-34465B9B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86D4E-2311-4F5B-A1E7-D6EFA2F1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BE529A-F348-4550-A91A-D1977680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图谱与索引构建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F92EE-9214-4A49-923D-B0985601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004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图结构 / 向量索引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9AEAB-FD5C-4F48-92B1-30F3F72A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394F8-8D64-44A9-8AEE-003924AF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C3E348-3E1E-4A54-B979-DA46963A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查询解析与改写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911C87-E9B2-4936-BE70-191F7D5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479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意图识别 / 重写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286005-4A34-42E3-BC40-B73FE680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95550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73F34E-F056-446E-B50C-CF01D12D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955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74D987-AB4A-450A-AACE-5466C8CA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向量词法图遍历召回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3CF825-FD7F-4483-8484-85B45399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479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邻居扩展或向量/词法召回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153573-ACEE-4397-93C0-168E6BE7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B5E518-1066-4DFF-8162-32AD5794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E0DBAD-9CA8-4458-973D-5C65CB2D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结果融合与重排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15E638-1CAD-49B5-964D-39AEBEEF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004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候选合并并排序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2B2E6D-C10F-417C-AE8B-9F359CF9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48050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FF33CC-00D9-40E9-BBA1-A053EE7F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480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D47102-1900-4763-8672-E21F49DD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上下文组装与溯源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F527B1-6D57-4F00-8DF3-CB834F42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004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关联片段与证据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E02083-F88C-4ED6-8690-68EB2C70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619625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32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EC9C51-9C44-45B0-85A1-E1B1B771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619625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8DC0F6-B2A6-462E-82B9-7AE60566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695825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生成回答与反馈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3172F1-7DA7-4187-8178-7FEE8397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97205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带上下文生成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90675A-E93B-4372-B859-BE3A1BA8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19425" y="2809875"/>
            <a:ext cx="4476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4866D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BCDBE1-7F8F-42FC-BA88-51FD2515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63" y="27051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8DD227-F6B3-45EE-B757-A446D35E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905000" y="3124200"/>
            <a:ext cx="26860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4866D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21441C-3A98-4FC2-992A-1A5DB4CA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813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7B1CA1-1C36-4B31-AFA6-1C42BD1E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19425" y="2809875"/>
            <a:ext cx="31718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4866D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A58EF1-037A-4284-9CA1-0F3808C2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338" y="31813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7567C2-AAD3-4CB8-8655-527270BA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9625" y="2809875"/>
            <a:ext cx="4476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4866D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7B981E-E3D2-483E-8E50-60E05C36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27051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6ADC7D-64E5-4926-B2CF-C534B699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191250" y="2809875"/>
            <a:ext cx="49244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4866D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8AC395-5CEB-4EA8-A038-16E9FC56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31813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B74E29-6C52-4459-8845-0523CB2A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9625" y="3762375"/>
            <a:ext cx="4476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4866D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E75CAC-20F1-49D7-8998-C553397A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36576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5DE35B-9BDD-45C1-8D89-568679C7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648700" y="4076700"/>
            <a:ext cx="1343025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4866D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05660D-29BB-49F3-B1EE-C9E5A6A4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4243388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E6DC88-4915-496A-831E-55B69835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ECE6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7FC6589-26F1-4100-8260-3F97EB56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363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图检索能表达实体关系与多跳路径；能否提升任务效果，取决于图质量、召回策略与任务，不代表普遍优于向量 RAG。</a:t>
            </a:r>
          </a:p>
        </p:txBody>
      </p:sp>
    </p:spTree>
    <p:extLst>
      <p:ext uri="{BB962C8B-B14F-4D97-AF65-F5344CB8AC3E}">
        <p14:creationId xmlns:p14="http://schemas.microsoft.com/office/powerpoint/2010/main" val="9136548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C35E1B-B907-425C-A976-16A934C9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 /  06     06 · 已有提升与待补证据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C363A-358F-472D-BE55-696C4A66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测评结果：局部改善已见，整体优势待同口径验证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DE421-5B88-4BF3-92AB-BA0D8C08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检索与记忆有内部证据；整体 Coding 基准和知识质量仍需补测。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7A2AF-9C7F-4200-97B3-B930A6F5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4F002-B338-427C-A4CA-C5F35EB1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D0FDB-F76D-4358-95D6-312412F6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525D6-EB90-47BF-B863-5F35A019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215836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4CF1E-C6F5-42FF-94FB-2C4BEA67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14884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已有实测 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844DD-685D-44B3-9061-C35E5552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90" y="1628775"/>
            <a:ext cx="2705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844E0-21B5-475B-9722-79799E02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90" y="1657350"/>
            <a:ext cx="2695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部分证据 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E5000-1D74-4F9F-84D5-10396599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1628775"/>
            <a:ext cx="598551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D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20ED6-2D5F-4224-9E29-130261CF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1657350"/>
            <a:ext cx="597598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当前未测  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CD1B4-0300-43FF-A609-B76E93FA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521970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88048-16B2-48B4-9768-36993077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476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FE2B8-56B2-440A-BBC7-4B6C4C56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955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94.6 → 98.7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4D088-B71F-41B9-BFCB-48133A4E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检索 R@1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60DA0-8EC0-4694-A429-85B2CC20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向量基线 → 重排；R@5 99.4 · MRR 0.997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A8768-B2F2-419D-AA37-6C4AB845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09800"/>
            <a:ext cx="521970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401A7-8174-4D8D-8AA9-E322FBAC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09800"/>
            <a:ext cx="476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DBDC5-2358-46C4-B6F5-8C7C9B46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955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31 / 31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AD0C1-1CEE-447F-B11F-831FB394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记忆题集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33A5D-5E0C-47A2-844A-C4FF0FCD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336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准确率 100% · 拒答正确率 100%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FBE45-3E05-4CC8-A513-B270E3C5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521970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6B1E1A-86A5-4E42-A08B-F276B3D6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76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8F1018-78E5-4A4C-B0DE-66D30025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9087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2.0–2.5s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2A7219-8BF7-4518-A107-D2FFA17C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Graph MCP 读路径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CE2278-C0AB-48A7-B190-2C8A256B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写路径约 1.1s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2D89B6-472B-44B2-AD54-DDB9FE4E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105150"/>
            <a:ext cx="521970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0EBA4A-4662-466D-BF18-AF4CC2CB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105150"/>
            <a:ext cx="476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F3B34-0A74-4FC0-86F1-1128E4D2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9087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144F0C-CFE9-4096-9E1A-B602AD1C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813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工具 ON 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C76B31-5AFD-4FBD-B5E4-3C5AC5C5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29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自建小样本，不代表总体 Coding 成功率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5F638F-B7B1-41D4-B129-F9FA3525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5219700" cy="134302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F81D0E-F676-405D-9493-DB03BE6F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价值洞察  /  基于模型结构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F76CD9-995C-4358-BA99-B7D09D86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专家的项目地图可外化为共同本体与图谱，让 Agent 行为更可查看、校准和追问。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54C704-4CFD-4CAC-A6D8-4DB3E649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483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这是设计价值判断；尚无独立量化结果。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3B9D68-E91A-48EE-872C-D18041B5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76700"/>
            <a:ext cx="5543550" cy="134302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6F3E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CFF4D5-14CB-4DF2-962E-7B47D863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81475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关系检索的优势与待证据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D0163C-3B3D-40B3-95F0-AC01F70B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438650"/>
            <a:ext cx="5162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显式关系与图遍历适合多跳任务；目前没有同任务、多跳 Recall 的行业可比数据。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A334DD-3737-4B0D-BDD7-1E8C16D7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0577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低年资工程师借助本体学习领域知识，是待验证的潜在收益。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AEF02E-7C1F-4210-89BB-2EA2E2F5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93470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ECE6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CAA865-CD7E-4614-B7A3-36D392A0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可比性限制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D8A737-4E1D-4873-A062-5EBE5ED7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29275"/>
            <a:ext cx="9515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8 项整体 Coding / Agent 基准尚未运行；10 题 A/B 的 OFF 组 grep 失败并触发慢回退，工具 −43%、轮次 −39%、token −18% 仅作方向观察。</a:t>
            </a:r>
          </a:p>
        </p:txBody>
      </p:sp>
    </p:spTree>
    <p:extLst>
      <p:ext uri="{BB962C8B-B14F-4D97-AF65-F5344CB8AC3E}">
        <p14:creationId xmlns:p14="http://schemas.microsoft.com/office/powerpoint/2010/main" val="2004244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BEA9DF-AF5D-49CE-975E-8777FC14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 /  07     07 · 组织级知识图谱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AAEF1-09FD-4A28-B139-41F265EC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联邦式意图图谱：自治项目通过引用协作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4C781-42F5-44A0-9ACE-11ABB9BC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中心管理成员与授权；成员保有自己的图谱，读取返回引用。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07B9F-3AB0-458F-8F51-B291189A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DB500-CEF6-44A4-90DE-C7913C27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782B4-57EE-4E68-93F1-EDE6D565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design-federated-intent-graph-001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E990A-73D6-499A-B42B-EC2615FF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2933700" cy="3781425"/>
          </a:xfrm>
          <a:prstGeom xmlns:a="http://schemas.openxmlformats.org/drawingml/2006/main" prst="roundRect">
            <a:avLst>
              <a:gd name="adj" fmla="val 3247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9724C-B727-4DBF-92DE-0B1CA2BA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成员项目 · 主权数据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1E37D-B942-4424-88CF-3C4B523F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24100"/>
            <a:ext cx="2400300" cy="581025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75682-02AB-4EF6-9D20-A3443057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24100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36B72-A01A-49E0-93F9-7576C85C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00300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Member Project Graph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1240C-D4DC-4E11-9D38-A8FFA222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76525"/>
            <a:ext cx="2171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 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BCB88D-19C1-44D2-BEA4-49D1B259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24375"/>
            <a:ext cx="2400300" cy="581025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AF627-8727-4642-A3FE-48597452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2437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2309A-43C6-4CFD-A7EB-123E36B3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Member Project Graph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C574E-6659-4A57-8215-5C10B9E1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876800"/>
            <a:ext cx="2171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 Object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535C8-E19C-4311-9AE7-79627031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00425"/>
            <a:ext cx="2400300" cy="581025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3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CEA84-6778-46C7-B9F1-377F444C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0042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342EB-287B-4E4F-940E-3DC2C581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76625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Federated Graph Reference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9F52B-8D3F-4BE0-A550-A4D1CE6B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52850"/>
            <a:ext cx="2171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 Object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DC737-4B2D-4F18-B154-3C722AE1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66925" y="2905125"/>
            <a:ext cx="953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4748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C73F1-CE48-40F9-8CD4-ECCE4950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790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CBCCD2-2663-4FE2-92DC-A3230920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66925" y="3981450"/>
            <a:ext cx="953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4748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998995-2A0E-4B8F-8A65-3D0E2A70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52900"/>
            <a:ext cx="790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C213C1-1743-473B-8ACB-E5E81EE4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2575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233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1FC9D-5FF2-4B95-AF01-AE1B5887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CA1C73-3A3A-41F4-9BF5-3EF93787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28825"/>
            <a:ext cx="3028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Federation Registry–Broker Center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759CC-E65D-45F7-B8B2-1D822149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05050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Component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5F352-319E-41C1-B93C-12E1CCFE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57500"/>
            <a:ext cx="2524125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0C3526-8CA4-48CD-9C52-DCEBF08F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575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30FFD0-DCB7-4C2E-9667-DB8BD6AA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33700"/>
            <a:ext cx="2295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Graph MCP Tool Interface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7F7C21-2983-44AB-ADE2-0967790D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09925"/>
            <a:ext cx="22955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Interface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CAD59C-5E73-4328-9E4E-626E79FB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43325"/>
            <a:ext cx="325755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3E8B8C-6466-42E8-9AF7-316E4D3A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43325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A2141C-F8D5-4D37-92AC-C54F654C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9525"/>
            <a:ext cx="3028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Federation Registry–Broker Service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5EEB6F-3256-40D8-A0EF-3186B3D9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9575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Service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F5AFD3-4BCE-4D56-AADC-F8E5E8A3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53125" y="2505075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5EF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9D3CF1-2BA6-4164-B4A7-EBD96624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81275"/>
            <a:ext cx="771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B74B5D-3F1E-49D6-8100-55904A3D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53125" y="3352800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4866D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D14E7E-0C8B-4D0A-A158-25E43D44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38525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6C94FA-12AE-4724-A8A3-55B8EBC3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3028950" cy="581025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9261B5-6B27-4406-89DD-1436F08E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AAD24A-817C-40DA-A759-6F853659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Federation Membership and Grants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1415D1-E566-494B-A74E-C5556467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24125"/>
            <a:ext cx="2800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 Object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80A7D4-FBAB-4EDF-AE7E-F95A2C2D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81900" y="2466975"/>
            <a:ext cx="80010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4866D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56341B-4FA0-4720-A041-03F3015D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791F57-74C9-40E4-83E9-D82E74B4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267075" y="2609850"/>
            <a:ext cx="1057275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5D3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6E2768-652B-4085-90D2-0AD51A8E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0515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120D22-E256-4349-A7B6-048039BF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267075" y="4114800"/>
            <a:ext cx="1057275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5D32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6724D2-587F-4235-A4CB-C8D5C445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886D88-977F-43C6-A335-957AB1D0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267075" y="3695700"/>
            <a:ext cx="1057275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5D32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8B1271-E540-4FFE-BE37-335DBC69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9095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Access · returns reference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4857F7-0435-4F6E-8A86-C8406520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43275"/>
            <a:ext cx="3028950" cy="14573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A5F9D1-0025-4731-A5CB-80AAE434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575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Registry–Broker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8FEC98-BB0E-463C-A13C-62884FA9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264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中心管理成员、能力与授权元数据。</a:t>
            </a:r>
          </a:p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跨成员读取先检查授权，再经项目 MCP 读穿。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94E4E3-D0F5-4AE2-B750-0F4E69B0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中心返回图谱引用，成员内容不合并。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292ED9-BDCD-4665-B055-821077EF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95375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6F3E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6B3D58-482E-460D-9681-3B43483E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620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成员图保持自治 · 中心只管联邦元数据 · 默认拒绝 · 授权后按引用读取</a:t>
            </a:r>
          </a:p>
        </p:txBody>
      </p:sp>
    </p:spTree>
    <p:extLst>
      <p:ext uri="{BB962C8B-B14F-4D97-AF65-F5344CB8AC3E}">
        <p14:creationId xmlns:p14="http://schemas.microsoft.com/office/powerpoint/2010/main" val="527553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E983DB5-0E95-4000-90BB-83BD2B03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 /  08     附录 A · 指标明细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ED6CD-FDC0-4F17-9847-AE196887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20 项指标：映射关系、当前结果与下一步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A2061-738E-4C2D-B610-8EEF5454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指标全集落在业务流程和应用能力上；“未测”表示证据缺口。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51534-D3B1-4B21-9A50-97BE097C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B6C43-0763-4D73-BC85-69571418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1DD07-FF8F-4C77-B8E3-BD25454D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aos-as-* measurement-* 属性即本页数据源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2D096-2190-4F1B-8ABB-C46FD77D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90675"/>
            <a:ext cx="531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4D6E3-A39F-43E7-85E7-205EFA54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 业务阶段 · 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01F7B-24C1-4249-847C-BB73E6FD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09725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应用能力 / 现有证据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F35CE-25B1-4908-BF2D-4E83EB4F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764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4C254-949F-44B7-B739-75ACAE64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06663-12A9-4E0C-A3A1-0DAEAD0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明确任务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847A5-7BCA-4201-A190-B16D1DD1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8859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空闲时长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8C6D3-2788-4B71-8637-D41EEF5A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859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会话编排 · 未测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750DC-1973-4636-8695-72DB7662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669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尚未采集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ECC16-D5BA-4A36-BB59-D045B3F6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22669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4AD76-96DC-4007-B8E2-42121FD0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D77F1-7814-4AE3-B4C9-3EA0E2D8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明确任务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70707-BD09-4956-A9EA-3941BE41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2860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请示频率与回环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4B9D0-90FD-4B57-B8CB-4B4CEB92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会话编排 · 未测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2C967-3378-4EEA-A8D2-4166A827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尚未采集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D229A-7ACA-423B-BCE8-963A31C4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26670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BB37AE-9449-4B52-8594-BE22E4E0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765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5D364-89E3-434B-8FB5-CDC79EF7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D5312-AB48-4619-9E3E-73414634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规划执行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FAD711-ADFC-4705-BA53-F7E731CA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6860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计划正确率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799320-7FEB-445B-A263-12EF35F5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会话编排 / 工具执行 · 部分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B18BC9-B51B-488B-9492-D11E0920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670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navigation 20/20（代理）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AB328-B87C-4318-A6E1-C9F55A4B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30670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462664-44B1-4B5A-A230-AFD9908C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9E6C74-5EB8-4CED-BC47-DD801267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获取上下文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058085-F6E7-4B64-9D20-8973BEE5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0861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检索召回与排序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013811-8842-4B1F-8882-2B5D69D7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861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上下文访问 / 图谱服务 · 实测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C02DE4-5DD9-4C4E-8922-A34BCBB5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670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r@1 94.6→98.7 · MRR 0.997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7EFD1B-E3D9-4D0A-BCB4-6A9783BA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34671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0B2654-F06B-4F0A-802E-13E85639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766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D32C90-F55D-4C25-8255-E14BF13D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6BCA16-8D41-4921-AC33-44E062C6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规划执行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F928A4-CDAC-4B35-9D6A-06D925AD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4861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工具成功率与轮次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A529B7-8243-4C0B-A089-D0043750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会话编排 / 工具执行 · 实测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479DB8-C353-4F78-ABD5-E5C59288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671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成功率 100% · 轮次 −39%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600799-F765-4792-8253-8C2A05F9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38671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154B21-8906-4CCC-9B1F-4F342E08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1335FC-7B71-4077-BD8C-099E00E6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规划执行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4A724F-EDE1-48B0-93D6-B8615526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8862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去重 P/R 与无损率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31B9F5-7B20-49D2-B53D-AC419412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86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会话编排 / 工具执行 · 部分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676033-C643-47F7-83B1-C18A37C9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671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L1 阈值 0.85（假阳性 0.85–0.89）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D831ED-2239-498C-83E6-9DCD2C34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42672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F64D34-237D-4B21-B5BC-477692AE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767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5FDC24-C897-45C0-A6EB-83768AAC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EA667B-ECFE-4482-A7A2-A0F79531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验证评审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2DF5CE-882D-4CC1-A547-E3D25575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2862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验收通过率与回归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7376FD-780D-4D57-9A44-F5701668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验证与反馈 · 部分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D69645-EB6F-4E23-AB7E-517B9375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672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AT 12/12 · 回归 38/38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466EAD-0A55-492C-A192-ED3108EB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46672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76C97B-7535-4160-B074-8312C655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70E19F-C85F-42DD-A779-28DABC5C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规划执行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A0696E-5C9C-421C-8BA4-CC192E6E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6863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等待 / 唤醒时延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B7234E-D476-4994-878D-594287BF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863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会话编排 / 工具执行 · 实测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57DD1E-BE1E-47DF-A1C0-A1523C91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672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读 2.0–2.5s · 写 1.1s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DDE0DD-BA93-4591-99E8-6BA853F7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50673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094BC3-F326-4485-97EE-1E9B18A3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768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17AC80-3D7B-4DAF-9860-E7D69528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B31979-9707-4DC7-AE65-7316716A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结果交付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ACD7562-10E8-4DA9-81CA-09BE0B88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0863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提交登记完整率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12D1AE-2F25-4B98-A813-FB157F74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863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图谱服务 · 未测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050ED7B-EDEA-4BDF-B9CE-8E18B130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673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无统计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33034D9-8E3F-4D7D-9260-482A3205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54673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C3EB4F-EED9-41DF-91DA-FD97E8FF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B0CD05-51AC-44D4-83D2-C302CC97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知识沉淀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7A40720-3993-4120-9676-05CFC7CD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4864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记忆准确率与拒答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4F0F9DD-E781-4E58-BE3C-1296ACA0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864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图谱服务 · 实测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E37E306-CEE3-4F73-B98C-DBE7179D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673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100%(31/31) · 拒答 100%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0DE29C7-1B06-4724-95B6-60E4B863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58674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3C5AAC1-10E5-4C5A-A82E-E0E96D2B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90675"/>
            <a:ext cx="531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4F2E193-69A7-447B-BF0C-705702AC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609725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 业务阶段 · 指标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B800332-F2B7-4F7A-9A55-9BAD2847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9725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应用能力 / 现有证据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F984EEE-D65C-414A-A015-602547A1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764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04B515B-DB01-44A2-8404-E81FDC29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8859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12CAEE2-D091-47B6-86E9-ED28C027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结果交付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F2753BC-4030-48A7-957D-B6754E25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859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任务完成成功率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9989090-5565-46DA-8B2F-A51089D2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859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图谱服务 · 部分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02E898E-660B-415F-922F-1D1CEFAF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669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小样本 31/31 · 20/20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4E89BB9-BEE9-462D-A9B2-0CC8253D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22669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8756FE0-31E4-4212-9B4A-6BD10C5F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860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90A1985-4805-4EEE-8F2B-C12799B9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860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结果交付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81A1D55-E6CB-4189-933C-C1208842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860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端到端时延 / 成本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6BC9EFC-9068-4BD5-80B0-EBBBB211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860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图谱服务 · 部分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55370D6-3974-434C-ACDC-1C0FF7FA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669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读 2.0–2.5s · 4890 token/查询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F1FC0B4-593B-4437-B2EB-4F3B6545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26670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57B8697-31D3-4DE2-8A30-7235C27C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765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E5F18FC-D5C5-4184-AAEE-A6A225AC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860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452D5D2-CB4B-4B21-B8CE-5F95BB14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860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87D1B5F-DF02-4E81-B46E-AC4C5D9E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SWE-bench Resolved%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3CB74C8-CFEE-4BDC-AC39-CA9F432F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860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5BF3437-06D6-4BD3-972E-E51A16A6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670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520C8D2-006A-4460-9CBB-00A332FB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30670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704A471-AEE5-4509-9428-5D7C4EBE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86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E6117C9-334B-4369-A0CA-24924C67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861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A0DEEEE-50EC-4B2F-9086-F94B0F6A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861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SWE-bench Verified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1D7035E-9D99-4848-BE8B-C3BFEEA4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861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58C6DB0-0786-489E-B91D-8B9DA779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670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5395054-5D7A-4992-A31F-CD6EAFF5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34671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8C3889E-EF26-4DBF-AB4B-16B6235F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766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3A5C6C5-F776-4630-B8AF-74C552A3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861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9046503-52AB-492B-A8C8-4FC14233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861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B82A769-0F47-4812-8924-35970D54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Terminal-Bench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027891A-4BE7-490C-AA70-BA779BF0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861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E3FE5C0-4338-4BB3-AB6D-4A89DB66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671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4155C62-CAE3-45F9-8D8F-D6F05923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38671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3F94D90-04A9-4EF8-9B4F-59590889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862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6063FF6-D35E-4B86-82DE-96061600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8862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B6BE865-D71F-4CFE-ADC2-51DDE318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862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HumanEval / MBPP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6484DF0-8E8B-4576-9446-792004ED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86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EED1372-555E-4495-92B5-CE50F9CC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0671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9236A02-F0C9-4506-9172-AB0EDF44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42672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1B994FD-7E9B-4D69-A32B-86EA758E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767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39818B8-DAB6-4436-AEC0-EA691A11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862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B8694D9-EE16-419B-9176-B15BE739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2862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CA66892-6388-48E0-B458-C6CB5DB8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62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LiveCodeBench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BDE33DC-C559-4D01-9D80-2656EB58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862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264D62F-17CF-4AAF-BC60-90BBDC76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4672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85595E5-D89A-4F54-84AE-5406D970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46672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0C62AC6-A3E8-4F39-9387-CC72792E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863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C9C767A-3812-409B-BE32-10735B59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863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6448CBF-8221-423A-B013-46110FF4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863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GAIA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7089DBB-0BDF-414F-9ACC-10871FBF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863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3FDB4A0-85D5-4460-A5DC-E3C9A7DD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8672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805EAD4-9BFD-43E7-860C-D6CC7471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50673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47C4C26-2AC3-43FD-B678-2E196A97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768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7226A2F-1C29-4E2C-BA01-AE86055C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086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529CF71-ECE2-4596-8847-6A68D00E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0863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3CC9DF5-F809-4C94-B3C6-CFEA1C48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863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τ-bench pass^k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DCA1E3B-D6F5-4610-A575-2DC9EEA7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0863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C5F815A-05B0-4F2A-97B0-86A01B45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2673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72E70D1-B6D9-408A-902D-8AE5691E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54673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76A8ED4-BEF8-4BDF-8A64-E55A0BCE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4864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A55A162-38D2-44E7-A567-C4BC4B55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4864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3642E2C-9F18-48C6-9686-5551979B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864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AgentBench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AB5A78E-F129-4C14-86E1-175DEEA3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4864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3F7888B-F921-4CBF-9408-5E595E47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6673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485A7CD-4F7E-4098-ACE6-C0BE84B8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58674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D1C6DFA-6FD5-4A3A-A7EF-A6AFA324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29325"/>
            <a:ext cx="10734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业界分数只作测量口径背景；任务集、模型、Harness 或评测方法不同，不作直接优劣比较。</a:t>
            </a:r>
          </a:p>
        </p:txBody>
      </p:sp>
    </p:spTree>
    <p:extLst>
      <p:ext uri="{BB962C8B-B14F-4D97-AF65-F5344CB8AC3E}">
        <p14:creationId xmlns:p14="http://schemas.microsoft.com/office/powerpoint/2010/main" val="20370478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C5196C-6432-4D3C-B1DE-D9901F25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ARCHGRAPH  /  09     附录 B · 业界证据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275B0-64A8-49EE-A9F3-1158F843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业界实践提示：专家帮助 Agent 在生产级项目中工作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3056B-0AA4-445C-87D6-42ED3FDD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C7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BC7D5"/>
                </a:solidFill>
                <a:latin typeface="Arial"/>
                <a:ea typeface="Arial"/>
                <a:cs typeface="Arial"/>
              </a:rPr>
              <a:t>案例启发我们把专家脑中的项目地图变成可共享、可检查的外部模型。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DEE4E-D4F0-4F17-B112-869C3A94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7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F8CC3-35B6-4AF4-B978-C0358944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BC7D5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BC7D5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6D55A-F142-4E60-B05C-4C82123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85BC1-10AF-4864-BE36-16EA065B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09725"/>
            <a:ext cx="4610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OPENAI · HARNESS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63478-13EB-4649-AD4E-604BBBD3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47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D44A7-6A76-47C4-9978-28B4FCAF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71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工程师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8DAD9-610E-499A-B318-A2BAFFD7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14675" y="2000250"/>
            <a:ext cx="953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506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5F8D9-8336-4814-8F18-E080EBD3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47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5 个月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76898-F907-46EC-88A5-6E096D4C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持续迭代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FC994-A37D-423F-9A08-29EB61D5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48350" y="2000250"/>
            <a:ext cx="953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506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25303-4B1C-46E0-9C02-A0A617C7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47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≈ 100 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5F4F5-50C1-4422-A6E5-0B32B806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代码行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E8D50-28C1-49EA-9F3D-375F7A90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82025" y="2000250"/>
            <a:ext cx="953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506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6EDC6-601D-41D3-A6A5-F1B523BB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47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BE3FD-D36C-40C7-98E7-D36B988E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手写代码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0A17A-1CE2-4F14-9192-8FC4C059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71825"/>
            <a:ext cx="10896600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1A2E44"/>
          </a:solidFill>
          <a:ln xmlns:a="http://schemas.openxmlformats.org/drawingml/2006/main" w="9525">
            <a:solidFill>
              <a:srgbClr val="3B506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4C850-97DE-495C-845F-3105F4A4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956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文章报告的工程做法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DC960-C6E5-4700-9E32-F5EE5846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67125"/>
            <a:ext cx="23431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3A53"/>
          </a:solidFill>
          <a:ln xmlns:a="http://schemas.openxmlformats.org/drawingml/2006/main" w="9525">
            <a:solidFill>
              <a:srgbClr val="50657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56E1E-261E-4509-8866-A876A61E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242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设计开发环境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A5D87-F733-4F63-BE73-995BF96C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1475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F4A26C-C002-415A-B42A-783812E3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67125"/>
            <a:ext cx="23431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3A53"/>
          </a:solidFill>
          <a:ln xmlns:a="http://schemas.openxmlformats.org/drawingml/2006/main" w="9525">
            <a:solidFill>
              <a:srgbClr val="50657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D6135D-222C-4574-9877-D5E669A1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242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定义意图与架构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154775-60D7-43B1-A1F2-C936362F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1475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B105B2-6585-4FE8-AA09-6326F74F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67125"/>
            <a:ext cx="23431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3A53"/>
          </a:solidFill>
          <a:ln xmlns:a="http://schemas.openxmlformats.org/drawingml/2006/main" w="9525">
            <a:solidFill>
              <a:srgbClr val="50657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8CA779-5101-48C5-9800-D89D09B4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7242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设置自动验收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45FE53-E114-4031-852E-44459386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71475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FC32E6-A639-4093-901F-7DC08245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67125"/>
            <a:ext cx="23431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3A53"/>
          </a:solidFill>
          <a:ln xmlns:a="http://schemas.openxmlformats.org/drawingml/2006/main" w="9525">
            <a:solidFill>
              <a:srgbClr val="50657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BB8FBD-D400-47F0-8EC8-D145CB2E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242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用反馈循环修正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C6D8-8220-4F40-8D71-9800797B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523875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20354C"/>
          </a:solidFill>
          <a:ln xmlns:a="http://schemas.openxmlformats.org/drawingml/2006/main" w="9525">
            <a:solidFill>
              <a:srgbClr val="465B7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224A3F-BDD2-47C4-8E80-09695364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C5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C59E"/>
                </a:solidFill>
                <a:latin typeface="Arial"/>
                <a:ea typeface="Arial"/>
                <a:cs typeface="Arial"/>
              </a:rPr>
              <a:t>我们的解释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31B6A9-CA50-48DE-9D13-D7621DEE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4876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专家掌握项目地图，才能检查 Agent 是否走在正确路径上。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1D1153-FDD8-418E-A453-0DEA202D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把地图外化为本体和图谱，专家可以更深入地指导和校准。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64A84B-24C5-40B2-BAC7-47584BDF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535305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20354C"/>
          </a:solidFill>
          <a:ln xmlns:a="http://schemas.openxmlformats.org/drawingml/2006/main" w="9525">
            <a:solidFill>
              <a:srgbClr val="465B7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DE86C4-B5D8-43B3-946B-639E6AE8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14875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9CB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9CBB6"/>
                </a:solidFill>
                <a:latin typeface="Arial"/>
                <a:ea typeface="Arial"/>
                <a:cs typeface="Arial"/>
              </a:rPr>
              <a:t>待验证的扩展收益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4DFA1C-F75F-4F8F-A454-00A3DB43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81575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图谱给工程师一个可学习的领域模型；低年资成员可能借此逐步成长。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5733FC-CFDA-45A2-841F-071FC952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3402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当前没有学习成效数据，作为待验证假设。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743B14-6FB8-471C-B7B5-1DB05A40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153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EBBC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BC8"/>
                </a:solidFill>
                <a:latin typeface="Arial"/>
                <a:ea typeface="Arial"/>
                <a:cs typeface="Arial"/>
              </a:rPr>
              <a:t>案例数字为 OpenAI 团队自述；“专家脑中的图”是我们的解释，不是来源原句。</a:t>
            </a:r>
          </a:p>
        </p:txBody>
      </p:sp>
    </p:spTree>
    <p:extLst>
      <p:ext uri="{BB962C8B-B14F-4D97-AF65-F5344CB8AC3E}">
        <p14:creationId xmlns:p14="http://schemas.microsoft.com/office/powerpoint/2010/main" val="668798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2026-10-07T08:22:13.0690000Z</dcterms:created>
  <dcterms:modified xsi:type="dcterms:W3CDTF">2026-10-07T08:22:13.0690000Z</dcterms:modified>
</coreProperties>
</file>