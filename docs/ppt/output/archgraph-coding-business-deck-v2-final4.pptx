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7c3a776f5d4aa7" /><Relationship Type="http://schemas.openxmlformats.org/officeDocument/2006/relationships/extended-properties" Target="/docProps/app.xml" Id="R9d22c926b1a041db" /><Relationship Type="http://schemas.openxmlformats.org/officeDocument/2006/relationships/officeDocument" Target="/ppt/presentation.xml" Id="Rc576f614bf154a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724ca31554039"/>
  </p:sldMasterIdLst>
  <p:notesMasterIdLst>
    <p:notesMasterId xmlns:r="http://schemas.openxmlformats.org/officeDocument/2006/relationships" r:id="Raa48cc18bbd341bc"/>
  </p:notesMasterIdLst>
  <p:sldIdLst>
    <p:sldId xmlns:r="http://schemas.openxmlformats.org/officeDocument/2006/relationships" id="256" r:id="Ra003f977f095482d"/>
    <p:sldId xmlns:r="http://schemas.openxmlformats.org/officeDocument/2006/relationships" id="257" r:id="Rd8197865e9f247c1"/>
    <p:sldId xmlns:r="http://schemas.openxmlformats.org/officeDocument/2006/relationships" id="258" r:id="R38c1f37cef3949e0"/>
    <p:sldId xmlns:r="http://schemas.openxmlformats.org/officeDocument/2006/relationships" id="259" r:id="Rd1f958b5642c4ae0"/>
    <p:sldId xmlns:r="http://schemas.openxmlformats.org/officeDocument/2006/relationships" id="260" r:id="Rd3afb9ba8c534067"/>
    <p:sldId xmlns:r="http://schemas.openxmlformats.org/officeDocument/2006/relationships" id="261" r:id="R725087acb1984965"/>
    <p:sldId xmlns:r="http://schemas.openxmlformats.org/officeDocument/2006/relationships" id="262" r:id="Rf22b78a63c6c46d5"/>
    <p:sldId xmlns:r="http://schemas.openxmlformats.org/officeDocument/2006/relationships" id="263" r:id="R37d452e726034917"/>
    <p:sldId xmlns:r="http://schemas.openxmlformats.org/officeDocument/2006/relationships" id="264" r:id="R4bfa102645cd41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06aa1086d5422d" /><Relationship Type="http://schemas.openxmlformats.org/officeDocument/2006/relationships/slideMaster" Target="/ppt/slideMasters/slideMaster1.xml" Id="R724724ca31554039" /><Relationship Type="http://schemas.openxmlformats.org/officeDocument/2006/relationships/notesMaster" Target="/ppt/notesMasters/notesMaster1.xml" Id="Raa48cc18bbd341bc" /><Relationship Type="http://schemas.openxmlformats.org/officeDocument/2006/relationships/presProps" Target="/ppt/presProps.xml" Id="R16b0bd6bf3524416" /><Relationship Type="http://schemas.openxmlformats.org/officeDocument/2006/relationships/tableStyles" Target="/ppt/tableStyles.xml" Id="Rc5314d29797a4755" /><Relationship Type="http://schemas.openxmlformats.org/officeDocument/2006/relationships/slide" Target="/ppt/slides/slide1.xml" Id="Ra003f977f095482d" /><Relationship Type="http://schemas.openxmlformats.org/officeDocument/2006/relationships/slide" Target="/ppt/slides/slide2.xml" Id="Rd8197865e9f247c1" /><Relationship Type="http://schemas.openxmlformats.org/officeDocument/2006/relationships/slide" Target="/ppt/slides/slide3.xml" Id="R38c1f37cef3949e0" /><Relationship Type="http://schemas.openxmlformats.org/officeDocument/2006/relationships/slide" Target="/ppt/slides/slide4.xml" Id="Rd1f958b5642c4ae0" /><Relationship Type="http://schemas.openxmlformats.org/officeDocument/2006/relationships/slide" Target="/ppt/slides/slide5.xml" Id="Rd3afb9ba8c534067" /><Relationship Type="http://schemas.openxmlformats.org/officeDocument/2006/relationships/slide" Target="/ppt/slides/slide6.xml" Id="R725087acb1984965" /><Relationship Type="http://schemas.openxmlformats.org/officeDocument/2006/relationships/slide" Target="/ppt/slides/slide7.xml" Id="Rf22b78a63c6c46d5" /><Relationship Type="http://schemas.openxmlformats.org/officeDocument/2006/relationships/slide" Target="/ppt/slides/slide8.xml" Id="R37d452e726034917" /><Relationship Type="http://schemas.openxmlformats.org/officeDocument/2006/relationships/slide" Target="/ppt/slides/slide9.xml" Id="R4bfa102645cd41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5bd0d0304a44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de97dc2814e2f" /><Relationship Type="http://schemas.openxmlformats.org/officeDocument/2006/relationships/notesMaster" Target="/ppt/notesMasters/notesMaster1.xml" Id="R23fd86c6a6b84a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d91851eac46cc" /><Relationship Type="http://schemas.openxmlformats.org/officeDocument/2006/relationships/notesMaster" Target="/ppt/notesMasters/notesMaster1.xml" Id="R786c5664c90747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2b60f729954b72" /><Relationship Type="http://schemas.openxmlformats.org/officeDocument/2006/relationships/notesMaster" Target="/ppt/notesMasters/notesMaster1.xml" Id="R28f2aa0cd5814b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8ecbc08de1461c" /><Relationship Type="http://schemas.openxmlformats.org/officeDocument/2006/relationships/notesMaster" Target="/ppt/notesMasters/notesMaster1.xml" Id="Recb3084c5b6247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231d571bc74dfe" /><Relationship Type="http://schemas.openxmlformats.org/officeDocument/2006/relationships/notesMaster" Target="/ppt/notesMasters/notesMaster1.xml" Id="Rdf9d22f3af6147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530a39fff34ba9" /><Relationship Type="http://schemas.openxmlformats.org/officeDocument/2006/relationships/notesMaster" Target="/ppt/notesMasters/notesMaster1.xml" Id="R2b6c34ca703945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4506d004b94330" /><Relationship Type="http://schemas.openxmlformats.org/officeDocument/2006/relationships/notesMaster" Target="/ppt/notesMasters/notesMaster1.xml" Id="Ra53fe0ee28824a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ddea98f1654cca" /><Relationship Type="http://schemas.openxmlformats.org/officeDocument/2006/relationships/notesMaster" Target="/ppt/notesMasters/notesMaster1.xml" Id="R9fa1500913c449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f5b045aba24c12" /><Relationship Type="http://schemas.openxmlformats.org/officeDocument/2006/relationships/notesMaster" Target="/ppt/notesMasters/notesMaster1.xml" Id="R98e39a06721247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数据依据：意图图谱状态机视图 uml2-coding-statemachine-view-002、uml2-coding-running-view-002、uml2-coding-background-view-002。图谱将 aos-stopped 定义为“会话终止（终态）”，因此页面不把它解释为成功。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来源与口径：</a:t>
            </a:r>
          </a:p>
          <a:p xmlns:a="http://schemas.openxmlformats.org/drawingml/2006/main">
            <a:r>
              <a:t>GitClear, 2025 report, 211 million changed lines across 2020–2024; duplicate-code trend is observational and does not establish AI as the sole cause: https://staging2.gitclear.com/ai_assistant_code_quality_2025_research</a:t>
            </a:r>
          </a:p>
          <a:p xmlns:a="http://schemas.openxmlformats.org/drawingml/2006/main">
            <a:r>
              <a:t>DORA 2025, 30% report little or no trust in AI-generated code: https://dora.dev/insights/managing-ai-dependency/</a:t>
            </a:r>
          </a:p>
          <a:p xmlns:a="http://schemas.openxmlformats.org/drawingml/2006/main">
            <a:r>
              <a:t>Faros AI, telemetry across 1,255 teams and 10,000+ developers; high-adoption teams showed PR review time +91% and PRs +98%: https://www.faros.ai/blog/ai-software-engineering</a:t>
            </a:r>
          </a:p>
          <a:p xmlns:a="http://schemas.openxmlformats.org/drawingml/2006/main">
            <a:r>
              <a:t>METR randomized controlled trial: 16 experienced open-source developers, 246 tasks, early-2025 tools; measured 19% slower while participants estimated 20% faster: https://metr.org/Early_2025_AI_Experienced_OS_Devs_Study-paper.pdf</a:t>
            </a:r>
          </a:p>
          <a:p xmlns:a="http://schemas.openxmlformats.org/drawingml/2006/main">
            <a:r>
              <a:t>These sources use different methods and populations; do not treat them as one causal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来源：OpenAI Harness Engineering (3 engineers, about five months, roughly one million lines, no manually written code): https://openai.com/index/harness-engineering/</a:t>
            </a:r>
          </a:p>
          <a:p xmlns:a="http://schemas.openxmlformats.org/drawingml/2006/main">
            <a:r>
              <a:t>Bun Rust rewrite (11 days, 6,778 commits including merges, about $165,000 API-price estimate): https://bun.com/blog/bun-in-rust</a:t>
            </a:r>
          </a:p>
          <a:p xmlns:a="http://schemas.openxmlformats.org/drawingml/2006/main">
            <a:r>
              <a:t>Anthropic large-scale migration six-step method: https://claude.com/resources/articles/ai-code-migration</a:t>
            </a:r>
          </a:p>
          <a:p xmlns:a="http://schemas.openxmlformats.org/drawingml/2006/main">
            <a:r>
              <a:t>Codex CLI native rewrite discussion: https://github.com/openai/codex/discussions/1174</a:t>
            </a:r>
          </a:p>
          <a:p xmlns:a="http://schemas.openxmlformats.org/drawingml/2006/main">
            <a:r>
              <a:t>DHH TerminalTextEffects figure is a reported single demonstration, not a controlled comparison; it is not used to infer typical productivity.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概念依据：docs/diagrams/core-model.svg 与 argo/rules/archgraph.instructions.md。图谱作为意图与实现对照面，类型、关系、状态和验收规则构成共同语言。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数据源：意图图谱 aos-as-* 的 measurement-status / measurement-result 属性。20 个指标分为 measured 4、partial 5、not_measured 11；小样本域内评测不代表 coding 闭环整体成功率。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框架流程参考 Harness 视图 298、argo/scripts/graph-rag、docs/mcp-acceptance.md。页面将写入、召回、重排、grounding 和评估分层；L2 的元素/关系作为语义单元，不切文本块。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我方实测来自 scripts/eval-retrieval.js、scripts/eval-rerank.js、scripts/memory-eval-run.js 与 results/memory-retrieval-ab-report.json。A/B 为 10 题，同仓同模型，唯一变量为是否挂 MCP。图谱记录明确说明 OFF 臂 grep 失败 / 慢速回退污染成本，因此 −18% token、−43% 工具、−39% 轮次仅作为试跑观察；成功率 10/10 为自建小样本，不代表 coding 任务总体成功率。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联邦状态数据来自图谱 federation registry：23 个注册成员、45 条授权关系；SOC-DEMO 跨项目实读 386 个元素。说明中心持有成员/能力/接口/授权元数据，成员内容保持在各自的主权图中。参考 docs/external-graph-query.md。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完整指标表依据意图图谱 aos-as-* measurement-status / measurement-result；状态与结果在生成前逐项对照。公开基准区间仅用于比较口径，不替代本项目实测。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43dd9254648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c9486dac084c9a" /><Relationship Type="http://schemas.openxmlformats.org/officeDocument/2006/relationships/slideLayout" Target="/ppt/slideLayouts/slideLayout1.xml" Id="Rf15ab480e21145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5ab480e21145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c22d6d6d54970" /><Relationship Type="http://schemas.openxmlformats.org/officeDocument/2006/relationships/notesSlide" Target="/ppt/notesSlides/notesSlide1.xml" Id="R09fc4fa1d38a41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6a5b7d93944e8" /><Relationship Type="http://schemas.openxmlformats.org/officeDocument/2006/relationships/notesSlide" Target="/ppt/notesSlides/notesSlide2.xml" Id="R4a858b434e6742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7bca479464b8c" /><Relationship Type="http://schemas.openxmlformats.org/officeDocument/2006/relationships/notesSlide" Target="/ppt/notesSlides/notesSlide3.xml" Id="R3541f31b6673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5c67e21694cb2" /><Relationship Type="http://schemas.openxmlformats.org/officeDocument/2006/relationships/notesSlide" Target="/ppt/notesSlides/notesSlide4.xml" Id="R1fc554bb451248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33df5dd674ca5" /><Relationship Type="http://schemas.openxmlformats.org/officeDocument/2006/relationships/notesSlide" Target="/ppt/notesSlides/notesSlide5.xml" Id="Rba5a956152c747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72a689fea47d0" /><Relationship Type="http://schemas.openxmlformats.org/officeDocument/2006/relationships/notesSlide" Target="/ppt/notesSlides/notesSlide6.xml" Id="R91a47aa6613f4e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c5fc87c2c4621" /><Relationship Type="http://schemas.openxmlformats.org/officeDocument/2006/relationships/notesSlide" Target="/ppt/notesSlides/notesSlide7.xml" Id="Rf446666bf09149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c31c636624689" /><Relationship Type="http://schemas.openxmlformats.org/officeDocument/2006/relationships/notesSlide" Target="/ppt/notesSlides/notesSlide8.xml" Id="R1a47219d245d4a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ac37a9a264f2c" /><Relationship Type="http://schemas.openxmlformats.org/officeDocument/2006/relationships/notesSlide" Target="/ppt/notesSlides/notesSlide9.xml" Id="R2f8132be599148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BCFEAC-716E-410B-BF56-7CD05771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01 · 业务全景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2F7B7-CBAB-4D01-B8EC-E58A0A7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Coding Agent 工作回合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DF187-AB56-4C5E-87B4-980C2D34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4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4D3"/>
                </a:solidFill>
                <a:latin typeface="Arial"/>
                <a:ea typeface="Arial"/>
                <a:cs typeface="Arial"/>
              </a:rPr>
              <a:t>从需求输入到可验收的代码增量，执行态、等待态和后台任务分开呈现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1A907-3A2C-4E5E-9236-FE4C230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4D6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E8B89-A3BD-4131-B7A5-FE27E2E0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4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4D3"/>
                </a:solidFill>
                <a:latin typeface="Arial"/>
                <a:ea typeface="Arial"/>
                <a:cs typeface="Arial"/>
              </a:rPr>
              <a:t>ARCHGRAPH  / 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15F75-A1F9-4F0B-83A1-81692B78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8C4D3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8C4D3"/>
                </a:solidFill>
                <a:latin typeface="Arial"/>
                <a:ea typeface="Arial"/>
                <a:cs typeface="Arial"/>
              </a:rPr>
              <a:t>视图 uml2-coding-statemachine-view-002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3F866-3AC4-48C1-B78C-26A9CA50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0800"/>
            <a:ext cx="13525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354D"/>
          </a:solidFill>
          <a:ln xmlns:a="http://schemas.openxmlformats.org/drawingml/2006/main" w="9525">
            <a:solidFill>
              <a:srgbClr val="53667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55DB2-C3B1-4E7F-840E-21BE1FD0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43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5796A-ADE9-4779-B719-D412D12D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670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接收任务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EAA26-AD2C-4FF5-A640-F9B6738E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6925" y="3019425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AC7C8-D714-4891-A469-35F5DF24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194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76314-FB35-4BF0-9703-83BF35F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590800"/>
            <a:ext cx="13525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354D"/>
          </a:solidFill>
          <a:ln xmlns:a="http://schemas.openxmlformats.org/drawingml/2006/main" w="9525">
            <a:solidFill>
              <a:srgbClr val="53667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66FE6-C64B-4D06-8E17-49B8F4E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743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9D73D-66B2-43DD-9E61-2857C748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670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拆解 / 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6EA8A-2F68-4F64-91A7-C0547574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019425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C360F-A5A8-4C10-B7D1-BB422AAE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194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73733-6EC2-41A9-BCDA-E79354AE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90800"/>
            <a:ext cx="13525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354D"/>
          </a:solidFill>
          <a:ln xmlns:a="http://schemas.openxmlformats.org/drawingml/2006/main" w="9525">
            <a:solidFill>
              <a:srgbClr val="5366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F453C-6C28-4505-85D1-67DCB2FB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43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7BEF6-0D45-4A57-8385-F04F4FE6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670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读图 / 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44A1A-3CF4-4995-9620-18AC0846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8825" y="3019425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569EA-5EAA-4F6B-AA3B-037FE148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194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76383-B82D-4DCC-98BA-363C07A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90800"/>
            <a:ext cx="13525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9525">
            <a:solidFill>
              <a:srgbClr val="7890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08D66-5F4C-421D-8504-43F9055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43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927AD-AB5D-4639-8157-4213E62C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670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改代码 / 调工具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A41BE-B395-4134-BCB8-06E90A8E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24775" y="3019425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DB193-3F57-4C90-A2C5-032B6AF9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194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AEE9E8-75DF-4FFA-B6B8-8C0074C2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90800"/>
            <a:ext cx="13525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354D"/>
          </a:solidFill>
          <a:ln xmlns:a="http://schemas.openxmlformats.org/drawingml/2006/main" w="9525">
            <a:solidFill>
              <a:srgbClr val="53667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C6AEE-69E3-4995-930D-AA31A171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43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F952B-8D5A-4DEB-AF7C-DA17024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670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测试 / 验收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BAAEEB-AE46-4667-9B7C-64B8ACAE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10725" y="3019425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5A56AA-9231-4EB9-8AA9-108027A6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194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E09907-0FA7-4BCF-B091-542F79C2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90800"/>
            <a:ext cx="13525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354D"/>
          </a:solidFill>
          <a:ln xmlns:a="http://schemas.openxmlformats.org/drawingml/2006/main" w="9525">
            <a:solidFill>
              <a:srgbClr val="53667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1B7098-E27E-47DD-A96A-0BE2028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743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Finalizing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535DC1-D0EF-41A2-9F62-D6A89A88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670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提交 / 记录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878689-4996-431B-BF44-EEB95F7C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主执行路径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ADBC30-921D-4AF3-BB35-8E4C533A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4143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B2E44"/>
          </a:solidFill>
          <a:ln xmlns:a="http://schemas.openxmlformats.org/drawingml/2006/main" w="9525">
            <a:solidFill>
              <a:srgbClr val="435A7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5A6DD9-3C58-4430-94B5-8D797D62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43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0D9E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0D9E4"/>
                </a:solidFill>
                <a:latin typeface="Arial"/>
                <a:ea typeface="Arial"/>
                <a:cs typeface="Arial"/>
              </a:rPr>
              <a:t>Acting → AwaitingResult → 返回 Acting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76DF4D-C7BD-4CFF-AA05-AE53EB52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33950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3046"/>
          </a:solidFill>
          <a:ln xmlns:a="http://schemas.openxmlformats.org/drawingml/2006/main" w="9525">
            <a:solidFill>
              <a:srgbClr val="40536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49FA39-6169-4319-8336-C492FB81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2B4A7-DAE2-4F7E-8E23-01EBB2FA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101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AwaitingUser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DEC07C-71FB-4EDD-B079-58E82AE9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5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等待人类决策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35F3C2-AD71-4BE4-87C7-7EC3886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33950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3046"/>
          </a:solidFill>
          <a:ln xmlns:a="http://schemas.openxmlformats.org/drawingml/2006/main" w="9525">
            <a:solidFill>
              <a:srgbClr val="40536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41F223-C995-40D8-AF09-E95FC247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1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A9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C79979-D69F-4FDF-8BB3-E9005C9B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0101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后台任务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CB3743-3E74-4C42-80E6-7F1A017A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25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异步运行，不阻塞回合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FBC2C6-4571-42FF-B670-11583BF5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33950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3046"/>
          </a:solidFill>
          <a:ln xmlns:a="http://schemas.openxmlformats.org/drawingml/2006/main" w="9525">
            <a:solidFill>
              <a:srgbClr val="40536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315329-9ED5-4415-9C48-8BB0B6AD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99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A981A7-9897-4FE2-B2A5-8369E42C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0101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Stopped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E91956-F5D0-4095-A147-E2C7B28D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5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5D0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D0DD"/>
                </a:solidFill>
                <a:latin typeface="Arial"/>
                <a:ea typeface="Arial"/>
                <a:cs typeface="Arial"/>
              </a:rPr>
              <a:t>会话终止；结果另判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19B3F7-73F2-4B9E-A419-F6AF9E3A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5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59E"/>
                </a:solidFill>
                <a:latin typeface="Arial"/>
                <a:ea typeface="Arial"/>
                <a:cs typeface="Arial"/>
              </a:rPr>
              <a:t>终态 ≠ 成功态。成功由验收结果判断。</a:t>
            </a:r>
          </a:p>
        </p:txBody>
      </p:sp>
    </p:spTree>
    <p:extLst>
      <p:ext uri="{BB962C8B-B14F-4D97-AF65-F5344CB8AC3E}">
        <p14:creationId xmlns:p14="http://schemas.microsoft.com/office/powerpoint/2010/main" val="564862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2FF0C-32E2-4C4D-9B8D-B06F632B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02 · 业界痛点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E2CD3-365C-46FC-8520-362FA194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AI 编码的成本：重复、评审与验证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5F10C-01A7-48B3-B46F-D9D6CF5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不同研究观察不同环节，不能合并成单一因果结论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7E30F-F943-4D6B-B173-632CF1FA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E4264-C0FF-452D-A05D-5E3068DB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A8A5D-1DFA-4F45-A960-0A0F17B7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GitClear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5F28D-99A4-4547-8ACD-06DD78B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4×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A5D45-BCB1-49DE-AF15-4CB6886C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重复代码块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A23B6-A6E4-4558-977F-3A1CD378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GitClear 2020–2024 样本；不能单独归因于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12B14-6A60-4F88-83FB-D33CA130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114550"/>
            <a:ext cx="95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050FD-C2C9-4462-B005-DB6B30C6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GitClear · 趋势分析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CAD9A-E2C1-47BA-871E-82149DD7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14E02-B2A9-42AF-B49E-A8D5DB1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几乎不信任 AI 代码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3E50B-A270-4B72-A6D2-B582434B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DORA 2025 · 30% 对 AI 生成代码信任偏低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D0ABD-23B4-4CBE-93C6-55DD8341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95975" y="2114550"/>
            <a:ext cx="95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BE63A-B1BC-4F8F-9A92-3E1B9B84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38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DORA · 调查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67BAA-397F-40F0-8F7A-2D9C98F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336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+91%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794AD-33FA-4776-B19B-000C09C4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05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代码评审时间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69DA2-A1AF-4F76-995A-2C59FB1B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385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Faros 高 AI 采用团队 · PR 评审时间 +91%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55903-C0AD-4EDB-AB6A-6BF85646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2114550"/>
            <a:ext cx="95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702C2-6603-47D5-A987-9CF91160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438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Faros · 遥测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EF227-FC37-4560-923E-C5229FA7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−19%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DA60B-962A-42D9-B03A-6E6B05D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专家实测反而更慢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F9241-BC43-4506-B444-628AE084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385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METR RCT · 16 位资深开源开发者 · 早期 2025 工具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FC152-FF85-4E31-A275-792EF666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38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METR · 随机试验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DE42B-995F-4170-B32F-02ABB0AB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6C895-9145-4BCE-9EEE-EE970D78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共同的管理问题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4E3E9-5F8D-4A9C-ADDA-2C9358A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38750"/>
            <a:ext cx="833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代码更多，不等于交付更快：要同时看返工、评审负担与真实任务速度。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DAB8EB-19AE-4E85-BC5F-C75469E4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口径、样本与研究方法不同；这些结果并列呈现，不合并为单一因果结论。</a:t>
            </a:r>
          </a:p>
        </p:txBody>
      </p:sp>
    </p:spTree>
    <p:extLst>
      <p:ext uri="{BB962C8B-B14F-4D97-AF65-F5344CB8AC3E}">
        <p14:creationId xmlns:p14="http://schemas.microsoft.com/office/powerpoint/2010/main" val="1497870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7A530D-3EF2-4834-A867-BDBBDE60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03 · 先进实践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66E29-1FF8-4E8C-8BB6-51AD7A9B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成功案例的共同点：专家带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484CE-CDD0-418E-9B21-843CC162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每一个样本，都是「一个懂全系统的专家做唯一编排者」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08287-09DD-49A9-BCEE-AE01B5F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83D14-E54E-4284-9561-C1622098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66C1C-7439-48A1-885B-8F978585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openai.com/index/harness-engineering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E7C2A-9B8F-4FF3-B373-E022DF54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007AA-6F80-4D6C-9572-953B07A0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525" y="2038350"/>
            <a:ext cx="9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E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E02F9-8DDD-4DF8-85A1-1961BA16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OpenAI · Harness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85D8F-C319-4867-BE89-02A252A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3 人 · 5 个月 · ~100 万行 · 手写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6A437-D69D-407E-8045-10E067F7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AGENTS.md 指向 docs/；用 linter 固化品味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6ED6E-3AD4-4801-AEED-68AF097D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EF445-E0EF-4BE0-A3B5-783FC66B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525" y="2828925"/>
            <a:ext cx="9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6678D-E2F3-481D-8B16-A10FEFD9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Bun · Zig→Rust 整体移植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A311F-1393-4A52-BADB-0895DF8A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908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11 天 · ~6,700 commits · ~$165k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67DE4-B5FF-42CD-AAD7-79902F7F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先写 PORTING.md，再并行 ~64 个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EB3AF-ACA5-4412-9683-77A890B1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B0C8E-61F0-46AC-9252-5B16E2EC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525" y="3619500"/>
            <a:ext cx="9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613FA-42EE-4594-835E-12E0B8AB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81400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Anthropic · 代码迁移六步法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5FE1F-29AE-46E4-801F-82784CFF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先建『裁判』，再翻译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BCB9C-B46B-4DE7-BE2C-5F91E29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909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不要修代码，要修产生代码的循环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A6994-C3FA-49C9-9E4D-F9D734C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62660-CF66-4219-8F2A-FB0389C8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525" y="4410075"/>
            <a:ext cx="9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800548-EE6D-414D-A1DE-F377E817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7197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DHH · TerminalTextEffects 重写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9581C-2E98-4E78-A4A2-1BE13081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719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3h11m · 2.1 万行 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691B0-36B9-421B-A2F6-C866D95A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 个 Agent 各占一条分支，零干预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BF8BD-3831-4AA6-9A58-666E31F8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9AD0A-6B75-4992-BB73-4A9CC6DD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525" y="5200650"/>
            <a:ext cx="9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57267-F43B-4C27-B2DF-8AF31E43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62550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OpenAI · Codex CLI 原生重写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CF9703-1A58-4BF9-9D6E-5F807FBC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6255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≈ 95.7% Rust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5672D-4583-4749-A5EF-DFD97E0F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72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整框架换语言，已由 Agent 承担主体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8BD8D-1834-4BFB-A2BF-C59CE1D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2E5801-616F-4299-B82C-23E38F50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05525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复用要素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596B30-5E49-4AF5-BF8B-1D604BB3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769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共同语言  ·  结构化上下文  ·  机器裁判  ·  持续修正生成与验证循环</a:t>
            </a:r>
          </a:p>
        </p:txBody>
      </p:sp>
    </p:spTree>
    <p:extLst>
      <p:ext uri="{BB962C8B-B14F-4D97-AF65-F5344CB8AC3E}">
        <p14:creationId xmlns:p14="http://schemas.microsoft.com/office/powerpoint/2010/main" val="1229243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B5F13F-E202-4580-82B8-71B15E8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04 · 解法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453B2-A89A-4796-A4B5-C7A5A85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人与 Agent 共享一套可读写的架构语言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272F9-D64A-4037-9D38-8DD3CD3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本体给出语言，图谱给出载体 —— 这张图就是人机交流的窗口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F19BB-AA8B-4F1A-8A61-444BF7FA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79032-139C-45A9-A5F8-AE8FD2E2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EA701-6B3A-4365-AE17-A19F5807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docs/diagrams/core-model.svg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E095F-D29F-4BB0-B38A-262E228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D5114-F47B-4FF7-9CED-30EA5765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894D0-F75C-4AC4-8184-CF6AA9A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人类专家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CC8E2-5FC9-41EE-ABF8-4009A618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定义意图 · 负责编排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0BB55-F9B2-428F-9312-7F93BE45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3835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5132F-4E12-4295-B202-4A7BD768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383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589C2-85B4-4170-AFD5-053032A3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288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意图图谱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05A18-9F1C-4424-BA1C-79A0A66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共同语言 · 上下文 · 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EBCFD-186C-4D3A-8D53-78335D45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812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C2139-E51C-4087-A23D-89E430A2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81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83BE0-475F-4A49-B072-5F43AE45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Coding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4B1E3-A7E6-45A0-98E6-C9973D98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读约束 · 写实现与证据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99BB7-11BA-4EA6-9409-BE57850C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09925" y="2647950"/>
            <a:ext cx="17240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493FC-78EE-4258-B4F6-BE3B4EEE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52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写意图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51BAA-EEB3-4D3A-A873-17FCB68C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2647950"/>
            <a:ext cx="17145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CB610-ECB8-42CC-9DBF-96A538B5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52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读 / 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BD566-C074-45DD-92DA-5A80DFD9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628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82636-C245-43F2-A5CE-6AAECD5E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86225"/>
            <a:ext cx="582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Base：Acme（ArchiMate 3.2 + UML 2 状态机），项目可在其上 extends 领域本体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7766D-4CC6-4F25-B2EA-2EF75EB2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本体 = 共同语言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EC98F-144C-45FF-9766-FEB12E64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元素 / 关系类型即词汇与语法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79CE7-721F-4DB9-A5DA-D9AD8EE9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00400" y="5238750"/>
            <a:ext cx="9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27855-6F83-4EB2-AD02-09D06EBA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57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图谱 = 承载方式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F4AA1-CC68-45C7-9BCD-7E9398BE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34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业务·架构·指标·状态机同图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37C39-ECEB-40D9-9C33-AD2C1147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62650" y="5238750"/>
            <a:ext cx="9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DDC68-7632-4C57-812A-29C3E295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57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窗口 = 双向读写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03A632-FA14-46A0-9FF6-686E0D1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34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人写意图，Agent 写实现 + 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9F9B86-417F-45FE-8AEE-D4EDE105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24900" y="5238750"/>
            <a:ext cx="9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1C8F9F-BF82-4559-A3AC-D593FBE6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单项目 → 组织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59A2F1-D74C-4A95-83A5-E85EBF1B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34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跨项目引用，组成联邦知识图谱</a:t>
            </a:r>
          </a:p>
        </p:txBody>
      </p:sp>
    </p:spTree>
    <p:extLst>
      <p:ext uri="{BB962C8B-B14F-4D97-AF65-F5344CB8AC3E}">
        <p14:creationId xmlns:p14="http://schemas.microsoft.com/office/powerpoint/2010/main" val="1069906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C8517B-3D1A-4261-B213-B536A3B3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05 · 指标体系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B0A87-D626-48FE-9B48-F277D213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20 个指标已建模，4 项已定量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2B98F-240C-4571-AF75-718EB839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定量项都落在框架真正提供能力的环节；整体任务层仍是空白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7BE97-8274-4C32-B5F2-9CE959C6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DBD0E-037C-452C-9B7C-3C06185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FD995-406D-4FF7-9AA8-F775834F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aos-as-* measurement-status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EC6AE-5A3E-4452-900E-539B84E5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7167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E09F9-24DF-41A1-9177-9C51C18E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项指标已建模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DD805-18E7-4656-AE57-D480451E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1533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8B230-5B1D-491B-91AE-691A85E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86075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已定量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F31B0-160F-4393-875C-20901788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F6C08-6614-4759-B5D0-C82C9D0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86075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部分测量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C88B9-0B3A-4180-B4BB-6CA03141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43150"/>
            <a:ext cx="426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C5F0E-7C05-449F-98CC-A882D1AC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86075"/>
            <a:ext cx="424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未测量 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4D368-6CD3-4F0F-A3E1-D34BEEF0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EC2F1-723B-428B-845D-142958E3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14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① Idle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1FD0E-B60D-4462-82D8-39F6F127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7147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空闲时长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E2F24-9AF3-48F5-8544-EF4320E2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2790B-6305-49CC-92CE-4749990C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71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② Running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8F29D-03E8-4B8F-8715-57644CFA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1719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任务完成成功率 / 端到端时延 / 成本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86FAA-A27B-44D4-86F1-17636CB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79B9F-C3C5-4CAB-9FEF-62873608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291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③ Reasoning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2BB32-6439-47EE-A03A-95053FBC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291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计划正确率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261C8-DB52-4FAC-915F-B9CC2579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D7787-D154-40C4-8324-C39140B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863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④ Retrieving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65691-C562-46C1-8D29-2026D47B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863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检索召回与排序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F694DA-37DD-4FA7-8C54-41480CE1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D0FD4-5A1B-46C5-9267-8D65C079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5435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⑤ Acting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2EA57-639E-48D5-8766-37A10C6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435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工具成功率与轮次 / 去重 P/R 与无损率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3F2849-5E04-402A-B2CB-1B904EE3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A7B19-45B5-4E79-9974-0F7ABE27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14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⑥ Verifying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9CD6AF-0072-4678-B514-F677609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147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验收通过率与回归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80E3EF-407A-444E-9FC3-F6050AE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3530DF-F879-4527-B542-972FABA0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71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⑦ Finalizing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68017A-1C00-46F7-AE1E-9676F9FE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719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登记完整率 / 记忆准确率与拒答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30889B-6485-4B37-B5F8-E0747B20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3B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6EAC1F-AAE8-49CF-87C2-97F0091B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6291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⑧⑨ 等待态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4E8140-767A-4E32-BCFC-9BE715CD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291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等待 / 唤醒时延 / 请示频率与回环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661D59-94AA-4669-A83B-FE75E670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3B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4668FC-8A13-408B-AE9F-C9018D23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863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⑩⑪ 正交 / 终态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0FE98A-1FDA-465A-824B-09D79360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0863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（观测点）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36270F-A697-43DD-9B8D-76D109CA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02ECF6-51B3-4561-B540-464BC2E4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P0 下一步：SWE-bench Verified / Terminal-Bench，同仓同模型『挂 vs 不挂』制度对照。</a:t>
            </a:r>
          </a:p>
        </p:txBody>
      </p:sp>
    </p:spTree>
    <p:extLst>
      <p:ext uri="{BB962C8B-B14F-4D97-AF65-F5344CB8AC3E}">
        <p14:creationId xmlns:p14="http://schemas.microsoft.com/office/powerpoint/2010/main" val="1556259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6590B1-F32F-4925-9CCF-6BADBA2C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06 · 检索流程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A4805-BD40-487D-80FF-28738D0E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 RAG 检索与迭代流程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8B9EC-E56C-46AE-9EA6-950B5C15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这是支撑 Agent 检索与知识维护的基础流程，不是完整的 Coding Agent 回合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0A3CF-94EB-4702-9D11-6D0DAF3D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2CEEC-5FAD-450D-9CAF-E20F214A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FDF10-DAF2-43F2-8DDD-5EE4CB7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视图 298 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72EC2-5110-452B-9C4D-46E575F9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写入治理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2312A-7E4D-4A25-8E15-58261F4B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" y="2247900"/>
            <a:ext cx="10934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44978-6BC4-4C94-B272-C758598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622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21F68-35DB-4724-9C84-D9DA11F1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533650"/>
            <a:ext cx="220741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数据接入与治理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425FA-E774-405C-9D08-76E10147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00350"/>
            <a:ext cx="2207419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来源 / 权限 / 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9994D-5FBD-41E1-93F9-1ABB06A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2444" y="2695575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4B03A-5A09-4560-A1ED-CCD6FC5B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069" y="25431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0A2B2-DA62-4BB2-8AFE-A2142F55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994" y="23622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DB838-3644-4F15-90FB-A04188EC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994" y="2533650"/>
            <a:ext cx="220741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解析与切块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E7976-AF87-4403-BB90-11CCB6E6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994" y="2800350"/>
            <a:ext cx="2207419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chunk / summary 粒度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9B9C8-1215-45D1-AC29-043CA71A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9413" y="2695575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A9B52-654E-4A3C-9AA8-AD1A687C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8" y="25431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E90D6-5C39-4B57-AD8B-3F75D332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3622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0D1F7-2E8E-46E9-9843-2944BBFE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533650"/>
            <a:ext cx="220741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嵌入与索引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D05C1-F6A7-4017-B921-972B7B34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800350"/>
            <a:ext cx="2207419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向量 + 关键词 + 双投影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8A7D4-D358-4793-9F6F-86B42DB0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6381" y="2695575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4FB1F-5809-4D06-A595-9E3AF5D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006" y="25431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9C1DF-8306-45EB-A93D-529EE173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931" y="23622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58ED74-1EDF-4917-B1A2-5B5080BA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931" y="2533650"/>
            <a:ext cx="220741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图构建与对齐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05C8F-8909-41C9-93FA-5F9B53B5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931" y="2800350"/>
            <a:ext cx="2207419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实体关系 + 本体对齐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EF9F9-FD34-42EB-BDC4-3021CCC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检索与融合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75F5E2-3784-4528-83D3-EE3BBE5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" y="3581400"/>
            <a:ext cx="10934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71B222-50D8-43BE-B1E8-1DA4D09B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695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L5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9CA1D3-8B89-4450-96F6-B790810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867150"/>
            <a:ext cx="46243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召回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29532-6A2E-4656-AA4F-604E6287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133850"/>
            <a:ext cx="46243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向量 / BM25 / 图遍历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98780A-D2B5-4263-9885-7E2E41D9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9413" y="4029075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0E56A1-0122-467E-9D0A-8491C32B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8" y="38766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C6019C-6B66-451F-A18C-A647D72B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3695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L6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1802BF-A6FC-421A-82AF-A107D928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3867150"/>
            <a:ext cx="46243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融合与重排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093AE2-7796-49C1-B97D-57DDE330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133850"/>
            <a:ext cx="46243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RRF + 交叉 / LLM 重排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4D3C03-6923-4628-9126-3E9A438D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生成与闭环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21338C-FE0F-476E-84D3-4C8D5320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" y="4724400"/>
            <a:ext cx="10934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93E818-78D3-407E-85A4-900D403D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8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L7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B8B666-22E8-4067-8B0F-2123510E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010150"/>
            <a:ext cx="46243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生成与 grounding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1758C3-2352-44DF-9B20-55AEAC6D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276850"/>
            <a:ext cx="46243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引用可追溯 + 拒答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513954-4ED2-4439-A92E-9EB64ED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9413" y="5172075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5D3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51E29E-0670-4B19-8FDF-D2325101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8" y="50196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D17364-9CCC-452D-91D4-E17B32B5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838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L8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782784-9C41-458F-8473-E50046C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5010150"/>
            <a:ext cx="46243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评估与迭代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4304FD-34E5-4C58-9792-905BE96B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5276850"/>
            <a:ext cx="46243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反馈 → 索引 / 权重 / 提示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AAA3E3-4CFD-414A-BD4F-217102F2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109347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644F56-8605-4287-A7E4-9AA9806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Graph RAG 是 Agent 的检索与知识维护支撑层，不代表完整 Coding Agent 执行回合。</a:t>
            </a:r>
          </a:p>
        </p:txBody>
      </p:sp>
    </p:spTree>
    <p:extLst>
      <p:ext uri="{BB962C8B-B14F-4D97-AF65-F5344CB8AC3E}">
        <p14:creationId xmlns:p14="http://schemas.microsoft.com/office/powerpoint/2010/main" val="819935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BA4626-FB81-44FB-A9DC-2554F613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07 · 我方能力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8D993-3B14-441B-B640-C8CFB1AF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 MCP：图谱读写与评测入口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414F1-1F59-4EB1-A744-9FA0FF3D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已覆盖读、写和授权跨项目引用；Coding 闭环制度对照仍待补齐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5E552-ACAB-4643-8E78-F322428C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F9E06-7B15-461F-AE68-3A91D23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9A203-C15E-483F-9B23-8216EC24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scripts/eval-retrieval.js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9FE23-A3BF-4B6C-8031-4C62E48E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145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读取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EB40D-6E36-4443-A90D-4BCE226D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" y="2400300"/>
            <a:ext cx="3238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2B66D-5853-4871-BAA1-372EA2EA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79087-08D9-405A-8EA5-12BFACB1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读 · 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73597-738A-45D7-8303-360B776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300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getSystemArchitecture · memory_search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66CBC-A23B-41FB-95A4-12999BC2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D4C72-AEE6-49C7-A277-F284F91B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读 · 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4A1ED-E964-438C-A944-3DE3F505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00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getIntentElementContext · getArchitectureViewContext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0A5F8-3CA5-4612-8A84-9D4DEEE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05DC8-6AC8-41D0-A900-401D8F06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读 · 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DCA62-8479-4852-A268-73936567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00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queryNeo4jGraph（只读 Cypher）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D3C77-ED77-4074-8371-D3CFBC8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写入与门禁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E786F-1BEF-444C-8416-862493D1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33875" y="2400300"/>
            <a:ext cx="3238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B956A-89EA-4193-9E37-5E734D91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AADDD-D28A-44B6-901C-93C461D0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431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写 · 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983F0-F716-41B8-9FAD-4ED90BA5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33675"/>
            <a:ext cx="300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add / update / remove（Element / Relationship / View）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BAD29-7F87-4369-9601-69777BAD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2E053-0618-43D3-8259-FC721BB3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写 · 批次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3BAEB-6478-4153-8E52-535ACBA8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300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preview / applySystemArchitectureMutation · initializeWorkspace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54C34-571F-4092-B8F7-4A9F4D9C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6F35F-681D-4F34-9C98-20C8D26D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623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写 · 门禁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83EE6-3529-42AD-87AE-D7567CB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52825"/>
            <a:ext cx="300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校验 → 去重（L0 / L1）→ 无损（merge / 墓碑）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4E471C-2B0C-432F-B3E6-FD6BDF94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145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跨项目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35BD7B-8134-4C21-AC84-2EE0167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29575" y="2400300"/>
            <a:ext cx="3238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276D4-5089-45F2-A923-D7E927E0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1C36A8-C0DC-4AAE-8D4A-23C2B9D7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跨项目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640404-C6BB-46BE-9A4E-A812611A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300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 个读工具带 projectId → 联邦引用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99CAC4-F5EE-4D78-A2E9-55335EFC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19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 个读工具携带 projectId，跨项目读取按联邦授权执行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AB5492-8B5E-4711-8025-446EA82C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" y="3886200"/>
            <a:ext cx="10934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871CF1-0D08-4AAD-9A11-9B8B3992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94.6 → 98.7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DCB265-F9A7-4643-93E4-C5FC9F88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005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 r@1（向量 → 重排）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BC02E4-61DB-444A-A16E-20B9B84E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386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r@5 99.4 · MRR 0.997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DF4555-4C49-4D91-89A7-44385022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19450" y="4010025"/>
            <a:ext cx="95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1A9F92-1597-4DA0-88BB-2E84E728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9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2.0–2.5s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DA46AF-B2B1-4E3F-8FC3-BCE4F456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005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读路径时延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3D870B-9975-41BA-978E-85362328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386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写 ~1.1s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C66ACA-0C41-4D14-B658-3D05AAD5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34075" y="4010025"/>
            <a:ext cx="95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C9B963-39B1-4194-832A-F25425A3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19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5.7ms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23D5F9-E6DC-4C1F-97AD-E33C182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005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记忆检索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A9F2D4-42A5-427D-A65A-81C8016D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6386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压缩 97% · 4890 token / 查询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229CEA-05F1-42ED-A5B4-4026D05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4010025"/>
            <a:ext cx="95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08C5CE-7A18-4407-9E13-E8A5D27A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19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−43% / −39%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0E8D01-556A-4F9D-9D02-965FEE88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10 题试跑 · 工具调用 / 轮次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120112-A078-44C1-A80C-64496958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386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963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 组 10/10；token −18%、工具 −43%、轮次 −39%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C4B72D-5CEF-4310-85D9-AA77F3BA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9347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8ECE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BF9782-3E56-4D74-8BB1-57331992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试跑边界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6286CB-59AF-4A1F-8851-86464DC8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286375"/>
            <a:ext cx="9496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OFF 组 grep 失败并触发慢速回退，成本基线受污染；本轮差值仅作试跑观察，不据此声称普遍降本。</a:t>
            </a:r>
          </a:p>
        </p:txBody>
      </p:sp>
    </p:spTree>
    <p:extLst>
      <p:ext uri="{BB962C8B-B14F-4D97-AF65-F5344CB8AC3E}">
        <p14:creationId xmlns:p14="http://schemas.microsoft.com/office/powerpoint/2010/main" val="732792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B24800-2A46-45EE-9EDE-34B1C5C7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08 · 组织级知识图谱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05D48-4FB7-4B6A-BE66-B21D6022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以项目为积木，联邦式组合出组织级知识图谱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BDD2B-72C3-4C7B-9651-12164BED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项目自治（主权图为唯一事实源），成员之间『引用而非拷贝』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39FD1-CD27-4377-833B-BF746E00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5847D-7058-4257-9EA1-5006D3C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E5E8D-4F33-43B4-A5B6-D418985F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design-federated-intent-graph-001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4E8DD-CCFE-434E-B8E6-B8FCFD3C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571750" y="2524125"/>
            <a:ext cx="354330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E22A8-614F-484D-A3BC-BB78D7E9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9E839-ADE8-4B13-87E2-11D4354A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860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6B689-036B-457D-BC7A-3960B20B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622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archgraph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DE0D4-F22E-4E71-8711-CF8EEE8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43450" y="2162175"/>
            <a:ext cx="137160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0263C-C7DC-44E7-A797-3F93EAD4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A5A2B-4DEB-42D6-96D4-525A725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2405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3E8E8-B3D6-4272-9765-0C0C83CC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graph-wiki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81E4C-99FE-4AC1-AC53-FE6805BD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15050" y="2162175"/>
            <a:ext cx="270510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C1FAC-0114-41CE-B69D-475D4C1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D4813-20AC-4551-9C4B-0A323C9D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2405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A58CF-9456-4C76-B1ED-EC631041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abot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7598F-DBC5-4A6E-9BA3-039CFC0D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15050" y="2667000"/>
            <a:ext cx="479107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1FDFC-4FCF-4657-B997-9F7A45CC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5C3A2-5ACC-4FCE-84A5-2FA66377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28875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FD476-A1A6-4BBF-BF7F-B97D1667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050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my-army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835CC-97D5-4E55-80E4-68F5D6D8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3619500"/>
            <a:ext cx="428625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FBFEB-E0B2-42B7-943C-9332312A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06729-D5C9-4C69-9E4D-1D887A9B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714875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61B817-0167-4B8F-B430-26CA431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HarmonyOS-Dev-Standards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8DD18-2CC8-4A8B-A187-8CB19857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52850" y="3619500"/>
            <a:ext cx="236220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92B2C4-D813-41FB-A784-CC00FF56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2D9C0-9C36-4BFE-B6DA-02F41EE9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810125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335310-0724-424C-89E3-C665F8E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8632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SOC-DEMO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268285-BBDE-42D3-B845-670A353B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95625"/>
            <a:ext cx="1428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BA1235-CC3E-4502-8F52-8581FB4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09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联邦中心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6CAD0-FB04-4C6D-951B-B0C46A96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717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发现能力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93B8F0-D084-49FA-8AA4-112F17E3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434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授权后按引用读取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A3AD54-4CA5-4D87-B96D-A48CA9A9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" y="5429250"/>
            <a:ext cx="285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B74CBF-01D5-468E-BB70-238F39E8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284869-292B-4E4B-BA80-4C1B74A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53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已注册成员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88997D-7C66-4150-A0CE-1ACCFB28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9125" y="5429250"/>
            <a:ext cx="285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AE65B0-A18D-436D-809C-EC1A5DD7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054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927872-F761-413C-A42E-5E5DE581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53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已授权关系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0219FC-C9E1-46F4-974E-F44F1DB1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375" y="5429250"/>
            <a:ext cx="285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A7D7B3-DB93-431E-B231-9B05A1DC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5054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4924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soc-demo 实读 386 元素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EC6B77-583D-47F9-9526-D76B0BB5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53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跨项目读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B9A9DF-B5CE-44A2-8664-35DB6CC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11505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默认拒绝 · 经授权引用 · 不合并主权图</a:t>
            </a:r>
          </a:p>
        </p:txBody>
      </p:sp>
    </p:spTree>
    <p:extLst>
      <p:ext uri="{BB962C8B-B14F-4D97-AF65-F5344CB8AC3E}">
        <p14:creationId xmlns:p14="http://schemas.microsoft.com/office/powerpoint/2010/main" val="1630183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0A36B2B-F642-48AD-A94A-5AA87E41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附录 A · 指标明细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D97B3-8D8F-44D4-BD1B-CE87201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附录：20 个指标 —— 映射 · 我方评测 · 业界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C63D4-EA1E-4C17-9FFB-928D427E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数据源：意图图谱 aos-as-* 的 measurement-status / measurement-result 属性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F937C-5190-40AB-B215-FE51717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7F664-A6AB-4713-8F1F-3705E35D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C81B9-A554-4204-93A4-F6BBE70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aos-as-* measurement-* 属性即本页数据源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5AD2C-BBB5-4B86-A11F-0AECB367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5286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A934F-4623-4B6D-8C3F-4207D900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2257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  指标 / 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25A79-C867-416B-A947-4E7401FF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1452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当前结果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16838-BF8F-44B4-AA3A-CDC9F745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19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BC084-3C91-4F2D-96F3-7F86C12D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04461-D38F-4758-83AA-0A67D63C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28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空闲时长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26A88-1AB8-405B-A8EA-621A5F57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09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4CCD2-0075-4090-B2E0-949A305D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尚未采集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33703-DD1D-4A0C-96C2-B128CC91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590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F116D-7BB5-481D-A109-5AF06ADC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19F98-95B1-46CA-8067-12A380AC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9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请示频率与回环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962D2-FCB0-4E67-81F2-DB36482F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6D2CB-FB50-47F2-900A-9F200CE5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38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尚未采集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0F8F0-25CC-4AF4-8492-E847833E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971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F9C15-3E72-4210-88CF-E4AA2024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81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51224-19EA-4B22-9EF2-89AA5AE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2E430-DA49-45A7-9F79-449B3C9E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90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计划正确率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1ADED-C6CB-4D4E-851F-5105C6CC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71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9FF37-8F4B-4EFE-BED1-A42AB531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19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navigation 20/20（代理）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F45C4-3DFD-4446-83EE-F75C11F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352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48A6DA-6232-4107-BBEF-171D3573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49C44-84BC-4AF3-99D9-D3E77839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71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检索召回与排序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1688A1-BB28-434B-BD69-4840B22B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52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56BE38-64D8-421A-B27F-AFD4D6EC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00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r@1 94.6→98.7 · MRR 0.997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87F4DA-7D25-49CA-8FEE-C017C6E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733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84263-998A-491D-B4CA-9BC4B4BC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B34D9F-E67A-4CDE-99E2-A7090CAC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AE10C-44CD-4D3F-889C-20B6C1D6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52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工具成功率与轮次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AD6900-13E1-4A6B-BAB8-3E433052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33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FC6D8F-90C9-464A-A4AA-976E3ED4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81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成功率 100% · 轮次 −39%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B5B39C-90BD-41EE-B567-A503ACCA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114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BF938F-2E1E-417B-B1D2-0EDFE95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B4F6F-4640-49C5-ABC2-F2742557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33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去重 P/R 与无损率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DD7C5D-14F4-4562-B338-23FE4648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14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0EE847-D101-4EE6-A598-252E62F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L1 阈值 0.85（假阳性 0.85–0.89）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84112F-1E15-4241-8FB4-0E02F945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495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0896D5-D994-4807-8BB6-CCBDF367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05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C8BE1F-F126-492F-895F-51CF65E3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DFD42A-1525-4A9B-A201-71518F55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14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验收通过率与回归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F8C2B9-7AAA-4DBE-ADB4-7862DEC5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95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AE2F21-A0AD-452B-9120-89E39F59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43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AT 12/12 · 回归 38/38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1DFB10-8E93-4199-AC75-39374573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876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56DE94-80CE-4E17-BC90-9DD7727E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519D85-039A-499C-9638-01590210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95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等待 / 唤醒时延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2D0DD5-9C94-46B7-82A7-ABDFA3B9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076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A96348-7A4D-4A77-890C-7FAB5342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24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读 2.0–2.5s · 写 1.1s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82E461-F85F-4EE0-9A90-93941CB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257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D80145-6219-48B2-8C90-2CE369D6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67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EDB6F2-9AC7-460F-8E5C-0A11771A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EB163B-E601-4CD4-8DF8-0C0A1D7A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76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提交登记完整率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3CC2DE-D0AD-4988-873D-B918A16F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457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E50BAA-DB35-4384-A1DB-FDBEA4EF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05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无统计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F325FA-7E08-449A-9E09-18CE448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638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35C530-5038-44F3-904A-93CB0036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5A3C9E-477B-410D-81E5-3C9C60DE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57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记忆准确率与拒答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7EBC7D-01AB-44B8-BE36-DA4C5CB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38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71C9CF-BCE3-4A8D-8DC5-0D82BF0A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86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100%(31/31) · 拒答 100%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BA2E7B-897D-4202-9E54-051323EA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6019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5F84DB-E707-4ABC-9C16-DC9F91EC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286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49DB0D6-3B6A-4379-9631-3BD8C46C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14525"/>
            <a:ext cx="2257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  指标 / 状态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237961-2672-4DBD-B368-D0061121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1452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当前结果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CDBBFB-1A2A-4B4D-A239-C82DF030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FEA9D4-0B51-4578-90E2-F9DC5E93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D8D125-77A6-4CD3-8C8B-F2FA53B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28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任务完成成功率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E16B7C-E8E3-4C93-B067-36A88E7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9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1B186F-EB9A-4B44-9DD7-8C70340D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57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小样本 31/31 · 20/20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3911E7-83D5-4014-9A7C-B7D6F4D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2590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B29406-E91E-4ECC-AE0D-75E59EE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2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BE5087-553B-4DD4-94B2-9A1F89D2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端到端时延 / 成本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C50726-39F9-415D-BA18-232EC3E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90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718AEF1-423F-41C7-9690-EF1AEF27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38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读 2.0–2.5s · 4890 token/查询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66DF7CF-32BE-4D76-A56F-53FDD509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2971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CEDD9B-630E-4773-816C-E4EE2F5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81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BBFCA8C-6754-4866-AB15-6C3F715A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8172A1-D507-4DAD-8DBF-B417BA35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Resolved%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BFB82A8-9468-48DF-8CB9-C2A58E7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71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B9626E6-F245-4B19-BCED-BC880A62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19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9B954D-BF58-4F58-B861-73AF157E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3352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56AC5B-C0DD-43C8-9389-E77D25E3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90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BA3C7F-BD58-4F11-B0D7-7BC37153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71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Verified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874CC9F-6B01-44F8-8A5C-7184D5D9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52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108B19-EF55-4774-9C64-EEAFF57C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00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F2C2AF-BA53-46F5-8723-59F91C69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3733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CDC2AF-45AA-46F5-B70B-9BEDCFC0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BC7971-0D52-4110-9BB8-31806056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71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4BEA60C-8D0F-4195-8030-BF00C1DC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Terminal-Bench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87B8BA-EDD6-487E-810C-4C675546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33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F82B6B3-29A4-48F9-9DCD-7A29EC4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81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17CB1FE-40E4-4BEA-9DAC-ECDF384F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4114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CFCBEA-8436-4DEF-94FC-9B9B0DDA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52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8EC9A15-6FCA-4BB4-9E9E-D5DACDA1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HumanEval / MBPP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85FFC34-B5D6-41E7-A0E6-BEA83AEA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14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0537176-0C05-4DFD-BD01-4307D4A4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162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A5FC68F-C52F-4E1B-B29C-F78F4CCA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4495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67D558-0681-4D9B-976E-68CFC460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05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C28C12B-4BEB-494D-9F38-6EEB7776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33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2FC28EE-832B-4AF0-B6DC-ABCBB4D9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14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LiveCodeBench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58765FE-629D-4A0B-B88A-D5CA45A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95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5290E3F-8F05-4776-A495-D714D61E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43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1C1E3DE-01BA-436C-8F57-6DD9F896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4876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5A1E23A-D489-4917-B9E8-A92E19F7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14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436A283-ECF4-4FE8-AAA4-710EC049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95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GAIA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83E4B5F-6C76-4265-9308-49745F0F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76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BDFA96A-69A2-48A5-9023-C63DC7E9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2F0470E-CB75-4874-A2DD-9B3FC02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5257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EB0C207-DA42-4C72-870F-C5DA681C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67325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9C18A5F-1BD2-42A2-AA3B-AF642C9A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295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2DAC05A-0FF1-41CD-A683-B40A28C6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76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τ-bench pass^k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A02A8A2-63A2-4E80-A851-ADB24ACB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57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BC00286-4E73-46C9-9DD2-521FB76E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305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6E6EFF9-2DD1-42A7-B428-CB4AA13E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5638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F19E73A-DEA7-49AD-A875-E537469F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676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9B29985-CAE2-4ED8-8B13-70C16C0A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57850"/>
            <a:ext cx="193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AgentBench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74D57C7-110E-412E-A764-3B5DA090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388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16BA336-4620-4C28-947F-9690320A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6864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DE4053F-2F1B-4BD2-967E-1FC0B788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6019800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7A8982E-B22A-4A2A-A5F9-03B5501F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103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完整 benchmark 与下一步动作见意图图谱 aos-as-*；公开区间只作口径参考。</a:t>
            </a:r>
          </a:p>
        </p:txBody>
      </p:sp>
    </p:spTree>
    <p:extLst>
      <p:ext uri="{BB962C8B-B14F-4D97-AF65-F5344CB8AC3E}">
        <p14:creationId xmlns:p14="http://schemas.microsoft.com/office/powerpoint/2010/main" val="771458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2026-10-07T06:05:56.9780000Z</dcterms:created>
  <dcterms:modified xsi:type="dcterms:W3CDTF">2026-10-07T06:05:56.9780000Z</dcterms:modified>
</coreProperties>
</file>