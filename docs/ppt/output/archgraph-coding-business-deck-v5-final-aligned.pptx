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1eeb3bac754ba6" /><Relationship Type="http://schemas.openxmlformats.org/officeDocument/2006/relationships/extended-properties" Target="/docProps/app.xml" Id="Rae88c743958b4d58" /><Relationship Type="http://schemas.openxmlformats.org/officeDocument/2006/relationships/officeDocument" Target="/ppt/presentation.xml" Id="Rfe2f3ef9952847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6f925a31b24fbd"/>
  </p:sldMasterIdLst>
  <p:notesMasterIdLst>
    <p:notesMasterId xmlns:r="http://schemas.openxmlformats.org/officeDocument/2006/relationships" r:id="R72d018efddbc4d4e"/>
  </p:notesMasterIdLst>
  <p:sldIdLst>
    <p:sldId xmlns:r="http://schemas.openxmlformats.org/officeDocument/2006/relationships" id="256" r:id="Rc28565b034c04cfa"/>
    <p:sldId xmlns:r="http://schemas.openxmlformats.org/officeDocument/2006/relationships" id="257" r:id="R0054a53a24f74cea"/>
    <p:sldId xmlns:r="http://schemas.openxmlformats.org/officeDocument/2006/relationships" id="258" r:id="R050331bd1b104821"/>
    <p:sldId xmlns:r="http://schemas.openxmlformats.org/officeDocument/2006/relationships" id="259" r:id="Rfe8457aecf1a4687"/>
    <p:sldId xmlns:r="http://schemas.openxmlformats.org/officeDocument/2006/relationships" id="260" r:id="Rb7aa9d0b230c472f"/>
    <p:sldId xmlns:r="http://schemas.openxmlformats.org/officeDocument/2006/relationships" id="261" r:id="R8b48fe97e82b4046"/>
    <p:sldId xmlns:r="http://schemas.openxmlformats.org/officeDocument/2006/relationships" id="262" r:id="Rfd8265d4cf3d43ff"/>
    <p:sldId xmlns:r="http://schemas.openxmlformats.org/officeDocument/2006/relationships" id="263" r:id="Rb078825f4b7c4488"/>
    <p:sldId xmlns:r="http://schemas.openxmlformats.org/officeDocument/2006/relationships" id="264" r:id="R97ca62703b554d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177c9a3dce4ac4" /><Relationship Type="http://schemas.openxmlformats.org/officeDocument/2006/relationships/slideMaster" Target="/ppt/slideMasters/slideMaster1.xml" Id="R096f925a31b24fbd" /><Relationship Type="http://schemas.openxmlformats.org/officeDocument/2006/relationships/notesMaster" Target="/ppt/notesMasters/notesMaster1.xml" Id="R72d018efddbc4d4e" /><Relationship Type="http://schemas.openxmlformats.org/officeDocument/2006/relationships/presProps" Target="/ppt/presProps.xml" Id="R49401922a81741b7" /><Relationship Type="http://schemas.openxmlformats.org/officeDocument/2006/relationships/tableStyles" Target="/ppt/tableStyles.xml" Id="R34efc1c5e4a84e03" /><Relationship Type="http://schemas.openxmlformats.org/officeDocument/2006/relationships/slide" Target="/ppt/slides/slide1.xml" Id="Rc28565b034c04cfa" /><Relationship Type="http://schemas.openxmlformats.org/officeDocument/2006/relationships/slide" Target="/ppt/slides/slide2.xml" Id="R0054a53a24f74cea" /><Relationship Type="http://schemas.openxmlformats.org/officeDocument/2006/relationships/slide" Target="/ppt/slides/slide3.xml" Id="R050331bd1b104821" /><Relationship Type="http://schemas.openxmlformats.org/officeDocument/2006/relationships/slide" Target="/ppt/slides/slide4.xml" Id="Rfe8457aecf1a4687" /><Relationship Type="http://schemas.openxmlformats.org/officeDocument/2006/relationships/slide" Target="/ppt/slides/slide5.xml" Id="Rb7aa9d0b230c472f" /><Relationship Type="http://schemas.openxmlformats.org/officeDocument/2006/relationships/slide" Target="/ppt/slides/slide6.xml" Id="R8b48fe97e82b4046" /><Relationship Type="http://schemas.openxmlformats.org/officeDocument/2006/relationships/slide" Target="/ppt/slides/slide7.xml" Id="Rfd8265d4cf3d43ff" /><Relationship Type="http://schemas.openxmlformats.org/officeDocument/2006/relationships/slide" Target="/ppt/slides/slide8.xml" Id="Rb078825f4b7c4488" /><Relationship Type="http://schemas.openxmlformats.org/officeDocument/2006/relationships/slide" Target="/ppt/slides/slide9.xml" Id="R97ca62703b554d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29e5a41ea44e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698aebb38c4673" /><Relationship Type="http://schemas.openxmlformats.org/officeDocument/2006/relationships/notesMaster" Target="/ppt/notesMasters/notesMaster1.xml" Id="R13e4ee88500346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4c49fe413a4ab0" /><Relationship Type="http://schemas.openxmlformats.org/officeDocument/2006/relationships/notesMaster" Target="/ppt/notesMasters/notesMaster1.xml" Id="Rd0982b63fd8a4d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a7f649cdb84721" /><Relationship Type="http://schemas.openxmlformats.org/officeDocument/2006/relationships/notesMaster" Target="/ppt/notesMasters/notesMaster1.xml" Id="R252b0f01269a47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1c46082b5144ce" /><Relationship Type="http://schemas.openxmlformats.org/officeDocument/2006/relationships/notesMaster" Target="/ppt/notesMasters/notesMaster1.xml" Id="Rd140d66d953247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605bf01f1e4d59" /><Relationship Type="http://schemas.openxmlformats.org/officeDocument/2006/relationships/notesMaster" Target="/ppt/notesMasters/notesMaster1.xml" Id="R8e2cf286690b40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b500b4f5814022" /><Relationship Type="http://schemas.openxmlformats.org/officeDocument/2006/relationships/notesMaster" Target="/ppt/notesMasters/notesMaster1.xml" Id="R96de2321132e48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326f0084854723" /><Relationship Type="http://schemas.openxmlformats.org/officeDocument/2006/relationships/notesMaster" Target="/ppt/notesMasters/notesMaster1.xml" Id="R6f4508abe8704e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183bfb8c4a492b" /><Relationship Type="http://schemas.openxmlformats.org/officeDocument/2006/relationships/notesMaster" Target="/ppt/notesMasters/notesMaster1.xml" Id="R720bd0eaa70149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53a835244b45c1" /><Relationship Type="http://schemas.openxmlformats.org/officeDocument/2006/relationships/notesMaster" Target="/ppt/notesMasters/notesMaster1.xml" Id="Ra168f0ffdea04a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Layer 描述跨行业的业务价值活动：明确目标与验收 → 理解与规划 → 获取所需上下文 → 执行与迭代 → 验证与人类校准 → 交付与沉淀。此层不指定文件搜索、RAG 或 Graph RAG 等实现。等待工具/用户、异步任务与停止均是会话执行状态，不等同业务成功。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 Application Layer 通用架构，前页是 Business Layer 业务活动；垂直映射表示多个应用组件协同支撑一个业务阶段，不是一对一产品部署图。Harness 编排会话、权限、隔离、工具与反馈。上下文访问可按任务选择普通检索（代码搜索/文件/全文）、传统 RAG（切块/向量或词法召回/重排），或 Graph RAG（实体关系/图遍历/子图上下文）。三者是可组合或替代的应用层实现选项；通用 Harness 不必自带 RAG。裁判包括测试、评审与任务指标。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业务层构建点：Schema/本体把领域词汇和关系显式化；意图图谱沉淀需求、决策、架构、状态、指标、验收与证据；业务阶段、应用能力和Assessment指标可建立关系。应用层构建点：Graph MCP 提供语义/结构/上下文访问与受护栏写入；去重、无损、墓碑、验收测试与commit/path溯源形成知识治理；联邦中心支持发现、授权、按引用跨图读取。普通 Coding Agent 可以不使用 Graph RAG，Graph 是按需能力与治理方案，不是业务流程的替代品。质量维度 coverage/structure/provenance/freshness/redundancy 是拟议评测剖面，并非均已测。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指标不是只属于一个层级：业务层定义结果与阶段，应用层提供具体观测点。表中每行将Business Layer环节映射到Application Layer能力，再列相应Assessment指标及当前测量状态。部分映射可能横跨多个阶段；完整20项见附录。当前状态 measured 4 / partial 5 / not_measured 11。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通用 Graph RAG 写入/索引与查询流程示意，节点与 Triggering 关系对应 ARGO 视图 generic-graph-rag-end-to-end-001。具体框架可能不使用图社区、LLM 抽取或混合召回，流程不是某产品实现规格。业界参考：Microsoft GraphRAG indexing dataflow https://github.com/microsoft/graphrag/blob/main/docs/index/default_dataflow.md ; query overview https://microsoft.github.io/graphrag/query/overview/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按应用能力呈现测评：Context Access 检索R@1 94.6→98.7（同项目向量基线到重排）；MCP/工具成功率10/10来自自建小样本；记忆题集31/31，拒答正确率100%；读路径2.0–2.5s、写约1.1s。10题A/B差值工具−43%、轮次−39%、token−18%受OFF组grep失败与慢速回退污染，仅方向性观察。不能由局部检索提升推导总体Coding成功率提升；8项整体基准未运行。下一步同模型/任务/Harness做挂载Graph与不挂载的对照，并追踪知识覆盖/结构/溯源/新鲜度/冗余。</a:t>
            </a:r>
          </a:p>
          <a:p xmlns:a="http://schemas.openxmlformats.org/drawingml/2006/main">
            <a:r>
              <a:t>专家提供项目地图、可解释的把控与评审，是本项目的设计洞察；低年资工程师借此逐步学习领域本体属于尚未测量的潜在价值。图遍历在关系密集、多跳问题上有明确表达优势，但当前没有可与业界比较的多跳 Recall 数据，因此不宣称 Graph RAG 普遍优于普通检索或 RAG。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联邦架构依据 federation registry 和 external graph query：中心维护成员、能力、接口与授权元数据；跨成员读取返回引用，项目图谱仍是其唯一事实源。当前快照：23 个成员、45 条授权关系，SOC-DEMO 实读 386 个元素。组织级结果来自互操作，不要求合并各项目图。</a:t>
            </a:r>
          </a:p>
          <a:p xmlns:a="http://schemas.openxmlformats.org/drawingml/2006/main">
            <a:r>
              <a:t>图中组件、服务、数据对象和关系对齐视图 federated-intent-graph-architecture-001；“Access”表达经授权读取，“Federated Graph Reference”指向成员图，不表示中心合并或保存副本。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完整指标表依据意图图谱 aos-as-* measurement-status / measurement-result；状态与结果在生成前逐项对照。公开基准区间仅用于比较口径，不替代本项目实测。</a:t>
            </a:r>
          </a:p>
          <a:p xmlns:a="http://schemas.openxmlformats.org/drawingml/2006/main">
            <a:r>
              <a:t>业务阶段映射和应用能力映射分别来自四个 canonical 指标子视图。公开基准数字仅作口径背景，未在同一模型/任务/Harness 下运行时不作性能比较。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业界信号与工程案例只用于提出问题、总结可复用做法，不可合并成单一效果预测。</a:t>
            </a:r>
          </a:p>
          <a:p xmlns:a="http://schemas.openxmlformats.org/drawingml/2006/main">
            <a:r>
              <a:t>来源与口径：</a:t>
            </a:r>
          </a:p>
          <a:p xmlns:a="http://schemas.openxmlformats.org/drawingml/2006/main">
            <a:r>
              <a:t>GitClear, 2025 report, 211 million changed lines across 2020–2024; duplicate-code trend is observational and does not establish AI as the sole cause: https://staging2.gitclear.com/ai_assistant_code_quality_2025_research</a:t>
            </a:r>
          </a:p>
          <a:p xmlns:a="http://schemas.openxmlformats.org/drawingml/2006/main">
            <a:r>
              <a:t>DORA 2025, 30% report little or no trust in AI-generated code: https://dora.dev/insights/managing-ai-dependency/</a:t>
            </a:r>
          </a:p>
          <a:p xmlns:a="http://schemas.openxmlformats.org/drawingml/2006/main">
            <a:r>
              <a:t>Faros AI, telemetry across 1,255 teams and 10,000+ developers; high-adoption teams showed PR review time +91% and PRs +98%: https://www.faros.ai/blog/ai-software-engineering</a:t>
            </a:r>
          </a:p>
          <a:p xmlns:a="http://schemas.openxmlformats.org/drawingml/2006/main">
            <a:r>
              <a:t>METR randomized controlled trial: 16 experienced open-source developers, 246 tasks, early-2025 tools; measured 19% slower while participants estimated 20% faster: https://metr.org/Early_2025_AI_Experienced_OS_Devs_Study-paper.pdf</a:t>
            </a:r>
          </a:p>
          <a:p xmlns:a="http://schemas.openxmlformats.org/drawingml/2006/main">
            <a:r>
              <a:t>These sources use different methods and populations; do not treat them as one causal estimate.</a:t>
            </a:r>
          </a:p>
          <a:p xmlns:a="http://schemas.openxmlformats.org/drawingml/2006/main">
            <a:r>
              <a:t>来源：OpenAI Harness Engineering (3 engineers, about five months, roughly one million lines, no manually written code): https://openai.com/index/harness-engineering/</a:t>
            </a:r>
          </a:p>
          <a:p xmlns:a="http://schemas.openxmlformats.org/drawingml/2006/main">
            <a:r>
              <a:t>Bun Rust rewrite (11 days, 6,778 commits including merges, about $165,000 API-price estimate): https://bun.com/blog/bun-in-rust</a:t>
            </a:r>
          </a:p>
          <a:p xmlns:a="http://schemas.openxmlformats.org/drawingml/2006/main">
            <a:r>
              <a:t>Anthropic large-scale migration six-step method: https://claude.com/resources/articles/ai-code-migration</a:t>
            </a:r>
          </a:p>
          <a:p xmlns:a="http://schemas.openxmlformats.org/drawingml/2006/main">
            <a:r>
              <a:t>Codex CLI native rewrite discussion: https://github.com/openai/codex/discussions/1174</a:t>
            </a:r>
          </a:p>
          <a:p xmlns:a="http://schemas.openxmlformats.org/drawingml/2006/main">
            <a:r>
              <a:t>DHH TerminalTextEffects figure is a reported single demonstration, not a controlled comparison; it is not used to infer typical productivity.</a:t>
            </a:r>
          </a:p>
          <a:p xmlns:a="http://schemas.openxmlformats.org/drawingml/2006/main">
            <a:r>
              <a:t>OpenAI Harness Engineering 案例：三名工程师在约五个月内由 Codex 产出约一百万行代码，团队报告没有手写代码；文章强调人类设计环境、定义意图与架构、建立反馈机制。这里将“专家脑中有项目地图”作为对实践的解释，不是文章原话。来源：https://openai.com/index/harness-engineering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ec5cb8de54f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24b111afe645f5" /><Relationship Type="http://schemas.openxmlformats.org/officeDocument/2006/relationships/slideLayout" Target="/ppt/slideLayouts/slideLayout1.xml" Id="R3f262228f6c046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262228f6c046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e5a14e8f24ffd" /><Relationship Type="http://schemas.openxmlformats.org/officeDocument/2006/relationships/notesSlide" Target="/ppt/notesSlides/notesSlide1.xml" Id="Ra419b54594fb48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9c8aa79954ab0" /><Relationship Type="http://schemas.openxmlformats.org/officeDocument/2006/relationships/notesSlide" Target="/ppt/notesSlides/notesSlide2.xml" Id="R4f2377f8a1ec44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f2721030442df" /><Relationship Type="http://schemas.openxmlformats.org/officeDocument/2006/relationships/notesSlide" Target="/ppt/notesSlides/notesSlide3.xml" Id="Rff8525c7c1f649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42cbdb0734f6f" /><Relationship Type="http://schemas.openxmlformats.org/officeDocument/2006/relationships/notesSlide" Target="/ppt/notesSlides/notesSlide4.xml" Id="R5e07781bba584b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3b9d4b19f488a" /><Relationship Type="http://schemas.openxmlformats.org/officeDocument/2006/relationships/notesSlide" Target="/ppt/notesSlides/notesSlide5.xml" Id="Rcf2fead69a5f4a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1d2b8b4684d22" /><Relationship Type="http://schemas.openxmlformats.org/officeDocument/2006/relationships/notesSlide" Target="/ppt/notesSlides/notesSlide6.xml" Id="R598f367f59b249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88b0a6a3b4ba3" /><Relationship Type="http://schemas.openxmlformats.org/officeDocument/2006/relationships/notesSlide" Target="/ppt/notesSlides/notesSlide7.xml" Id="Re992a8b2c0b447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96da758fd4afd" /><Relationship Type="http://schemas.openxmlformats.org/officeDocument/2006/relationships/notesSlide" Target="/ppt/notesSlides/notesSlide8.xml" Id="R766bf13a4b9f40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14fa101784a88" /><Relationship Type="http://schemas.openxmlformats.org/officeDocument/2006/relationships/notesSlide" Target="/ppt/notesSlides/notesSlide9.xml" Id="Rc96ce1948a5a46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6E6715-1404-4E12-8F6F-97FA0B55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1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DB1FF"/>
                </a:solidFill>
                <a:latin typeface="Arial"/>
                <a:ea typeface="Arial"/>
                <a:cs typeface="Arial"/>
              </a:rPr>
              <a:t>ARCHGRAPH  /  01     01 · 通用业务价值流程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C8D53-CA58-4F9D-8B15-22BD9F55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Coding Agent 业务价值流程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A9AD8-457E-4824-B7CC-C0B4B516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87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BC7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BC7D5"/>
                </a:solidFill>
                <a:latin typeface="Arial"/>
                <a:ea typeface="Arial"/>
                <a:cs typeface="Arial"/>
              </a:rPr>
              <a:t>Business Layer：跨业务场景的价值活动；先说明“做什么”，再进入实现架构。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F101B-F6CC-4C2D-9EF6-FB491FC3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" y="6438900"/>
            <a:ext cx="11010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75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A11CB-49F8-4303-8F0F-C19B5AC3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BC7D5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BC7D5"/>
                </a:solidFill>
                <a:latin typeface="Arial"/>
                <a:ea typeface="Arial"/>
                <a:cs typeface="Arial"/>
              </a:rPr>
              <a:t>ARCHGRAPH · CODING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CCE12-5E59-412D-8247-9AB94A40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4960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BC7D5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BC7D5"/>
                </a:solidFill>
                <a:latin typeface="Arial"/>
                <a:ea typeface="Arial"/>
                <a:cs typeface="Arial"/>
              </a:rPr>
              <a:t>视图 uml2-coding-statemachine-view-002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38BCD-FC54-4FA3-B111-1BA56715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28775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FC0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FC0FF"/>
                </a:solidFill>
                <a:latin typeface="Arial"/>
                <a:ea typeface="Arial"/>
                <a:cs typeface="Arial"/>
              </a:rPr>
              <a:t>Business Process  /  Coding Agent 业务价值流程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D6406-0936-4AC5-A639-495741FE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609725" cy="1257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344A"/>
          </a:solidFill>
          <a:ln xmlns:a="http://schemas.openxmlformats.org/drawingml/2006/main" w="9525">
            <a:solidFill>
              <a:srgbClr val="4B607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B256B-AED0-4590-BB1F-983CA19B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02089-1691-42BF-90F4-DA3BBE3D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302BB-895F-46D0-9B88-FAEE3C5F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明确任务与验收目标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A739A-44E8-4A05-BF24-49C07404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419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5D2E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5D2E0"/>
                </a:solidFill>
                <a:latin typeface="Arial"/>
                <a:ea typeface="Arial"/>
                <a:cs typeface="Arial"/>
              </a:rPr>
              <a:t>目标 · 边界 · 完成定义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ADC11-A1A6-4E4A-B47A-7F1B8CE1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38375" y="3095625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91A9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B9513-EF55-4173-8530-F253BB1A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6695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AFC0FF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AFC0FF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6980A-624B-4DF9-96BB-47180545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76500"/>
            <a:ext cx="1609725" cy="1257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344A"/>
          </a:solidFill>
          <a:ln xmlns:a="http://schemas.openxmlformats.org/drawingml/2006/main" w="9525">
            <a:solidFill>
              <a:srgbClr val="4B607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9680D8-0468-4F08-B056-4E3850F8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5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79D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33867A-9E4F-40C9-B0DD-31DB1FB9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622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9A67B5-BC40-4089-B3A3-AB6710FB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7655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获取相关项目上下文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C4CA1-8BCF-432B-B418-417EB67E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33750"/>
            <a:ext cx="1419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5D2E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5D2E0"/>
                </a:solidFill>
                <a:latin typeface="Arial"/>
                <a:ea typeface="Arial"/>
                <a:cs typeface="Arial"/>
              </a:rPr>
              <a:t>按任务需要获取相关信息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BDFC41-8B9E-458E-B5F4-FFFF32CA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00525" y="3095625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91A9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263BDB-55D5-42E1-AA22-350F9C5C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AFC0FF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AFC0FF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EBCD69-4241-46FB-B2C7-7B06B8BB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76500"/>
            <a:ext cx="1609725" cy="1257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344A"/>
          </a:solidFill>
          <a:ln xmlns:a="http://schemas.openxmlformats.org/drawingml/2006/main" w="9525">
            <a:solidFill>
              <a:srgbClr val="4B607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1829A1-102C-45A3-B6B5-2D9EB208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86C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05D94D-88D2-4F20-B4A8-E2734D13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622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189E0A-0236-476E-A942-BF9CFD80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规划并执行代码变更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57F24B-8331-4086-B51E-F3618892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33750"/>
            <a:ext cx="1419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5D2E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5D2E0"/>
                </a:solidFill>
                <a:latin typeface="Arial"/>
                <a:ea typeface="Arial"/>
                <a:cs typeface="Arial"/>
              </a:rPr>
              <a:t>拆解 · 工具调用 · 迭代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7B33BE-FF41-4E35-B963-EB207D89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62675" y="3095625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91A9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37C1C6-E99D-4066-9090-BD86956D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AFC0FF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AFC0FF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FEF7C4-68E3-4886-9181-0B324B6D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1609725" cy="1257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344A"/>
          </a:solidFill>
          <a:ln xmlns:a="http://schemas.openxmlformats.org/drawingml/2006/main" w="9525">
            <a:solidFill>
              <a:srgbClr val="4B607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CDD2F2-56FE-4F04-ACAE-AB3191C2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5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DD7BB6-D4B9-48C2-9119-EDF6EF68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622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2211EB-4B15-4050-80FB-48F5653B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7655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验证并评审结果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D7B3F-3EDB-4E4A-B460-12D4ADD9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33750"/>
            <a:ext cx="1419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5D2E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5D2E0"/>
                </a:solidFill>
                <a:latin typeface="Arial"/>
                <a:ea typeface="Arial"/>
                <a:cs typeface="Arial"/>
              </a:rPr>
              <a:t>测试 · 评审 · 修正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FB009B-4C6E-4ECC-97E4-C85884E7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24825" y="3095625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91A9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2F1C5B-D295-4091-9E5C-6E66FF23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6695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AFC0FF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AFC0FF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C32FC6-7BA2-4AB6-9D0B-2BD93F8A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1609725" cy="1257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344A"/>
          </a:solidFill>
          <a:ln xmlns:a="http://schemas.openxmlformats.org/drawingml/2006/main" w="9525">
            <a:solidFill>
              <a:srgbClr val="4B607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F67D99-71D0-4457-AD8E-87C0929A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5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7A4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432F00-D4F8-4439-B199-8D51258D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622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6A8970-7A16-42B3-B334-B9CE42D9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7655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交付可验收结果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FD6631-2F78-4C8D-BBA8-664C82EA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1419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5D2E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5D2E0"/>
                </a:solidFill>
                <a:latin typeface="Arial"/>
                <a:ea typeface="Arial"/>
                <a:cs typeface="Arial"/>
              </a:rPr>
              <a:t>交付满足验收条件的变更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83452F-791A-459D-9AB7-19F6A44C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86975" y="3095625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91A9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59B462-3234-42F3-9D20-530A7ED9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6695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AFC0FF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AFC0FF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C0AEF7-6C86-4225-ACF5-F0AFAE4C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76500"/>
            <a:ext cx="1609725" cy="1257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344A"/>
          </a:solidFill>
          <a:ln xmlns:a="http://schemas.openxmlformats.org/drawingml/2006/main" w="9525">
            <a:solidFill>
              <a:srgbClr val="4B607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386A08-7CDF-4E58-8B65-A8C753C0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5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856D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2E374E-9857-44C3-983B-A0D9FCF8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5622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491862-B312-4FB3-9A54-07B75E2C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87655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沉淀可复用项目知识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34AD91-B2F6-4BED-B2CF-40B09D02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333750"/>
            <a:ext cx="1419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5D2E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5D2E0"/>
                </a:solidFill>
                <a:latin typeface="Arial"/>
                <a:ea typeface="Arial"/>
                <a:cs typeface="Arial"/>
              </a:rPr>
              <a:t>更新可复用的项目上下文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9CDAE0-A67E-4225-B82E-F772222E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6287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AFC0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FC0FF"/>
                </a:solidFill>
                <a:latin typeface="Arial"/>
                <a:ea typeface="Arial"/>
                <a:cs typeface="Arial"/>
              </a:rPr>
              <a:t>图中相邻 Business Process 以 Triggering 连接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65F2BA-9440-43DC-9053-E33BE2C2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10075"/>
            <a:ext cx="10420350" cy="790575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192B40"/>
          </a:solidFill>
          <a:ln xmlns:a="http://schemas.openxmlformats.org/drawingml/2006/main" w="9525">
            <a:solidFill>
              <a:srgbClr val="3E536B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70607D-7D79-4EA5-BC9A-0BB1D2F5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50532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B1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DB1FF"/>
                </a:solidFill>
                <a:latin typeface="Arial"/>
                <a:ea typeface="Arial"/>
                <a:cs typeface="Arial"/>
              </a:rPr>
              <a:t>端到端目标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22A632-C2E2-4A52-81EE-E450AED2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48175"/>
            <a:ext cx="840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业务需求转成经过验证、可交付、可追溯的工程结果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FFC7DB-5F3D-4020-9512-B21CF5F0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38700"/>
            <a:ext cx="8172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C5D2E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5D2E0"/>
                </a:solidFill>
                <a:latin typeface="Arial"/>
                <a:ea typeface="Arial"/>
                <a:cs typeface="Arial"/>
              </a:rPr>
              <a:t>流程只描述业务活动，不预设代码搜索、RAG 或 Graph RAG 等应用实现。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C0E5D1-E0BA-4103-A690-2035115C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C59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C59E"/>
                </a:solidFill>
                <a:latin typeface="Arial"/>
                <a:ea typeface="Arial"/>
                <a:cs typeface="Arial"/>
              </a:rPr>
              <a:t>指标骨架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1FBFC2A-367D-4D5A-859E-EBC3BA3C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61022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每个业务活动都能关联对应 Assessment；整体 Coding 基准衡量端到端结果。</a:t>
            </a:r>
          </a:p>
        </p:txBody>
      </p:sp>
    </p:spTree>
    <p:extLst>
      <p:ext uri="{BB962C8B-B14F-4D97-AF65-F5344CB8AC3E}">
        <p14:creationId xmlns:p14="http://schemas.microsoft.com/office/powerpoint/2010/main" val="7294625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FB27F26-92CC-4D8A-B44A-319F4B9B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ARCHGRAPH  /  02     02 · APPLICATION LAYER / 通用 Harness 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CCD80-C342-43DE-A607-22D0B8CC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通用 Coding Agent 应用架构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11572-35DE-4312-800A-F20F51A2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87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Layer：Harness 编排应用功能；普通检索、RAG 与 Graph RAG 是可选实现。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BB30E-E672-4A0B-9E19-81224D89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" y="6438900"/>
            <a:ext cx="11010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75E3F-A46C-4A7B-8DB4-8CE18933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· CODING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CDC15-88EB-4CDC-993F-76E0323E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4960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coding-agent-application-architecture-001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E0D9B-6633-4E54-B7F2-74CAAD78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APPLICATION COMPONENT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0499B-621D-4714-8C29-98B7CACE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43075"/>
            <a:ext cx="3333750" cy="485775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233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8DD03-D299-494D-B3CE-2C9F6F08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43075"/>
            <a:ext cx="476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5246F-A815-4668-9210-CBF22A06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19275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通用 Coding Agent Harness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128BA-7DF0-4493-80A0-D708F4BD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95500"/>
            <a:ext cx="310515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41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Component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BC831-7289-4A6B-85A0-451DDEF4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76575"/>
            <a:ext cx="2514600" cy="762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E9A7E-460F-412D-A102-B2EA6F99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76575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46B60-0E02-46AE-907F-258044F4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会话编排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C1B8C-DFF3-466B-82F2-DE9D7B14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Function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0B737-7AEA-420A-9C96-26BA9AED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714500" y="2228850"/>
            <a:ext cx="43815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15EF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BDA84-1BC0-4F65-BC85-CA16FB01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845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7B4B7-A5CD-4499-9448-AC5A070B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76575"/>
            <a:ext cx="2514600" cy="762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FCE65-63B3-47AD-A444-8AF21783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76575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4BB09-E8D1-4DF6-BA0D-132AC16D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52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上下文访问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8BD1E-6113-4C9C-84DF-FA5EE646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290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Function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69C751-1A64-426B-8003-1B6D2408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610100" y="2228850"/>
            <a:ext cx="14859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4866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2D18B2-14C7-4172-A7B2-C94A0B45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3845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4C38B-8751-4BD8-B02F-CA67DBED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76575"/>
            <a:ext cx="2514600" cy="762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5A2DE4-A0E8-4BE0-BD67-CEE12D34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76575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C77FB6-3449-4E02-8CDF-B5397D0C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52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工具与代码执行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1C1A5E-339B-468D-9136-74E34EBD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Function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7A08DF-4C62-46C7-9DA6-973832BC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228850"/>
            <a:ext cx="14097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15EF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E01C57-66BE-4E7E-B998-6A6C562C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3845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74F771-90D6-419F-AFF4-804F56DD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76575"/>
            <a:ext cx="2514600" cy="762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3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E48BDD-91E5-4D6F-8E93-6AA1AE71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76575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8F30E4-7015-4DF6-BA86-AA4F29C9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52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验证与反馈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3454AC-9EDF-40C3-AA9D-55526EDF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290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Function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123044-4662-4C42-B003-F1821BF8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228850"/>
            <a:ext cx="43053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65D32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C37A24-C1B0-479A-A016-AC1BA76A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3845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11922E-0469-41BC-9C3B-9867F49F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57187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15EF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352BD6-E189-4256-9AB3-761641A7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14500" y="3838575"/>
            <a:ext cx="953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5EF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85FA8A-71C3-4F8B-8986-6A36DAC7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14500" y="3990975"/>
            <a:ext cx="5791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5EF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407471-0F7A-4619-A93B-38E73373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505700" y="3838575"/>
            <a:ext cx="953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5EF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451DE8-557C-498D-A484-8026893E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357187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65D32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915FA1-5134-41C3-B6DE-4188CF0D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382250" y="3857625"/>
            <a:ext cx="953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65D32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2676AE-DE2A-45D4-A59E-3D723F6B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714500" y="4295775"/>
            <a:ext cx="8667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65D3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48D475-8AF9-4B90-87A7-66758E1F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714500" y="3857625"/>
            <a:ext cx="953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65D32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5BF26B-56FE-4DEF-9723-5C5CFB86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876675"/>
            <a:ext cx="781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118505-14A4-4B23-80AF-DB7E909D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00500"/>
            <a:ext cx="781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13FD9D-8D0B-4688-A649-4942A934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876675"/>
            <a:ext cx="781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7F4FFC4-0E7C-4EC3-8A69-93909DF2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24350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Triggering · 验证结果反馈到会话编排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4B7C2A-A200-41DB-8AE4-77781210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Context Access 的实现选项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16826F-884E-4A79-A75D-F56B9AE2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010150"/>
            <a:ext cx="2266950" cy="695325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8497F7-331F-4937-A30F-CBDC8DB0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010150"/>
            <a:ext cx="47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50BBF7-7619-47EF-8000-3B1BFB16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08635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普通检索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D10F05-2AC5-472F-84FC-1C330DA0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362575"/>
            <a:ext cx="2038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文件 · 代码 · 全文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C75E4B2-AAE5-4CE1-8025-9354031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610100" y="3857625"/>
            <a:ext cx="20955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5EF6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8294D52-58F5-4D8B-BE95-C48AF21A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62500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Specialization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A3EAEB-7DA7-4FD0-811B-8C660FF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010150"/>
            <a:ext cx="2266950" cy="695325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32DAD3B-09E7-4618-8C19-1777E324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010150"/>
            <a:ext cx="47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171E4E-3EB7-415F-BF68-F33EAFFB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08635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RAG 检索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4404004-2DF3-4CBA-8F9D-009FE79D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362575"/>
            <a:ext cx="2038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文本块 · 语义召回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AEED59-48BF-4DB4-A7CE-C65F13FD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610100" y="3857625"/>
            <a:ext cx="287655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4866D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E60C3A8-75FE-46C5-93A5-21C3F7B5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62500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Specialization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4DE6FEC-4516-4398-A0B0-4DC9A07A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10150"/>
            <a:ext cx="2266950" cy="695325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8ECE6"/>
          </a:solidFill>
          <a:ln xmlns:a="http://schemas.openxmlformats.org/drawingml/2006/main" w="9525">
            <a:solidFill>
              <a:srgbClr val="C65D32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81E285-5AA3-46B1-B75A-FF2F0C02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10150"/>
            <a:ext cx="47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2387D06-8EB9-434E-9A1A-423321E7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08635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Graph RAG 检索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50DAA14-7152-479F-83E6-F4EAC96D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362575"/>
            <a:ext cx="2038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实体 · 关系 · 图遍历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E52E6E9-E44D-4A5F-9D13-B751B6F3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610100" y="3857625"/>
            <a:ext cx="554355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5D32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5798843-0D7F-46CD-95D7-AAD2CCB1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62500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Specialization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AFB6D4F-1152-4FA8-8718-1738D25D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934075"/>
            <a:ext cx="6076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按任务与知识结构选用；通用 Harness 本身不要求部署 RAG。</a:t>
            </a:r>
          </a:p>
        </p:txBody>
      </p:sp>
    </p:spTree>
    <p:extLst>
      <p:ext uri="{BB962C8B-B14F-4D97-AF65-F5344CB8AC3E}">
        <p14:creationId xmlns:p14="http://schemas.microsoft.com/office/powerpoint/2010/main" val="1700188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A9744D8-89E3-47A1-A00B-1028C1E3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ARCHGRAPH  /  03     03 · ARCHGRAPH / 两层构建点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B1F97-D08E-4F41-B11D-3C561C43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ArchGraph 在业务层与应用层中的位置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CEA51-3266-48D6-B9E3-F4A10E4B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87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Graph MCP 是 Harness 可调用的应用能力；项目本体与图谱承载共享领域语义。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28EA4-ED8C-4E6A-A7E3-9B65432F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" y="6438900"/>
            <a:ext cx="11010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A52EE-6D26-45E1-86DA-0BB8F086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· CODING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68506-0E86-4242-970D-32E5F065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4960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archgraph-internal-read-write-001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91FD3-4689-4EFF-889B-0B37514C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81150"/>
            <a:ext cx="10991850" cy="10287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96A10-FCDD-4894-8929-78D02288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657350"/>
            <a:ext cx="1381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FC0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FC0FF"/>
                </a:solidFill>
                <a:latin typeface="Arial"/>
                <a:ea typeface="Arial"/>
                <a:cs typeface="Arial"/>
              </a:rPr>
              <a:t>BUSINESS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F14CB-D727-4E8F-9EB8-AC2599EF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76425"/>
            <a:ext cx="2428875" cy="542925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664B0-33AB-42D7-A4F4-39A185EE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76425"/>
            <a:ext cx="47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F6645-B22D-4B94-B672-F8529BB9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952625"/>
            <a:ext cx="2200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Coding Agent 业务价值流程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632C7-F20D-4B88-8008-A7CC5304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28850"/>
            <a:ext cx="22002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Business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F6C19-AD29-42FB-B7E5-45F84F2F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76425"/>
            <a:ext cx="2028825" cy="542925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B27C8-B249-4CA9-A7E2-8AEED8E5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76425"/>
            <a:ext cx="47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58D78F-72F4-4C67-8B87-5EBAAD92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52625"/>
            <a:ext cx="1800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项目领域本体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1E349-7F59-44C3-BF52-30E622DF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28850"/>
            <a:ext cx="1800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Business Object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119CF-2220-4691-970A-0F4A60B9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704975"/>
            <a:ext cx="1362075" cy="352425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7914F0-FDB8-4354-B26D-30538EAA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704975"/>
            <a:ext cx="476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4B2AB-604E-434A-9483-01FC5430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33550"/>
            <a:ext cx="119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Coding领域专家</a:t>
            </a:r>
          </a:p>
          <a:p xmlns:a="http://schemas.openxmlformats.org/drawingml/2006/main">
            <a:pPr algn="ctr">
              <a:defRPr sz="6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Business Actor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CEB48F-C0C3-4651-BBB2-5DE67E7A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114550"/>
            <a:ext cx="1362075" cy="352425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1CEEC-44E5-4287-8795-CB9DE2C5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114550"/>
            <a:ext cx="476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7A553C-E52A-4069-9126-7CE62FEF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43125"/>
            <a:ext cx="119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Coding开发者</a:t>
            </a:r>
          </a:p>
          <a:p xmlns:a="http://schemas.openxmlformats.org/drawingml/2006/main">
            <a:pPr algn="ctr">
              <a:defRPr sz="6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Business Actor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6A5C32-1E8E-4857-AE25-66CD1338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810750" y="1876425"/>
            <a:ext cx="2000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748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A94A6D-BF9A-4568-8FAF-73285EE3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810750" y="2200275"/>
            <a:ext cx="20002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748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940B95-733B-43B1-AFC1-8285DF69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924050"/>
            <a:ext cx="7715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61E9F3-5CA6-46BA-83EC-9B083DC5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24150"/>
            <a:ext cx="10991850" cy="1971675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6F3E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47FCE1-4853-4723-8074-03CE1BF7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81300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APPLICATION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1F7A02-4006-4BDA-9833-F365FB07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33725"/>
            <a:ext cx="1809750" cy="571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225FC5-9141-4C00-9B96-30A8B66B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33725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DDEF32-CB8C-4AAE-BF5F-0358B10D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9925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ArchGraph MCP Provider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4E5EA6-7DBB-45C5-BBF2-0B34BE4A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Component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2AB682-FD05-4241-9063-70FFCFDD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33725"/>
            <a:ext cx="2047875" cy="571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80B81D-F5FB-4E35-86AB-0F241BAD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33725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E2B7DB-98F5-4854-98D7-EF862FCB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09925"/>
            <a:ext cx="181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Graph MCP Tool Interface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ACAA7A-78FB-4C43-B7D6-60DB527E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86150"/>
            <a:ext cx="1819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Interface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5A3B34-D8D2-4EAF-A910-2E88EE22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33725"/>
            <a:ext cx="2333625" cy="571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DCFA7D-82F2-4842-8135-DE22FBC0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33725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73EE2E-73C2-49C0-9654-343E5039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09925"/>
            <a:ext cx="2105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项目图谱上下文服务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52A206-7215-4417-AB35-09DBFAAA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86150"/>
            <a:ext cx="2105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Service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9105B2-90E1-4CE1-ADF1-9E1105ED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33725"/>
            <a:ext cx="2171700" cy="571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BFD18A-F078-4FB8-9111-C9B0D765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33725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4226FD-E173-4E56-801B-4AEC8231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209925"/>
            <a:ext cx="1943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上下文访问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266431-F9D6-4938-8350-A4700673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861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Function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B73C60-A4C1-42D8-B218-53D1260A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90800" y="3419475"/>
            <a:ext cx="419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5EF6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D75FAB-6C1F-49C2-B7A5-1C14C51A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09925"/>
            <a:ext cx="809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Composition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BFF61F-5148-4005-B250-83A024E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57775" y="3419475"/>
            <a:ext cx="5619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4866D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87B744-B0D9-4E7E-BCE0-127B3FED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9925"/>
            <a:ext cx="847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A3F2E9-B084-404D-931C-E398633A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53375" y="3419475"/>
            <a:ext cx="1009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4866D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D07357-55B7-4D74-9854-CD8200D1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09925"/>
            <a:ext cx="6000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86AAE7-C5D3-461C-9239-A2420E0F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990975"/>
            <a:ext cx="2019300" cy="466725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32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303EBB-5841-47DF-A525-370B6BBA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990975"/>
            <a:ext cx="47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8E682A-F855-4DC3-B0E5-9B57152E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67175"/>
            <a:ext cx="1790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项目意图图谱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7D0253-32D6-48C6-AA09-BFDF1200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43400"/>
            <a:ext cx="17907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25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Data Object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094355-065F-43FA-BA1F-A5898B29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62750" y="3705225"/>
            <a:ext cx="953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5D32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ED8329-CB32-4C61-A9A9-3D083F57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743325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3B058A-1CF4-446E-AA08-F132D60F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10025"/>
            <a:ext cx="215265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2338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EB7010-95F3-4133-9354-AFCB20F3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10025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88B937-6E09-433C-81E3-A1BF174F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86225"/>
            <a:ext cx="1924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通用 Coding Agent Harness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8975C9-E8CD-4086-8D41-5C253734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62450"/>
            <a:ext cx="19240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Component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E33E2A4-5969-4EFA-8375-D6D6A832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62925" y="4219575"/>
            <a:ext cx="276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15EF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92273FC-BAF8-4026-AD45-18C7683F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439150" y="2428875"/>
            <a:ext cx="953" cy="1790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15EF6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368C035-7DC9-4726-A10B-526684CA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39150" y="2428875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15EF6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366F266-C8EB-4768-B2C8-81F89EB9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71750"/>
            <a:ext cx="714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Realization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BECD9D3-EF2C-499A-A84C-18C9B26D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53375" y="3609975"/>
            <a:ext cx="19050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4866D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D8F7469-3BBD-4F45-A46D-0C0C6043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43875" y="3829050"/>
            <a:ext cx="923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4866D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D90378-BC8F-47CF-B955-D6242FB6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67800" y="3829050"/>
            <a:ext cx="19050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4866D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F816308-F16F-4224-9453-5831243A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857625"/>
            <a:ext cx="590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3B14E08-2762-4BF1-A847-9DAD25AF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305425" y="3286125"/>
            <a:ext cx="3143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4866D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E7E82BF-88E8-4170-BCD6-40301B57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05425" y="2143125"/>
            <a:ext cx="953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4866D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2935CAB-4473-44E9-B64C-BF563ADE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238500" y="2143125"/>
            <a:ext cx="2066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4866D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9381DF9-B0E7-43C9-92C4-1D684FD4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181225"/>
            <a:ext cx="1638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Serving · Business Process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E994CF-3426-4747-AB8C-B8840030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2952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ArchGraph 内部实现关系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DE95D87-659B-4859-A78C-7EA38A81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1435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写入治理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B2045F3-FC81-4AE0-AE3A-4A1BAA67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067300"/>
            <a:ext cx="20669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32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163FCB4-B407-4478-BB20-12B643E6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105400"/>
            <a:ext cx="1914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Graph Semantics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9462179-23F0-41CA-8A33-56A0ECC2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90950" y="5229225"/>
            <a:ext cx="276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5D32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ABF6BB6-0671-42F8-A4D1-603B64EA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067300"/>
            <a:ext cx="20669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32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AD76E61-4865-40F1-8043-2E6F5DB1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105400"/>
            <a:ext cx="1914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图谱写入去重门禁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9DD6939-5A3F-47C0-A9F9-3EC33C62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72200" y="5229225"/>
            <a:ext cx="276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5D32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96EFCF6-219E-4791-80FD-37A9208B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067300"/>
            <a:ext cx="20669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32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04E7216-7049-4BAD-BC07-E57A96B3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105400"/>
            <a:ext cx="1914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无损写入门禁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33F3A66-43BC-457D-A0EF-E16EE9DA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53450" y="5229225"/>
            <a:ext cx="276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5D32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3F1BBD9-33A9-4C74-92D8-DF31D3BE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067300"/>
            <a:ext cx="20669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32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C3C0787-FD1C-4149-8580-31B174CC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105400"/>
            <a:ext cx="1914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Neo4j Semantic Projection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0A32170-B989-49D9-BF97-165121BB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53025"/>
            <a:ext cx="76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4589C47-F1C3-40E8-BA58-B5B23AE0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54355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语义检索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F25201B-9427-4FA9-BFDC-0E5B7715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467350"/>
            <a:ext cx="20669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959FB11-C5F6-462F-A3BC-819D4C89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505450"/>
            <a:ext cx="1914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Default Semantic Retrieval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434CD2F-FE66-4A05-A978-36C03F52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90950" y="5629275"/>
            <a:ext cx="276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4866D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ACAF9BF-3D6A-42B0-A2B9-79196C40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467350"/>
            <a:ext cx="20669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D7C642A-25BE-40C1-8C88-82CA5379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505450"/>
            <a:ext cx="1914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Hybrid Semantic Retrieval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4664F57-EF3E-422B-87F7-F936C1C2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72200" y="5629275"/>
            <a:ext cx="276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4866D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C9982CA-07A7-4D6F-9A0C-1817847A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467350"/>
            <a:ext cx="20669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CCF7A76-DBC3-40B2-B0C2-F1407D96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505450"/>
            <a:ext cx="1914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Semantic Rerank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D884B92-DE55-4065-88B6-830B0AE4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553075"/>
            <a:ext cx="76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10A5E6F-8B31-4FF9-97A8-4BA43DD8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9436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结构查询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EF6693B-D499-441C-9487-23D191DC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867400"/>
            <a:ext cx="20669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1BB39E7-8228-49AF-9FB2-DE6B835B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905500"/>
            <a:ext cx="1914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Neo4j Structural Sync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02A117E-DD2B-4F94-9C0C-109F1895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90950" y="6029325"/>
            <a:ext cx="276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5EF6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1735ABF-F616-46DA-AB99-54A920E9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867400"/>
            <a:ext cx="20669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33E749B-106C-4D33-AD28-8EAA23C8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905500"/>
            <a:ext cx="1914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Read-only Cypher Query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279FDC7-401A-4460-BCB3-FD4CD68D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72200" y="6029325"/>
            <a:ext cx="276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5EF6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60AA8DB-3349-4589-8C43-CDF4A2D1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867400"/>
            <a:ext cx="20669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E91E68E-8F9D-48C0-B525-DF2E2BC8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905500"/>
            <a:ext cx="1914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Community Index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40261A8-2A7B-4C4E-BB99-B4998EA7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53125"/>
            <a:ext cx="76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2FD7249-1455-4D7D-BF30-9F077073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6286500"/>
            <a:ext cx="8696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箭头关系：写入与语义检索为 Triggering；结构投影到只读查询、查询到社区索引为 Serving。</a:t>
            </a:r>
          </a:p>
        </p:txBody>
      </p:sp>
    </p:spTree>
    <p:extLst>
      <p:ext uri="{BB962C8B-B14F-4D97-AF65-F5344CB8AC3E}">
        <p14:creationId xmlns:p14="http://schemas.microsoft.com/office/powerpoint/2010/main" val="4394771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74A2C78-FE09-428E-BBB7-1A985119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ARCHGRAPH  /  04     04 · 业务 × 应用 × 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BCC72-C034-4E4F-866D-5AB904BD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业务阶段、应用能力与指标映射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38435-C8B3-428D-9807-56E14E7A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87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每个 Assessment 关联到业务活动和应用能力，为结果页提供统一口径。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9F37C-A4F7-4885-B7E4-8C6D9B97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" y="6438900"/>
            <a:ext cx="11010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5D88E-3EA8-441A-8D5B-E685F4D1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· CODING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4394A-EC42-4B75-9079-8AE7BD44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4960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aos-as-* measurement-status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31697-D422-4F64-A08C-BF423565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2590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20270-F52D-4154-BB2C-3AC47E42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28775"/>
            <a:ext cx="2419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Business Process · 业务活动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17181-7A86-4578-B442-85069009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00200"/>
            <a:ext cx="2857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FD850-D7D5-476C-B53B-97A43CB5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628775"/>
            <a:ext cx="268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Application · 支撑能力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B7B95-B905-4ABA-8062-F985E743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600200"/>
            <a:ext cx="5143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41199-A18F-4E1D-9124-79FEA0BC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28775"/>
            <a:ext cx="4972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Assessment · 指标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576C3-F460-44E4-9380-CD80710C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33575"/>
            <a:ext cx="2590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9C3F1-D29B-406B-8D00-52F3A1BA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3357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89AE2-AE1B-4D96-BBB9-62DD62BB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933575"/>
            <a:ext cx="5143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B47AC-29E2-49FA-AE9F-29BD01C9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33575"/>
            <a:ext cx="47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AF528-EDA5-4048-BC4E-0B8A1632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明确任务与验收目标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88D4E4-59C9-4DFE-B8E4-47E81858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962150"/>
            <a:ext cx="2609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会话编排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0237F4-7C94-412E-84E7-97916150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4867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空闲时长 · 请示频率/回环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16DF96-6935-42EA-A9EB-5F105DEE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14312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E64D1-CF70-4C68-A61A-A5C1A86A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143125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3CF63D-FEA3-43FD-9BE1-2FAB636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2590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EC058E-F45F-4074-B4AC-3F385DE0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1460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694BF7-0CC9-4273-A25A-5077246B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14600"/>
            <a:ext cx="5143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F21976-FBFC-4A09-B4BE-233914BB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47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865670-4715-44C2-9688-A5D55704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获取相关项目上下文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DAEF82-C1B3-41E4-BFB0-93757125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43175"/>
            <a:ext cx="2609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上下文访问 · 项目图谱上下文服务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FB3100-9F8F-47B5-AD31-D56770DF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43175"/>
            <a:ext cx="4867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检索召回与排序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24A4DC-A0C1-4BEE-AF27-6AB58C0B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241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B715B3-A588-444C-AAAA-A748D780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24150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836555-B5D2-450C-B53F-FF577CF9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2590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87AFAD-4CD7-41DA-BB88-D1234C1C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9562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5C60A5-F798-4E7E-89C0-D13C8E22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95625"/>
            <a:ext cx="5143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85D53D-AD5D-4A99-B4D9-33E3F7C2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47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4CDF0C-CCA4-48A7-A72D-9E82296B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规划并执行代码变更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5A4D7F-7306-484E-B10A-05A548D0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24200"/>
            <a:ext cx="2609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会话编排 · 工具与代码执行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B372AE-DDA4-437D-84D7-BC6ADC26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24200"/>
            <a:ext cx="4867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计划正确率 · 工具成功率 · 写入去重/无损 · 等待时延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A2F427-873B-4C3F-811A-1476BFAF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3051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101835-A8E5-485A-B09A-D3841D78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305175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E6EE3E-6A2C-4E14-B6FE-16B48754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590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AE6BDE-27FD-4C65-94AB-87904AFD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7665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80B6FA-4D92-4A2D-9E06-39DDE5BC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676650"/>
            <a:ext cx="5143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3213BA-69AC-44AB-9F83-0D76E3CB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47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7FBFDF-F2A3-4D74-86FD-D53DDF9B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验证并评审结果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70BA33-F34E-445F-8ED1-90246153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05225"/>
            <a:ext cx="2609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验证与反馈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411E83-B5F2-4AB3-81A8-7331E48C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4867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验收通过率与回归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C9C034-BE3F-4243-B435-6EAE8D35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862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F852A0-D929-43F4-9D18-1909BF22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886200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3BA6F1-457A-4FEC-8E65-6A61E96A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2590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B1B730-37CD-4AD7-8687-F012D590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5767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4A7165-0498-44D6-909C-55B9442C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57675"/>
            <a:ext cx="5143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823E2A-D949-41B8-98FE-7E5C8C0A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47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95E290-F548-4BFD-B7AC-5F1A82AD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交付可验收结果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45BD5B-D73D-4EB0-A77A-A9A6CE49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286250"/>
            <a:ext cx="2609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项目图谱上下文服务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5B4ACE-E944-491A-98E1-32ED491D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4867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提交完整率 · 任务成功率 · 端到端时延/成本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D7F1153-C0EF-4094-9E44-8A1846FB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46722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DAEE1C9-2162-408A-A9F4-1A8DC077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467225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055034-3A05-45DE-A34D-77B4429B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2590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9A8DE5F-9DD1-4558-82F6-EA982C30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3870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61A33C5-162A-48F9-8C99-C57D8622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838700"/>
            <a:ext cx="5143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10A8C0-C120-4309-8700-B493B1AC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47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798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88290EA-8432-4ED0-ABBE-F32EBC8C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沉淀可复用项目知识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DA1C50-E31D-4816-B6E5-6D4D77D5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867275"/>
            <a:ext cx="2609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项目图谱上下文服务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B86E911-286C-4CF8-90ED-3F0657C9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67275"/>
            <a:ext cx="4867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记忆准确率与拒答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E700A62-7E01-4588-8A91-434829EA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048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006BF4E-73E3-47F7-B089-00AEE3C8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048250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B7EC142-B638-4C3E-8070-4EB0651C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9725"/>
            <a:ext cx="2590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C5FC1AC-5E2D-489A-95F5-23EC4CB1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41972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74B59A9-2463-4B7F-9056-1F7B8F60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419725"/>
            <a:ext cx="5143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734FCA9-7D69-4B90-8F3C-9505FCFB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9725"/>
            <a:ext cx="47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F5E3494-CF4C-4C81-862F-469FADFB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5782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整体任务结果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02D38DC-1ED5-403B-BD86-3CD8B7C7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448300"/>
            <a:ext cx="2609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通用 Coding Agent Harness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A0E4064-3D27-41F2-B461-402ADB26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48300"/>
            <a:ext cx="4867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SWE-bench · Terminal-Bench 等 8 项整体基准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A5DC27B-402C-4AB4-9074-E0AA5719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6292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5731BFE-3F8E-4385-821F-454A71A8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629275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6A3D1CF-E15C-40D3-A38A-0F586E3A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57175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D237104-46CD-4D5A-82A7-9F3EBDB0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744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业务阶段 ↔ 指标与应用能力分别由 canonical 模型中的业务映射、Serving 与 Association 关系表达。</a:t>
            </a:r>
          </a:p>
        </p:txBody>
      </p:sp>
    </p:spTree>
    <p:extLst>
      <p:ext uri="{BB962C8B-B14F-4D97-AF65-F5344CB8AC3E}">
        <p14:creationId xmlns:p14="http://schemas.microsoft.com/office/powerpoint/2010/main" val="16420495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81E3A3-3E47-4A49-BCB0-5C55B675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ARCHGRAPH  /  05     05 · APPLICATION LAYER / 知识访问选项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F47A7-F2BB-496C-838E-CE4A4099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Graph RAG 通用检索流程：写入、索引与查询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51EF7-4767-42C3-A51F-3FE1414A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87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业界参考流程；各实现会省略、替换或扩展其中部分阶段。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50F97-3BAC-4C92-B583-AFA2A97F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" y="6438900"/>
            <a:ext cx="11010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61404-8E42-49CC-9575-5D8A8470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· CODING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C9ADD-7270-4EA6-B921-F892EC9B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4960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Microsoft GraphRAG indexing dataflow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02BC4-4173-4837-828A-D5BD9995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811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业界参考 · Generic Graph 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B7F33-A627-44C6-A364-0BA78A6E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53816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5FD74-26F7-40BB-9DD3-BFE81CE9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3357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写入与索引  /  Offline or incremental indexing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6E8EE-23DE-4AE2-BD2B-3831A8AD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53816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EDAF6-23ED-401A-A8B0-D3BE063C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3357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查询与生成  /  Query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9492F-0122-47C8-84DB-362CE29B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2238375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292B2-4F9B-44EC-BDE2-AAC6B22F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18A21-0189-4464-A28D-A3C6A895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009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知识写入与解析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13132-414C-41D1-8495-2E7259EF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7975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文档 / 代码解析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C9E9B-1C28-4710-8CCE-400E1663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95550"/>
            <a:ext cx="2238375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416D3-C635-47DD-BB3F-A0C72EF7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955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A3470-834C-44EE-A07B-A594B694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2009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实体关系抽取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A4DBA-5412-47DA-B51E-DEE4D329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47975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实体与关系抽取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43777-6C52-445F-B8D8-58D3D5BD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2238375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FE8F4E-762F-4CAF-833E-513E7F0A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C853CB-3A81-448A-A9C5-49EBFC49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2009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图谱与索引构建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234396-55D7-453A-8832-42162246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00475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图结构 / 向量索引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787800-CBE0-4E96-99F9-85A52D7B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2238375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56D4AD-3FF4-47FC-A629-69693178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AD985F-B7DA-4435-9A69-8B988D37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009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查询解析与改写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7F952B-8C34-4FDC-B409-9179957F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47975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意图识别 / 重写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D53820-07C4-4CA7-AE45-6D75016F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95550"/>
            <a:ext cx="2238375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CA4054-0B71-4215-BD2B-DDF83C9C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955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E26713-0DE6-4B0B-80B9-4E1D97E2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2009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向量词法图遍历召回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ADA838-E456-4890-AFE8-7AD16440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47975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邻居扩展或向量/词法召回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D13909-0DBA-4D54-BD20-2731E7D5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2238375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34A6D6-268A-4F1B-BBD7-B19B8251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5FF94B-F40C-4544-AA6E-D72ED173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24250"/>
            <a:ext cx="2009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结果融合与重排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C5DC04-50C4-4205-94AF-E24E265C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00475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候选合并并排序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374EF0-82CF-4757-A151-A2AF05E9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48050"/>
            <a:ext cx="2238375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375FEC-FEC3-4361-9622-12FB6543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480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1119F7-6AF9-4BF7-AD24-5A1C0098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24250"/>
            <a:ext cx="2009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上下文组装与溯源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72E3DA-7A63-4ED7-8FA7-E5A39F3A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00475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关联片段与证据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030FFD-A273-43C5-9255-EC9E967A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619625"/>
            <a:ext cx="2238375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32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6369B9-66FD-492E-8218-F2E139BD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619625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6EF1F9-ADF7-4542-A0D9-F9AABD1A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695825"/>
            <a:ext cx="2009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生成回答与反馈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35DAA0-317A-4DB1-83C5-B986C850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972050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带上下文生成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F8F14E-3872-4DB9-9C68-CB66D99D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19425" y="2809875"/>
            <a:ext cx="4476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4866D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2021B0-D048-4013-B279-8E7F5F57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263" y="27051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DBADBC-3079-42BC-BBD2-36566A7F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905000" y="3124200"/>
            <a:ext cx="26860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4866D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7CD404-823A-4C3C-B966-53D51E4F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813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A836E1-9696-45D3-BFD6-D98ED369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19425" y="2809875"/>
            <a:ext cx="3171825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4866D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71553C-5436-46A3-A258-7A5A866D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338" y="31813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C03672-CBD0-4D7E-AF9C-40CEDF6D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29625" y="2809875"/>
            <a:ext cx="4476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4866D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3929CD-8661-448D-9448-92372E30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27051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17B4F4-AE20-46FA-B0CA-EA5070FD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191250" y="2809875"/>
            <a:ext cx="4924425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4866D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00ACCD-7DB4-4208-9C60-B33D55CE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31813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D4519DB-4DD3-4C53-A060-6BDE902C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29625" y="3762375"/>
            <a:ext cx="4476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4866D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939712-0B1C-4B9B-BACE-63949D88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36576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95B08B-93FD-4FC9-9D2A-D8BB681E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648700" y="4076700"/>
            <a:ext cx="1343025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4866D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9A23241-C38C-4ED1-99E4-CE0E713D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4243388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AEDF23-C9AF-4977-8E92-5DDABE15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1066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ECE6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7ACA52-A517-4D52-8D39-704AA807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0363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图检索能表达实体关系与多跳路径；能否提升任务效果，取决于图质量、召回策略与任务，不代表普遍优于向量 RAG。</a:t>
            </a:r>
          </a:p>
        </p:txBody>
      </p:sp>
    </p:spTree>
    <p:extLst>
      <p:ext uri="{BB962C8B-B14F-4D97-AF65-F5344CB8AC3E}">
        <p14:creationId xmlns:p14="http://schemas.microsoft.com/office/powerpoint/2010/main" val="9716184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B93A97-1FE4-4505-A898-CE48FEEB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ARCHGRAPH  /  06     06 · 已有提升与待补证据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CF117-5D81-43BC-852D-C7710184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测评结果：局部改善已见，整体优势待同口径验证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CFCCA-5635-459B-8D84-3233EDAF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87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检索与记忆有内部证据；整体 Coding 基准和知识质量仍需补测。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6C373-B456-4E78-8A15-81588F55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" y="6438900"/>
            <a:ext cx="11010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0FD32-D145-4E33-86F4-ABCC44E4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· CODING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EE54C-C3DF-419B-A9E0-52F4DD7B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4960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8BD3B-A116-4E39-83AD-7D0C0BBA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28775"/>
            <a:ext cx="215836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4E01B-6473-44AC-88D9-FBD85E35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214884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已有实测 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C0876-ABDE-44E9-A5F2-88564E67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590" y="1628775"/>
            <a:ext cx="2705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1EAD9-8E87-4FBC-BE92-CBFB88BC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590" y="1657350"/>
            <a:ext cx="2695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部分证据 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5F383-C721-408F-B27C-2A7104F1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65" y="1628775"/>
            <a:ext cx="598551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D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3352D-7E46-4ACD-BB79-60AD3FA1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65" y="1657350"/>
            <a:ext cx="597598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当前未测  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87DC0-EAE5-4B98-A407-7A569392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521970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EE44A-1BB3-47AD-8509-A3970010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476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D79E2-69F0-449B-BE25-159B1C7B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955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94.6 → 98.7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3B7ED-8C1A-425D-ABEF-B02EB98F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检索 R@1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10259-112B-4E35-9D77-CF9F406A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336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向量基线 → 重排；R@5 99.4 · MRR 0.997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F7100-3525-4467-9BE9-8332A2B3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209800"/>
            <a:ext cx="521970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374E0-38E5-4D02-8C7C-1E7C31DB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209800"/>
            <a:ext cx="476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C9D7B-9001-45CA-8927-84533CD3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955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31 / 31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780EA-DB0B-4BB0-B478-84A8E22B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记忆题集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7E2A3C-B282-45ED-8F3B-C6A5D94C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336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准确率 100% · 拒答正确率 100%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D6E32B-DDD4-493C-BC30-D535F7A1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521970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0CEE4C-878E-4E1B-9CC8-E9CEBDB5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476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C789A1-92B8-4859-834A-60F97158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9087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2.0–2.5s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2AD880-AEF2-4B89-AFFD-8F1EFF92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8135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Graph MCP 读路径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CF3F93-1CB4-42C7-9B57-53168FB9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29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写路径约 1.1s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D0BAB9-F5A9-4FFB-A246-3B2B5F64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105150"/>
            <a:ext cx="521970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F84B17-F7FE-485D-B8C5-51355FF5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105150"/>
            <a:ext cx="476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13A98A-FC79-4963-B584-E3FF4D3A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9087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A3FDAF-55F5-4ACC-BCAD-4892407A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8135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工具 ON 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DBAB41-B2EB-4BCE-842D-75592C45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29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自建小样本，不代表总体 Coding 成功率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4CD3AE-FA31-4A81-9C87-F5C355F6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5219700" cy="134302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5BF76D-59AB-4D86-8D1A-34E26B61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0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C0FF"/>
                </a:solidFill>
                <a:latin typeface="Arial"/>
                <a:ea typeface="Arial"/>
                <a:cs typeface="Arial"/>
              </a:rPr>
              <a:t>价值洞察  /  基于模型结构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2BA4CA-E8F7-45AB-A512-9A7C0451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专家的项目地图可外化为共同本体与图谱，让 Agent 行为更可查看、校准和追问。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B72E93-21EF-4A27-8722-ACFB76E6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483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5D2E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5D2E0"/>
                </a:solidFill>
                <a:latin typeface="Arial"/>
                <a:ea typeface="Arial"/>
                <a:cs typeface="Arial"/>
              </a:rPr>
              <a:t>这是设计价值判断；尚无独立量化结果。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815D45-C72E-40F1-B345-FF7C8FAD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76700"/>
            <a:ext cx="5543550" cy="134302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6F3E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ACBC00-B5CA-49B8-8437-AE2D5E8A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81475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关系检索的优势与待证据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552D1B-3EED-4D63-962A-5B889FC9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438650"/>
            <a:ext cx="5162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显式关系与图遍历适合多跳任务；目前没有同任务、多跳 Recall 的行业可比数据。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53AE8E-743A-4320-9757-34784286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0577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低年资工程师借助本体学习领域知识，是待验证的潜在收益。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9B704B-296A-4F7A-B19D-C8F2A2DB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93470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ECE6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C702C6-89DF-4437-AADB-CA960E4C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可比性限制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79CA76-DBE2-4B0B-9A30-E7E1C4A4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29275"/>
            <a:ext cx="95154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8 项整体 Coding / Agent 基准尚未运行；10 题 A/B 的 OFF 组 grep 失败并触发慢回退，工具 −43%、轮次 −39%、token −18% 仅作方向观察。</a:t>
            </a:r>
          </a:p>
        </p:txBody>
      </p:sp>
    </p:spTree>
    <p:extLst>
      <p:ext uri="{BB962C8B-B14F-4D97-AF65-F5344CB8AC3E}">
        <p14:creationId xmlns:p14="http://schemas.microsoft.com/office/powerpoint/2010/main" val="20493811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0F82FB6-E78D-4778-9AFF-C20894EC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ARCHGRAPH  /  07     07 · 组织级知识图谱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55066-A506-447C-8B35-8E5680A6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联邦式意图图谱：自治项目通过引用协作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BCC4A-7812-41D2-AA58-774515E1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87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中心管理成员与授权；成员保有自己的图谱，读取返回引用。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25D31-A132-4427-AC34-C8E45A0E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" y="6438900"/>
            <a:ext cx="11010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F2F76-2192-4D12-B4E8-77957814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· CODING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42568-6633-4A8B-A417-6BE8D23C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4960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design-federated-intent-graph-001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787BA-06DE-4B4D-9A71-032A6276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2933700" cy="3781425"/>
          </a:xfrm>
          <a:prstGeom xmlns:a="http://schemas.openxmlformats.org/drawingml/2006/main" prst="roundRect">
            <a:avLst>
              <a:gd name="adj" fmla="val 3247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A3563-53A7-4E0F-AF38-A71354D5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成员项目 · 主权数据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F6E0D-DA6A-4010-BB95-16F3A31B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24100"/>
            <a:ext cx="2400300" cy="581025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0A6E6-6F00-45FD-92F4-1D6959A2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24100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111C6-60D0-4E74-ABA4-D86BBA1B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00300"/>
            <a:ext cx="217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Member Project Graph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12637-9AB7-4641-B93E-257511BF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676525"/>
            <a:ext cx="2171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Data Object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7013E-D691-41BE-9D69-54EA7503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524375"/>
            <a:ext cx="2400300" cy="581025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A29D0-DD49-4F2A-9E31-B434E164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524375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7AB5E-A56F-4CA3-A58F-F96E1347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00575"/>
            <a:ext cx="217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Member Project Graph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89AC7-8C97-49EB-B35A-9D58E733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876800"/>
            <a:ext cx="2171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Data Object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94D954-EECC-477E-A1E9-5B9B3E4C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00425"/>
            <a:ext cx="2400300" cy="581025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3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350338-27B4-4DAE-9CD0-58B99041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00425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41F99F-A60B-4A97-9E4B-43E8C691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76625"/>
            <a:ext cx="217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Federated Graph Reference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192AEB-92EE-467E-B1C3-3AA39010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752850"/>
            <a:ext cx="2171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Data Object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AADB78-C735-4F46-B6C5-29CBF444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66925" y="2905125"/>
            <a:ext cx="953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4748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76E3C2-7327-4301-B717-AD809767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7905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B6A012-4CE1-454F-8391-507AB380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66925" y="3981450"/>
            <a:ext cx="953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4748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B68D7E-3084-4A70-B75E-BDE7C162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52900"/>
            <a:ext cx="7905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E84CF7-E583-4493-A859-05A4D4B6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32575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233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9E94A5-02D7-449D-A142-F9235C98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6170F1-86BD-44FB-82AE-9F8BC8FD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28825"/>
            <a:ext cx="3028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Federation Registry–Broker Center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319093-CF55-444D-BB7B-5BE44C8E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05050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Component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EAFF3B-6E4A-41BB-B046-786C6CF2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57500"/>
            <a:ext cx="2524125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B44758-2E3B-4FFF-B98C-ECE29F66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575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3A6276-7B0A-45F1-BC1E-07E58259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33700"/>
            <a:ext cx="2295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Graph MCP Tool Interface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13D809-56BB-406A-87D8-820E33A3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09925"/>
            <a:ext cx="22955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Interface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073216-CE35-42DF-9659-445CB5C2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43325"/>
            <a:ext cx="3257550" cy="571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8B5CD9-24BB-4954-AE30-6743FAAD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43325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163338-DAFF-4D2D-B33E-8415BF05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9525"/>
            <a:ext cx="3028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Federation Registry–Broker Service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CC3F70-C0E3-44D2-8C41-69AE4F8E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95750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Service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9E5B6F-9980-46D3-AB52-11740942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53125" y="2505075"/>
            <a:ext cx="953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5EF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011129-9B01-4458-BB4E-F708C71F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81275"/>
            <a:ext cx="771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Composition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9FE863-EC5E-49D3-B640-5B51434A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53125" y="3352800"/>
            <a:ext cx="953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4866D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04C235-E2F2-40F7-A4A4-7049A613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38525"/>
            <a:ext cx="723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ACCFD4-D0EE-481D-9DF1-F596E7C6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3028950" cy="581025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F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1E0919-2E5A-4A2E-95E7-B4BACD75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7665CE-5DC5-4DFA-BF42-98BDB1A7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2800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Federation Membership and Grants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262D83-98DC-443C-8D58-FA06EC63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24125"/>
            <a:ext cx="2800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Data Object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FDCD50-7FD5-4320-8A94-8415D4F5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581900" y="2466975"/>
            <a:ext cx="80010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4866D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602CAF-1193-47DD-80EC-D8FE859C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81259A-D7BF-48C5-BE1F-2426096F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267075" y="2609850"/>
            <a:ext cx="1057275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5D32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C98723-5E3D-4914-A805-1E1CBA3C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0515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68747B-A541-428E-B7BE-48A05E3B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267075" y="4114800"/>
            <a:ext cx="1057275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5D32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5ECE75-A77A-4660-9078-C5F33299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381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940D48-A8FE-42E1-9D5B-B6C14A18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267075" y="3695700"/>
            <a:ext cx="1057275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5D32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DBDDA1-B2B9-4B50-A583-880AA575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9095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Access · returns reference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DED735-18BB-491D-A707-641DA524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43275"/>
            <a:ext cx="3028950" cy="145732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9AF509-BA9D-4618-BC2C-084FFB08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575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Registry–Broker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93F4FB-E492-4DB2-8E9A-5177855A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264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中心管理成员、能力与授权元数据。</a:t>
            </a:r>
          </a:p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跨成员读取先检查授权，再经项目 MCP 读穿。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DF1EFD-3D55-42A1-8D37-E5D47816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中心返回图谱引用，成员内容不合并。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6383BCB-6E4E-470E-AB37-4D7ABA3E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953750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6F3EF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B2B86EF-96BE-497B-9C7C-9717CFA1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620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成员图保持自治 · 中心只管联邦元数据 · 默认拒绝 · 授权后按引用读取</a:t>
            </a:r>
          </a:p>
        </p:txBody>
      </p:sp>
    </p:spTree>
    <p:extLst>
      <p:ext uri="{BB962C8B-B14F-4D97-AF65-F5344CB8AC3E}">
        <p14:creationId xmlns:p14="http://schemas.microsoft.com/office/powerpoint/2010/main" val="15481915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69F197C-5F87-4652-BC14-66D15E4B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ARCHGRAPH  /  08     附录 A · 指标明细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F0365-06E5-42FE-9B03-76D0DF1D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20 项指标：映射关系、当前结果与下一步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9C190-E15E-4C48-A163-E10CD761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87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指标全集落在业务流程和应用能力上；“未测”表示证据缺口。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115DB-3E75-41D2-91B5-75B2DCA6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" y="6438900"/>
            <a:ext cx="11010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242B9-9B2E-4301-945B-4483A57F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· CODING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96B91-F716-4872-9FDB-D246E794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4960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aos-as-* measurement-* 属性即本页数据源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B3464-950C-4FF1-BEB1-249A9FFE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90675"/>
            <a:ext cx="531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F4B26-396F-4A8A-B462-1A482805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# 业务阶段 · 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2A7BB-519C-4A31-BDED-4988CE21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09725"/>
            <a:ext cx="2466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应用能力 / 现有证据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B30BD-AC89-4202-B777-A897DFC3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76425"/>
            <a:ext cx="5314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F9B1C-9DA6-4AF2-BB8A-8A1C2E31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91899-8057-40C3-AF37-52E69BAB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明确任务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D3138-0894-4B31-913C-F9ED7738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88595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空闲时长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EF742-4A45-47BF-89BC-951F6231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859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会话编排 · 未测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32930-C889-4757-871A-930AAAB2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6692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尚未采集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22F98-9E41-4583-94D3-897B5C2C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" y="226695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093BE-419B-459D-A411-B6372402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71D3E3-391D-4953-A819-8BEEC587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明确任务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B6DF9-CEEC-4612-AC1D-BB6D08A2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28600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请示频率与回环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ADCD8C-FBFA-4CBB-8EA2-A202E0E8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会话编排 · 未测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9E0C64-DCA2-4C0A-B959-E373AA4F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尚未采集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DD467C-7920-4573-A1D6-C02007A2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" y="266700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D00B3E-153A-4FBF-9300-8036355C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76525"/>
            <a:ext cx="5314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97963C-905D-4F4B-8C55-10C55405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7AEAA2-78A0-4E5C-AAC0-F8A7A4E1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规划执行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3E9872-5DC9-4767-88FE-1C33BE21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68605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计划正确率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C3E72A-9EED-4FD6-96BC-37E4C5FC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会话编排 / 工具执行 · 部分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0A6C1B-B951-429E-ACAB-AA508FD0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6702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navigation 20/20（代理）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448008-C590-4A2B-A557-E20B6273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" y="306705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D947F9-3B69-4082-AA97-9F791D7D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7B6628-0657-4B10-AF44-7B4A2367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获取上下文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40AD7B-9822-4626-B52F-CED7848B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08610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检索召回与排序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956C50-4F94-4DF6-B62A-543F0884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861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上下文访问 / 图谱服务 · 实测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4C1C19-6AB7-4238-BB31-2604E2F9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6707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r@1 94.6→98.7 · MRR 0.997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90188A-2876-4C92-96B5-74D4942E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" y="346710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4B2266-2516-4E1D-B872-8A3B255A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476625"/>
            <a:ext cx="5314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F33580-6EC8-4D1D-9B38-32813F50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CFA432-B596-430A-8CC9-509D40AC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规划执行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75FD55-80C1-499E-BC47-02141F11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48615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工具成功率与轮次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6FCAAF-7C36-4782-B0CD-6A8D7E9F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会话编排 / 工具执行 · 实测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3F56EC-F005-4BDA-A77A-CC104F8E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6712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成功率 100% · 轮次 −39%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97B663-8265-4154-AE1D-F9D3FA08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" y="386715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105141-CCCC-4BB3-8C82-472D4982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5AC14A-D768-464F-841B-53A4C0CF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规划执行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FF780E-8A30-4AF6-99D5-8D00BA3E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88620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去重 P/R 与无损率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526915-EE5F-4195-B7A2-0D96FA6E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862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会话编排 / 工具执行 · 部分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0893BA-7AE7-400B-8AC4-F67ED578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6717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L1 阈值 0.85（假阳性 0.85–0.89）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7CEE13-64CC-4ADA-BA98-48488C0E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" y="426720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7545D0-8853-4147-BD22-CF12EC8E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76725"/>
            <a:ext cx="5314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663429-E03A-4236-BD99-C31B9B46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E196B1-C004-4304-9B42-0CA47017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验证评审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4BAB70-45F9-46C3-B68A-DAF83304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28625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验收通过率与回归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BFE820-8109-40EE-9405-9F090CAF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验证与反馈 · 部分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036C8E-E221-4932-A885-E939B616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6722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AT 12/12 · 回归 38/38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EE1695-66DA-4D27-9D8C-BF30E7F5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" y="466725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BA4AEF3-EEE4-4BF1-B657-8C94E86B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B973986-7C1E-497C-BFCC-219D789B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规划执行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FE8C1D2-B2A6-4C34-9BB3-3A947D03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68630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等待 / 唤醒时延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97E09C4-BEE8-4F9E-8CBE-F8B5FE63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863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会话编排 / 工具执行 · 实测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6F434CA-A41C-4F0A-B786-5909B8A2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6727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读 2.0–2.5s · 写 1.1s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835BA21-CAAA-49D1-B6A9-B8ABF815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" y="506730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DCA08D-805A-427E-84BA-AB783D5B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76825"/>
            <a:ext cx="5314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D16C4D6-7E58-4B37-B17E-B68C6F3A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CF4422-F1C9-4E12-959D-17740A13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结果交付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9DB9B79-935F-41D0-8280-B761816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08635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提交登记完整率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AA5BC8A-8892-434C-86A6-9B4E442D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863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图谱服务 · 未测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F2A817-1E32-421B-BF94-0B828CEE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6732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无统计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DDF021-BBB4-4B90-8E04-49334E14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" y="546735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D607803-8390-4C95-B1FC-023C4715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F985DA3-7215-450C-A21F-16B2EBBF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8640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知识沉淀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8990219-712A-4555-A71A-FB66CE6F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48640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记忆准确率与拒答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3D8DBC2-B75A-495D-B162-A365A2D9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864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图谱服务 · 实测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AA254E3-C94A-4D3E-B65F-5CF206B0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6737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100%(31/31) · 拒答 100%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256D3F3-1AD5-4F61-ABD2-634D83BD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" y="586740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2A0F369-674C-413A-9C0B-2BA320C2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90675"/>
            <a:ext cx="531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18368E-F593-47AA-881D-BE9220A2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609725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# 业务阶段 · 指标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DF7DA11-4105-4D06-99CA-4015CECA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09725"/>
            <a:ext cx="2466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应用能力 / 现有证据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121E370-DB6D-4D73-BA2B-A66A2027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76425"/>
            <a:ext cx="5314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95628FD-D0F4-4EFC-885E-1531DF40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8859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8973968-9FB8-4B12-BFBA-459AC3F0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859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结果交付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D179FB9-9359-4220-AA34-B4679A4D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8595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任务完成成功率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81AF4E3-0DFA-4431-9F77-B59BB5A5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859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图谱服务 · 部分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7144B9A-D360-460E-BB8B-F7DB963E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6692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小样本 31/31 · 20/20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D0209AF-51D6-4F00-8030-C99C506D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226695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4FEBB65-25EE-4B63-8F52-DEB416C5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860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9248651-B487-406D-91D0-A44346F4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8600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结果交付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3D9EDC1-8FB5-46FC-8EAB-54A353EB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8600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端到端时延 / 成本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6421298-1E57-4CFF-BAEA-477F1D60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2860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图谱服务 · 部分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A712A58-07BE-4C9A-894F-D61F671C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6697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读 2.0–2.5s · 4890 token/查询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369270A-FA40-4788-9AA5-D2C18E9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266700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0B04501-BB88-4982-A8FC-4321F4B1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76525"/>
            <a:ext cx="5314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0F10415-A888-446F-82DC-FEB20B6A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860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8700C47-8E2A-45C6-9CA9-666A4B57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860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整体任务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FD752BA-D356-4E1C-9B19-E0817E88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8605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SWE-bench Resolved%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2530E06-32D7-4EF9-8884-A138E228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860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Coding Agent Harness · 未测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0796FA4-740F-4D1B-AE49-E1192D45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6702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AC38BA3-61E7-407B-8053-E2AF361F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306705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5201060-148C-4403-BC22-C813BBA8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86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E390914-5407-44CA-83F9-AC6CE298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8610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整体任务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E587B0E-0BC7-4A8E-B505-3379D654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8610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SWE-bench Verified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D6C5327-5239-48AE-BF2D-618AC973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861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Coding Agent Harness · 未测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A4D62EA-BD10-44BB-A1C0-307C0129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26707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2478056-9B11-40B1-A72B-79B43541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346710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D2098DF-AB55-47B5-A5F8-FD425A97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76625"/>
            <a:ext cx="5314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A465EF3-7358-4CD3-B8A0-9FC8B3E0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4861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9C55FFE-64EA-49AB-A6E6-C024557A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861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整体任务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A59C1A5-FFE7-4441-B6FE-63DE36F7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Terminal-Bench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7B04A8E-6B4B-4C53-B9C7-B93CB10E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861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Coding Agent Harness · 未测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086079E-07F7-4E4B-9446-E040766E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66712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BA417C5-0324-4552-AEE1-28D5FA76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386715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ADF3A6B-A9FD-4964-8C0F-BA0BE27D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862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6851D1A-A880-4473-996F-D7FA8A73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88620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整体任务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5EA921E-A283-4460-9F81-7B9B4E4D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8620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HumanEval / MBPP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BC0BA90-69E9-40A9-B5D0-90A1A307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8862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Coding Agent Harness · 未测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B927A41-DF6B-4E09-B810-E3EDE695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06717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87FA251-7EE3-4888-930B-5CDA7019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426720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99A0119-BA38-4F5D-8EA5-451BA64D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76725"/>
            <a:ext cx="5314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C887BC2-DF29-42F1-BD16-1C4C7F66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862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09894BB-5F39-412C-AD26-55D8801A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2862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整体任务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4D49583-ADC0-4BE5-9133-9D25B719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8625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LiveCodeBench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D97B177-E090-4008-B338-296E3AD2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862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Coding Agent Harness · 未测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1355146-DE60-42B4-B802-EEFC917B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46722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A5D395B-5DC4-403D-A1F7-44F0AC0E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466725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F154DFD-E8CC-4E56-A6F8-538EBCB5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6863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26EDD62-2AE5-4D80-91A0-7D1EF901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8630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整体任务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0F99CB4-5083-4560-88A9-AE431B75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8630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GAIA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C2302C8-1367-4C3B-8C7C-5E933028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863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Coding Agent Harness · 未测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4EC0B05-271A-478F-83AF-AC6A48AE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86727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06C01E4-4D9F-4FE6-83EB-E550B736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506730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DA08D1D-FB4D-4F7B-9EEF-2DF885AF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76825"/>
            <a:ext cx="5314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FEE08C4-5791-449D-B0BD-67579077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086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8B19457-51CC-4BA3-AF71-54DE5712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0863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整体任务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0588FDA-4A0C-478E-AA18-2B7A9776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8635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τ-bench pass^k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A552206-A70C-479A-97C7-62172255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0863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Coding Agent Harness · 未测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4697764-52C3-4A24-9843-18951E49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26732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9935620-52E7-4EA9-AEF3-F241ACFB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546735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685D077-DC99-46CA-AC5E-6D80B2E9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4864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F1FFA6C-6F85-45AD-B4D6-44D32005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48640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整体任务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110BD20-02FB-4846-A272-89548306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86400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AgentBench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A380842-B366-41C6-8625-330C1259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4864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Coding Agent Harness · 未测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C2E58DA-C898-4789-8305-92D3B4CE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667375"/>
            <a:ext cx="2409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5ABFF84-AD86-4FF1-A677-E29EBBDF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5867400"/>
            <a:ext cx="531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9DEE5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0333870-9A45-40BF-B2F9-5A4924BD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29325"/>
            <a:ext cx="10734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业界分数只作测量口径背景；任务集、模型、Harness 或评测方法不同，不作直接优劣比较。</a:t>
            </a:r>
          </a:p>
        </p:txBody>
      </p:sp>
    </p:spTree>
    <p:extLst>
      <p:ext uri="{BB962C8B-B14F-4D97-AF65-F5344CB8AC3E}">
        <p14:creationId xmlns:p14="http://schemas.microsoft.com/office/powerpoint/2010/main" val="86656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DEEE75-A368-4DF2-B2DA-86930F0E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1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DB1FF"/>
                </a:solidFill>
                <a:latin typeface="Arial"/>
                <a:ea typeface="Arial"/>
                <a:cs typeface="Arial"/>
              </a:rPr>
              <a:t>ARCHGRAPH  /  09     附录 B · 业界证据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69264-B6EF-4867-937A-B92033C5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业界实践提示：专家帮助 Agent 在生产级项目中工作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E5CD4-0719-468F-991B-46EAC2A5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87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BC7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BC7D5"/>
                </a:solidFill>
                <a:latin typeface="Arial"/>
                <a:ea typeface="Arial"/>
                <a:cs typeface="Arial"/>
              </a:rPr>
              <a:t>案例启发我们把专家脑中的项目地图变成可共享、可检查的外部模型。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0F2B3-AEAB-4441-940E-639B47AC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" y="6438900"/>
            <a:ext cx="11010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75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FA8E4-58CB-4A6C-A94C-9558F3C5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BC7D5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BC7D5"/>
                </a:solidFill>
                <a:latin typeface="Arial"/>
                <a:ea typeface="Arial"/>
                <a:cs typeface="Arial"/>
              </a:rPr>
              <a:t>ARCHGRAPH · CODING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8FBA7-FDEC-4DA5-9DC7-50083E46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4960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654BF-768E-4E78-B394-E697129D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09725"/>
            <a:ext cx="4610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0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C0FF"/>
                </a:solidFill>
                <a:latin typeface="Arial"/>
                <a:ea typeface="Arial"/>
                <a:cs typeface="Arial"/>
              </a:rPr>
              <a:t>OPENAI · HARNESS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7D97F-B854-43BE-924B-6499B916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478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B4ECC-4411-44C3-9B61-7DCED828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71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工程师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619EF-8F1C-45E8-B0C0-4BC53847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14675" y="2000250"/>
            <a:ext cx="953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506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69954-4857-4987-BED6-3F7A75B6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478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5 个月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82EA0-25A6-4A1B-99E0-F699459A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持续迭代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A73BD-50DB-4E30-8C60-3090A22C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48350" y="2000250"/>
            <a:ext cx="953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506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8BA28-18FC-40C3-B8D1-D379BBDF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478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≈ 100 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11FFE-378C-49DC-ABA5-AFE14F62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71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代码行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D3BA9-8520-47B0-ABDD-13277EEE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82025" y="2000250"/>
            <a:ext cx="953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506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CEEDC-8E9A-4209-A8C7-A46D877C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478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DB1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DB1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161D3-C79F-4889-AE8F-E0038881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手写代码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D5E58D-AA7B-4998-9B97-9D1C7A61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71825"/>
            <a:ext cx="10896600" cy="111442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1A2E44"/>
          </a:solidFill>
          <a:ln xmlns:a="http://schemas.openxmlformats.org/drawingml/2006/main" w="9525">
            <a:solidFill>
              <a:srgbClr val="3B506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BCB7A-67F7-4E7E-9703-229236D0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956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1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DB1FF"/>
                </a:solidFill>
                <a:latin typeface="Arial"/>
                <a:ea typeface="Arial"/>
                <a:cs typeface="Arial"/>
              </a:rPr>
              <a:t>文章报告的工程做法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456EB-5159-4A30-B7BA-0A65E0C8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667125"/>
            <a:ext cx="23431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43A53"/>
          </a:solidFill>
          <a:ln xmlns:a="http://schemas.openxmlformats.org/drawingml/2006/main" w="9525">
            <a:solidFill>
              <a:srgbClr val="50657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00D190-DE43-48BC-AD9D-378CFEBF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242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设计开发环境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C03617-3D58-4861-91A7-B92A7673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14750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87719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DB1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DB1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4D0C32-D73F-4376-A4FA-E6A7D96D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67125"/>
            <a:ext cx="23431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43A53"/>
          </a:solidFill>
          <a:ln xmlns:a="http://schemas.openxmlformats.org/drawingml/2006/main" w="9525">
            <a:solidFill>
              <a:srgbClr val="50657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CD3E5D-E761-4F42-81C3-9852E030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242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定义意图与架构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D3BCB5-C285-4DE3-90F6-6716CA0F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14750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87719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DB1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DB1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58C790-774A-4641-BB14-DD10103A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67125"/>
            <a:ext cx="23431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43A53"/>
          </a:solidFill>
          <a:ln xmlns:a="http://schemas.openxmlformats.org/drawingml/2006/main" w="9525">
            <a:solidFill>
              <a:srgbClr val="50657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FD82F2-BABB-4265-86BF-358231F7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7242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设置自动验收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3E42BB-7C0C-43D0-BB82-E47F7B6D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714750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87719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DB1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DB1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2CFB7C-81CB-49FC-B4F1-CE339B15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67125"/>
            <a:ext cx="23431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43A53"/>
          </a:solidFill>
          <a:ln xmlns:a="http://schemas.openxmlformats.org/drawingml/2006/main" w="9525">
            <a:solidFill>
              <a:srgbClr val="50657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F940FA-407D-4427-8F22-FA77BED0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242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用反馈循环修正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001363-285E-4600-A853-C6363F75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523875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20354C"/>
          </a:solidFill>
          <a:ln xmlns:a="http://schemas.openxmlformats.org/drawingml/2006/main" w="9525">
            <a:solidFill>
              <a:srgbClr val="465B7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D3D9FD-86E0-4B0B-8C06-A31BE9C9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C59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C59E"/>
                </a:solidFill>
                <a:latin typeface="Arial"/>
                <a:ea typeface="Arial"/>
                <a:cs typeface="Arial"/>
              </a:rPr>
              <a:t>我们的解释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201C36-B186-4E70-B9DA-C5B27A7E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81575"/>
            <a:ext cx="4876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专家掌握项目地图，才能检查 Agent 是否走在正确路径上。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E2C364-6C26-4546-A42F-A5DE3F5C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把地图外化为本体和图谱，专家可以更深入地指导和校准。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DAB0C4-DD8C-4109-A09A-E02782A7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81525"/>
            <a:ext cx="535305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20354C"/>
          </a:solidFill>
          <a:ln xmlns:a="http://schemas.openxmlformats.org/drawingml/2006/main" w="9525">
            <a:solidFill>
              <a:srgbClr val="465B72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DF0F9F-244F-42AA-B556-749CDA21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14875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9CB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9CBB6"/>
                </a:solidFill>
                <a:latin typeface="Arial"/>
                <a:ea typeface="Arial"/>
                <a:cs typeface="Arial"/>
              </a:rPr>
              <a:t>待验证的扩展收益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1193B5-C408-4F66-9F9D-A2521175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81575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图谱给工程师一个可学习的领域模型；低年资成员可能借此逐步成长。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A196BC-9F76-417A-993F-C83A684B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3402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当前没有学习成效数据，作为待验证假设。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074537-4964-494B-AE39-8BD0E96A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153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EBBC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BC8"/>
                </a:solidFill>
                <a:latin typeface="Arial"/>
                <a:ea typeface="Arial"/>
                <a:cs typeface="Arial"/>
              </a:rPr>
              <a:t>案例数字为 OpenAI 团队自述；“专家脑中的图”是我们的解释，不是来源原句。</a:t>
            </a:r>
          </a:p>
        </p:txBody>
      </p:sp>
    </p:spTree>
    <p:extLst>
      <p:ext uri="{BB962C8B-B14F-4D97-AF65-F5344CB8AC3E}">
        <p14:creationId xmlns:p14="http://schemas.microsoft.com/office/powerpoint/2010/main" val="4754064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2026-10-07T08:04:00.2510000Z</dcterms:created>
  <dcterms:modified xsi:type="dcterms:W3CDTF">2026-10-07T08:04:00.2510000Z</dcterms:modified>
</coreProperties>
</file>