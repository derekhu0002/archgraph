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5a1cd535ef4dba" /><Relationship Type="http://schemas.openxmlformats.org/officeDocument/2006/relationships/extended-properties" Target="/docProps/app.xml" Id="Rac53b7a5bef940b9" /><Relationship Type="http://schemas.openxmlformats.org/officeDocument/2006/relationships/officeDocument" Target="/ppt/presentation.xml" Id="R69bcbd61a746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d94549fc9489d"/>
  </p:sldMasterIdLst>
  <p:notesMasterIdLst>
    <p:notesMasterId xmlns:r="http://schemas.openxmlformats.org/officeDocument/2006/relationships" r:id="R9ab6b69e164b49ca"/>
  </p:notesMasterIdLst>
  <p:sldIdLst>
    <p:sldId xmlns:r="http://schemas.openxmlformats.org/officeDocument/2006/relationships" id="256" r:id="Rf3162e2967cb4123"/>
    <p:sldId xmlns:r="http://schemas.openxmlformats.org/officeDocument/2006/relationships" id="257" r:id="Rfe9764e81ffc45c4"/>
    <p:sldId xmlns:r="http://schemas.openxmlformats.org/officeDocument/2006/relationships" id="258" r:id="Rd53f8d3a1c2b4085"/>
    <p:sldId xmlns:r="http://schemas.openxmlformats.org/officeDocument/2006/relationships" id="259" r:id="Rc83d67ceafbd4e82"/>
    <p:sldId xmlns:r="http://schemas.openxmlformats.org/officeDocument/2006/relationships" id="260" r:id="Rc30802ca0959499d"/>
    <p:sldId xmlns:r="http://schemas.openxmlformats.org/officeDocument/2006/relationships" id="261" r:id="R8fd8f46f696442f9"/>
    <p:sldId xmlns:r="http://schemas.openxmlformats.org/officeDocument/2006/relationships" id="262" r:id="R088ce0acf26b4a1a"/>
    <p:sldId xmlns:r="http://schemas.openxmlformats.org/officeDocument/2006/relationships" id="263" r:id="R0dc825b659454b11"/>
    <p:sldId xmlns:r="http://schemas.openxmlformats.org/officeDocument/2006/relationships" id="264" r:id="R9879fd96be004d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c52c360b540d8" /><Relationship Type="http://schemas.openxmlformats.org/officeDocument/2006/relationships/slideMaster" Target="/ppt/slideMasters/slideMaster1.xml" Id="R063d94549fc9489d" /><Relationship Type="http://schemas.openxmlformats.org/officeDocument/2006/relationships/notesMaster" Target="/ppt/notesMasters/notesMaster1.xml" Id="R9ab6b69e164b49ca" /><Relationship Type="http://schemas.openxmlformats.org/officeDocument/2006/relationships/presProps" Target="/ppt/presProps.xml" Id="R0ff3c1eb28bc4cbc" /><Relationship Type="http://schemas.openxmlformats.org/officeDocument/2006/relationships/tableStyles" Target="/ppt/tableStyles.xml" Id="R6ec8e47ecc5f4cf0" /><Relationship Type="http://schemas.openxmlformats.org/officeDocument/2006/relationships/slide" Target="/ppt/slides/slide1.xml" Id="Rf3162e2967cb4123" /><Relationship Type="http://schemas.openxmlformats.org/officeDocument/2006/relationships/slide" Target="/ppt/slides/slide2.xml" Id="Rfe9764e81ffc45c4" /><Relationship Type="http://schemas.openxmlformats.org/officeDocument/2006/relationships/slide" Target="/ppt/slides/slide3.xml" Id="Rd53f8d3a1c2b4085" /><Relationship Type="http://schemas.openxmlformats.org/officeDocument/2006/relationships/slide" Target="/ppt/slides/slide4.xml" Id="Rc83d67ceafbd4e82" /><Relationship Type="http://schemas.openxmlformats.org/officeDocument/2006/relationships/slide" Target="/ppt/slides/slide5.xml" Id="Rc30802ca0959499d" /><Relationship Type="http://schemas.openxmlformats.org/officeDocument/2006/relationships/slide" Target="/ppt/slides/slide6.xml" Id="R8fd8f46f696442f9" /><Relationship Type="http://schemas.openxmlformats.org/officeDocument/2006/relationships/slide" Target="/ppt/slides/slide7.xml" Id="R088ce0acf26b4a1a" /><Relationship Type="http://schemas.openxmlformats.org/officeDocument/2006/relationships/slide" Target="/ppt/slides/slide8.xml" Id="R0dc825b659454b11" /><Relationship Type="http://schemas.openxmlformats.org/officeDocument/2006/relationships/slide" Target="/ppt/slides/slide9.xml" Id="R9879fd96be00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4a9b636cb94f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0b568e86841ed" /><Relationship Type="http://schemas.openxmlformats.org/officeDocument/2006/relationships/notesMaster" Target="/ppt/notesMasters/notesMaster1.xml" Id="R0fc03de5659a4c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56a2150f2641c2" /><Relationship Type="http://schemas.openxmlformats.org/officeDocument/2006/relationships/notesMaster" Target="/ppt/notesMasters/notesMaster1.xml" Id="R14dc46ac7f8a4b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73a6caea64985" /><Relationship Type="http://schemas.openxmlformats.org/officeDocument/2006/relationships/notesMaster" Target="/ppt/notesMasters/notesMaster1.xml" Id="R2d86c113f452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da64473d44742" /><Relationship Type="http://schemas.openxmlformats.org/officeDocument/2006/relationships/notesMaster" Target="/ppt/notesMasters/notesMaster1.xml" Id="Refd0e2be562946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329d9bf1a14ebc" /><Relationship Type="http://schemas.openxmlformats.org/officeDocument/2006/relationships/notesMaster" Target="/ppt/notesMasters/notesMaster1.xml" Id="R1859612756f24a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4ae9ad91846dc" /><Relationship Type="http://schemas.openxmlformats.org/officeDocument/2006/relationships/notesMaster" Target="/ppt/notesMasters/notesMaster1.xml" Id="Rb5997f201652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20467fe578455c" /><Relationship Type="http://schemas.openxmlformats.org/officeDocument/2006/relationships/notesMaster" Target="/ppt/notesMasters/notesMaster1.xml" Id="R111d66f58e8e44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233f20fd3945bd" /><Relationship Type="http://schemas.openxmlformats.org/officeDocument/2006/relationships/notesMaster" Target="/ppt/notesMasters/notesMaster1.xml" Id="Rad1a87800d1b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e7e66cfaee47d7" /><Relationship Type="http://schemas.openxmlformats.org/officeDocument/2006/relationships/notesMaster" Target="/ppt/notesMasters/notesMaster1.xml" Id="Rf56da090558b4e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Layer 描述跨行业的业务价值活动：明确目标与验收 → 理解与规划 → 获取所需上下文 → 执行与迭代 → 验证与人类校准 → 交付与沉淀。此层不指定文件搜索、RAG 或 Graph RAG 等实现。等待工具/用户、异步任务与停止均是会话执行状态，不等同业务成功。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 Application Layer 通用架构，前页是 Business Layer 业务活动；垂直映射表示多个应用组件协同支撑一个业务阶段，不是一对一产品部署图。Harness 编排会话、权限、隔离、工具与反馈。上下文访问可按任务选择普通检索（代码搜索/文件/全文）、传统 RAG（切块/向量或词法召回/重排），或 Graph RAG（实体关系/图遍历/子图上下文）。三者是可组合或替代的应用层实现选项；通用 Harness 不必自带 RAG。裁判包括测试、评审与任务指标。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业务层构建点：Schema/本体把领域词汇和关系显式化；意图图谱沉淀需求、决策、架构、状态、指标、验收与证据；业务阶段、应用能力和Assessment指标可建立关系。应用层构建点：Graph MCP 提供语义/结构/上下文访问与受护栏写入；去重、无损、墓碑、验收测试与commit/path溯源形成知识治理；联邦中心支持发现、授权、按引用跨图读取。普通 Coding Agent 可以不使用 Graph RAG，Graph 是按需能力与治理方案，不是业务流程的替代品。质量维度 coverage/structure/provenance/freshness/redundancy 是拟议评测剖面，并非均已测。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指标不是只属于一个层级：业务层定义结果与阶段，应用层提供具体观测点。表中每行将Business Layer环节映射到Application Layer能力，再列相应Assessment指标及当前测量状态。部分映射可能横跨多个阶段；完整20项见附录。当前状态 measured 4 / partial 5 / not_measured 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/ Graph RAG 是应用层按需选择的知识访问能力，归属于Context Access组件，不是Business Layer新增业务阶段，也不是所有Agent Harness的必选功能。通用知识访问流程可包括来源接入与治理、表示与索引、召回与排序、上下文组装、生成与引用/拒答、评估回流。普通检索可直接搜索代码/文件/全文；RAG常以文本块+向量/词法召回；Graph RAG则在实体关系和图结构上做语义检索与扩展。ArchGraph关注本体语义、图谱治理、Graph MCP与可溯源证据；社区索引能力仍部分覆盖。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按应用能力呈现测评：Context Access 检索R@1 94.6→98.7（同项目向量基线到重排）；MCP/工具成功率10/10来自自建小样本；记忆题集31/31，拒答正确率100%；读路径2.0–2.5s、写约1.1s。10题A/B差值工具−43%、轮次−39%、token−18%受OFF组grep失败与慢速回退污染，仅方向性观察。不能由局部检索提升推导总体Coding成功率提升；8项整体基准未运行。下一步同模型/任务/Harness做挂载Graph与不挂载的对照，并追踪知识覆盖/结构/溯源/新鲜度/冗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联邦架构依据 federation registry 和 external graph query：中心维护成员、能力、接口与授权元数据；跨成员读取返回引用，项目图谱仍是其唯一事实源。当前快照：23 个成员、45 条授权关系，SOC-DEMO 实读 386 个元素。组织级结果来自互操作，不要求合并各项目图。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完整指标表依据意图图谱 aos-as-* measurement-status / measurement-result；状态与结果在生成前逐项对照。公开基准区间仅用于比较口径，不替代本项目实测。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业界信号与工程案例只用于提出问题、总结可复用做法，不可合并成单一效果预测。</a:t>
            </a:r>
          </a:p>
          <a:p xmlns:a="http://schemas.openxmlformats.org/drawingml/2006/main">
            <a:r>
              <a:t>来源与口径：</a:t>
            </a:r>
          </a:p>
          <a:p xmlns:a="http://schemas.openxmlformats.org/drawingml/2006/main">
            <a:r>
              <a:t>GitClear, 2025 report, 211 million changed lines across 2020–2024; duplicate-code trend is observational and does not establish AI as the sole cause: https://staging2.gitclear.com/ai_assistant_code_quality_2025_research</a:t>
            </a:r>
          </a:p>
          <a:p xmlns:a="http://schemas.openxmlformats.org/drawingml/2006/main">
            <a:r>
              <a:t>DORA 2025, 30% report little or no trust in AI-generated code: https://dora.dev/insights/managing-ai-dependency/</a:t>
            </a:r>
          </a:p>
          <a:p xmlns:a="http://schemas.openxmlformats.org/drawingml/2006/main">
            <a:r>
              <a:t>Faros AI, telemetry across 1,255 teams and 10,000+ developers; high-adoption teams showed PR review time +91% and PRs +98%: https://www.faros.ai/blog/ai-software-engineering</a:t>
            </a:r>
          </a:p>
          <a:p xmlns:a="http://schemas.openxmlformats.org/drawingml/2006/main">
            <a:r>
              <a:t>METR randomized controlled trial: 16 experienced open-source developers, 246 tasks, early-2025 tools; measured 19% slower while participants estimated 20% faster: https://metr.org/Early_2025_AI_Experienced_OS_Devs_Study-paper.pdf</a:t>
            </a:r>
          </a:p>
          <a:p xmlns:a="http://schemas.openxmlformats.org/drawingml/2006/main">
            <a:r>
              <a:t>These sources use different methods and populations; do not treat them as one causal estimate.</a:t>
            </a:r>
          </a:p>
          <a:p xmlns:a="http://schemas.openxmlformats.org/drawingml/2006/main">
            <a:r>
              <a:t>来源：OpenAI Harness Engineering (3 engineers, about five months, roughly one million lines, no manually written code): https://openai.com/index/harness-engineering/</a:t>
            </a:r>
          </a:p>
          <a:p xmlns:a="http://schemas.openxmlformats.org/drawingml/2006/main">
            <a:r>
              <a:t>Bun Rust rewrite (11 days, 6,778 commits including merges, about $165,000 API-price estimate): https://bun.com/blog/bun-in-rust</a:t>
            </a:r>
          </a:p>
          <a:p xmlns:a="http://schemas.openxmlformats.org/drawingml/2006/main">
            <a:r>
              <a:t>Anthropic large-scale migration six-step method: https://claude.com/resources/articles/ai-code-migration</a:t>
            </a:r>
          </a:p>
          <a:p xmlns:a="http://schemas.openxmlformats.org/drawingml/2006/main">
            <a:r>
              <a:t>Codex CLI native rewrite discussion: https://github.com/openai/codex/discussions/1174</a:t>
            </a:r>
          </a:p>
          <a:p xmlns:a="http://schemas.openxmlformats.org/drawingml/2006/main">
            <a:r>
              <a:t>DHH TerminalTextEffects figure is a reported single demonstration, not a controlled comparison; it is not used to infer typical productivity.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bfbbe320548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127669c9f04a4e" /><Relationship Type="http://schemas.openxmlformats.org/officeDocument/2006/relationships/slideLayout" Target="/ppt/slideLayouts/slideLayout1.xml" Id="R0ef92ae26df444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92ae26df444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c10bc44a34033" /><Relationship Type="http://schemas.openxmlformats.org/officeDocument/2006/relationships/notesSlide" Target="/ppt/notesSlides/notesSlide1.xml" Id="R1906a3959a0a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1e511ee734090" /><Relationship Type="http://schemas.openxmlformats.org/officeDocument/2006/relationships/notesSlide" Target="/ppt/notesSlides/notesSlide2.xml" Id="R72934148303e46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3c25e4be14230" /><Relationship Type="http://schemas.openxmlformats.org/officeDocument/2006/relationships/notesSlide" Target="/ppt/notesSlides/notesSlide3.xml" Id="R9b2e3e558eaf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2d20b96ec4121" /><Relationship Type="http://schemas.openxmlformats.org/officeDocument/2006/relationships/notesSlide" Target="/ppt/notesSlides/notesSlide4.xml" Id="Refeae8e0d7f5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fc679482449f2" /><Relationship Type="http://schemas.openxmlformats.org/officeDocument/2006/relationships/notesSlide" Target="/ppt/notesSlides/notesSlide5.xml" Id="Rd162360b186f4f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cfa53b3d4284" /><Relationship Type="http://schemas.openxmlformats.org/officeDocument/2006/relationships/notesSlide" Target="/ppt/notesSlides/notesSlide6.xml" Id="Red955bdc6d664f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a72cdd1a84211" /><Relationship Type="http://schemas.openxmlformats.org/officeDocument/2006/relationships/notesSlide" Target="/ppt/notesSlides/notesSlide7.xml" Id="Ra73d82456d2a47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e40b2bb6845d1" /><Relationship Type="http://schemas.openxmlformats.org/officeDocument/2006/relationships/notesSlide" Target="/ppt/notesSlides/notesSlide8.xml" Id="Ra2ba3fbbcea040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dbd0c8974858" /><Relationship Type="http://schemas.openxmlformats.org/officeDocument/2006/relationships/notesSlide" Target="/ppt/notesSlides/notesSlide9.xml" Id="Rd4ef3d4b7b4847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6583E6-22C2-4AB4-BB1A-3FEF96EA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01 · 通用业务价值流程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D607-6316-4427-8875-CD97A9E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Coding Agent 业务价值流：从需求到可验证交付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CE26E-FC02-4418-9F45-2574A015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Business Layer：跨业务场景的价值活动；检索是活动之一，具体实现留给应用架构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29FEC-0630-445F-87EF-69497A3B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4D6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69243-35BB-497A-9993-6589C8CA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BC7D5"/>
                </a:solidFill>
                <a:latin typeface="Arial"/>
                <a:ea typeface="Arial"/>
                <a:cs typeface="Arial"/>
              </a:rPr>
              <a:t>ARCHGRAPH  / 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E03DA-02A9-4D15-9124-72069F8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BC7D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BBC7D5"/>
                </a:solidFill>
                <a:latin typeface="Arial"/>
                <a:ea typeface="Arial"/>
                <a:cs typeface="Arial"/>
              </a:rPr>
              <a:t>视图 uml2-coding-statemachine-view-002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18FB1-13B1-47AA-B339-14D3CB3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24574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24375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2747C-C89C-439C-8D62-58B17C30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9D4E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D4E2"/>
                </a:solidFill>
                <a:latin typeface="Arial"/>
                <a:ea typeface="Arial"/>
                <a:cs typeface="Arial"/>
              </a:rPr>
              <a:t>适用于不同业务领域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8A7CA-F0AA-4CCA-81DF-C007D73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57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2ADD5-F62E-4722-83A7-943F98C0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90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FDAC5-DB7D-445F-8B9A-CC074117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6B4E1-7649-4E60-A0B8-01A00F7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266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需求与验收口径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FE877-81AC-4D13-AE73-D62A7557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目标、约束、完成定义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9752D-0D9A-4498-8D5D-2B34C41D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19325" y="312420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1FEF9-954E-44C9-A5A7-A4FDB931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71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18CC7-644B-47B0-97AD-90F1CA0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95550"/>
            <a:ext cx="157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DD4F2-F6B4-47C8-9067-78AE4B2F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C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E4E5E-F2B7-4319-B7CE-3F359CED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600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9471E-83A7-46E6-868D-301E63E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95600"/>
            <a:ext cx="1266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理解与计划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AB9E5-4454-4492-9B0E-1CBBA14C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242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拆解任务、确定顺序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82825-E50F-4D00-B0BB-19BE5CE6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3850" y="312420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0BC5A-F89B-4AAA-B344-552DD268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2D462-EA0D-4C68-B284-DBF574B0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157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9A431-AEC2-4AC1-974A-AB1228F3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90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6C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5D3D5-6238-4B3D-993D-E401FA6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0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1B5DE-4E76-4D0C-A954-8AE9E648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1266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检索上下文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EE886-1BE6-4B66-9B75-3CB063B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242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代码、文档、知识图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E155E-7B9C-4DDF-936B-F6099FA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48375" y="312420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250E4-4059-467F-BDAC-BB0E26D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71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3F4E04-F43A-49DE-8B0D-E13987B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157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44C71"/>
          </a:solidFill>
          <a:ln xmlns:a="http://schemas.openxmlformats.org/drawingml/2006/main" w="9525">
            <a:solidFill>
              <a:srgbClr val="7896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ABD1B-85CC-461C-9F04-489AD63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00CD1-8A94-4F04-B1DA-DCED83D2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00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9C055-8283-494F-8818-E19BC47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1266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执行与迭代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128C4E-EBA1-4F28-8B69-82F32C8C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242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改代码、用工具、读结果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64ACF6-9BDB-4F88-A225-D9C7FDA5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312420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F0AA79-68A5-49AD-9C39-84590A59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5B3E44-3577-4A10-8A97-66D88995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157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F5E004-DDEE-434A-BE99-599699E9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90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4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980E2A-40AE-452C-8513-0F4D864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0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C06776-5BB2-4441-9937-74C51E8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1266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验证与人审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29C8F3-66DC-48C2-A96B-A70785F9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242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测试、评审、必要时返工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4E8325-801D-4C09-B843-A240A69A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77425" y="3124200"/>
            <a:ext cx="2667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1A9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864BAE-F4C2-44B0-9368-934B1C3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71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1A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1A9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0DC0F8-8EC8-4067-BA78-8588E27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95550"/>
            <a:ext cx="157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344A"/>
          </a:solidFill>
          <a:ln xmlns:a="http://schemas.openxmlformats.org/drawingml/2006/main" w="9525">
            <a:solidFill>
              <a:srgbClr val="4B607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F20618-ECEA-4DC1-9DF5-6333A244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90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56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54B910-12BA-47DE-84E4-7CD6B78C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00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2F3C2A-250D-4139-B665-CA2AD3A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895600"/>
            <a:ext cx="1266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交付与沉淀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5503A1-F0DF-4503-B551-72EC0AC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242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可验收变更、可复用经验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AEBE0-05D2-4823-AA64-71A46CC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1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1FF"/>
                </a:solidFill>
                <a:latin typeface="Arial"/>
                <a:ea typeface="Arial"/>
                <a:cs typeface="Arial"/>
              </a:rPr>
              <a:t>Business Layer · 业务价值主路径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C77BFE-31B4-422D-B504-6849F80D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24325"/>
            <a:ext cx="657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3047"/>
          </a:solidFill>
          <a:ln xmlns:a="http://schemas.openxmlformats.org/drawingml/2006/main" w="9525">
            <a:solidFill>
              <a:srgbClr val="3F557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FAD53D-B145-4F5B-B1B2-03CF07EF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1814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4DD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4DDEA"/>
                </a:solidFill>
                <a:latin typeface="Arial"/>
                <a:ea typeface="Arial"/>
                <a:cs typeface="Arial"/>
              </a:rPr>
              <a:t>执行反馈：Acting → AwaitingResult → 结果返回 → 再规划 / 再执行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ECC31F-17CF-4951-9960-80631AE5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3238500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3046"/>
          </a:solidFill>
          <a:ln xmlns:a="http://schemas.openxmlformats.org/drawingml/2006/main" w="9525">
            <a:solidFill>
              <a:srgbClr val="3F5570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7E5B96-FAFF-4C3C-8686-7C7417BF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9C0F43-4F68-47B5-A92B-17DDA8B7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43475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人类校准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361D67-5EAE-4960-AA63-12F6A66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720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补充信息 / 评审 / 批准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E0647A-1607-4E8C-A95C-B9751630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67275"/>
            <a:ext cx="3238500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3046"/>
          </a:solidFill>
          <a:ln xmlns:a="http://schemas.openxmlformats.org/drawingml/2006/main" w="9525">
            <a:solidFill>
              <a:srgbClr val="3F5570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561B60-B6DB-4EFC-BB5E-5399719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9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D3415E-5BEF-422F-9029-2A221AA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43475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异步并行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496515-C520-4E5E-9AA9-34F8541E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720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后台任务不阻塞主回合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67F7F4-4205-4383-896C-D823BB7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67275"/>
            <a:ext cx="3238500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3046"/>
          </a:solidFill>
          <a:ln xmlns:a="http://schemas.openxmlformats.org/drawingml/2006/main" w="9525">
            <a:solidFill>
              <a:srgbClr val="3F5570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3F6F8E-9B14-4785-9246-8736840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B99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2E3770-24CB-4EB6-A999-152F524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943475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终止判断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8A4129-BB22-419A-B674-8443DA8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1720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3D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D3DF"/>
                </a:solidFill>
                <a:latin typeface="Arial"/>
                <a:ea typeface="Arial"/>
                <a:cs typeface="Arial"/>
              </a:rPr>
              <a:t>Stopped 仅表示会话结束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FAE6F5-0561-407B-BCA4-652857F3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3882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5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C59E"/>
                </a:solidFill>
                <a:latin typeface="Arial"/>
                <a:ea typeface="Arial"/>
                <a:cs typeface="Arial"/>
              </a:rPr>
              <a:t>评价目标：可验证、可接受、可持续改进的交付结果。</a:t>
            </a:r>
          </a:p>
        </p:txBody>
      </p:sp>
    </p:spTree>
    <p:extLst>
      <p:ext uri="{BB962C8B-B14F-4D97-AF65-F5344CB8AC3E}">
        <p14:creationId xmlns:p14="http://schemas.microsoft.com/office/powerpoint/2010/main" val="965419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A72851D-153B-49C8-9181-54E1A84B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02 · APPLICATION LAYER / 通用 HARNESS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F0528-4F09-4283-BA30-E0DB2704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通用 Coding Agent 应用框架：以 Harness 连接编排、知识、工具与裁判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8411C-6EF6-49FF-84F2-C9B4D0B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Layer 承载业务价值流；知识访问是可选能力，架构不要求必须采用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1C08C-8A40-494B-A443-D161757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1D587-ACA7-4744-BB6D-56DD107B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910CA-7BD8-4FB2-A477-6B6AEE78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A16E2-1235-4D22-8DD6-E057FC2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BUSINESS LAYER  /  业务价值活动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F8E15-1098-4482-85BC-30A0A49E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16954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A1DA3-15F4-481D-B950-D9F2EC28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42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95CBB-A886-4999-B4CA-E37BA369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74C1B-EFCA-468D-826E-8289EFC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需求与验收口径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411FA-F66F-43A5-A461-90B385F5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目标、约束、完成定义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D0012-F1C6-4481-8325-3EB275BD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14525"/>
            <a:ext cx="16954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955B1-1165-4CED-8741-A670A8D6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981200"/>
            <a:ext cx="342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145B5-69F2-4766-906B-C014871E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90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BC85D-7EC1-44D1-BC1F-4BF6C5CB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5262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理解与计划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78E67-B524-4AF1-B0B4-99AC6EE6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098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拆解任务、确定顺序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61289-2AAA-4FA6-9436-71D08014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14525"/>
            <a:ext cx="16954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AAB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744DB-EAD1-4DED-B8D3-2F52D8FE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42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24705-86C5-47C8-B828-74771861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5CE83-ADD0-4B31-ADA9-793B69CF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CDFE3-3C34-4352-B8BE-EFCF6029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代码、文档、知识图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5F4E1-CCE9-4D7C-A5A3-9FA5F8C1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14525"/>
            <a:ext cx="16954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66895-ECB9-448D-94E5-A920138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81200"/>
            <a:ext cx="342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BB21F-3F95-4216-A65C-07C1022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90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20A93-1290-47E8-A3C6-6DD6B7F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5262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执行与迭代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A124D-5E1B-456B-AAD2-F0781E6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改代码、用工具、读结果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44CF6-91CE-4E74-9CE9-FB90C731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14525"/>
            <a:ext cx="16954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B727C-B98C-41E6-9202-C91AF991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342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739B6-B5E0-4CCE-BA32-6BC9CCA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90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E95B6-3AC9-446E-A4EA-DD479661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验证与人审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8CA5A-993C-47B9-88C3-4EF06243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测试、评审、必要时返工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BD380-E11B-48D6-A0E1-B698C828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14525"/>
            <a:ext cx="16954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8C716-6881-4A5D-95E0-54D49C87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981200"/>
            <a:ext cx="342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68736-6A94-4DAB-A982-6C7482E6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90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063CE-452A-4AF1-83BE-F6E7DD8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95262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交付与沉淀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99325E-FE25-4BAB-9171-7BBB1C43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098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可验收变更、可复用经验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3D0215-0CF4-4CD8-92BA-A914498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↓ 同一业务活动由多个应用组件协作支撑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289FDA-7F07-49A9-B467-04AF367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F8CA33-288E-448D-B6B6-7CA67B30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LAYER  /  通用 Coding Agent Harness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BDED68-A52E-46AB-A4A2-45F49A6E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79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Session Loop · Policy · Sandbox · Event / Trace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F7FEB4-8183-4BCE-85D5-4047E5C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0175" y="24955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C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023154-7475-4D46-8790-A50BE761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695450" cy="1076325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8013B9-006D-43AA-802A-2AC88404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540A0C-5A9F-4427-A373-DB807C3F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8BF4DC-6486-423F-A58C-78970B80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F0FCA1-13C3-43AD-9073-6BD02275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入口 / 会话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DF4512-34CE-4D2D-A827-014A520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任务输入 · 工作区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DFD9E9-F1EE-48F3-B102-173FB22C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目标 / 人类决策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F4D284-BCC1-46B5-98C7-A1681C74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47900" y="3857625"/>
            <a:ext cx="180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F17D66-96A3-4A2E-BB2E-7D05467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14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FACADE-0EBF-4A09-A3FD-19B1DE0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6600" y="24955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C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17D8F0-54EB-4B81-B022-9151F947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33750"/>
            <a:ext cx="1695450" cy="1076325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C9EA29-3037-4B63-BB2C-853CB7A6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33750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7E8770-5033-4D91-8186-5A0E527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90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3DC1D5-8722-46F2-862E-1446139D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81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C70786-0B60-4B77-8D77-7269D3C8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3813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627DAF-7D83-4C9D-9310-C27708E7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拆解 · 计划状态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07332C-2DE4-4537-AC92-8F430173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43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状态 / 下一步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A0E235-9CDC-4C8D-ABC0-F93540BE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4325" y="3857625"/>
            <a:ext cx="180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79EE15-F387-4BB1-BA0B-F541597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1CD70C-EE80-4C8F-B644-09E7BD3D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53025" y="24955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C2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1CCC9D-7162-4E91-90F7-FEEFA8AE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1695450" cy="1076325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5CCAA1-0BCD-42F4-9F83-CCE6DDCD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43653E-64B9-467A-9E0E-483831A2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092B4E-F6C0-4C36-9CD4-7C2607CC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81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E10409-AA91-408B-88F4-D6C812F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813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Context Access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7E65C2-EDB4-4482-B868-9CF077F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按需选择知识访问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3DC117-4678-4B28-9264-9B77BE0B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1466850" cy="1428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1FAA19-2FB2-406C-AB90-F2AF4A3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7667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普通检索 · 代码 / 文件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EF359C-DA9B-47BB-8CCB-B4E0104F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38600"/>
            <a:ext cx="1466850" cy="1428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6822E7-8504-4E33-88BE-3DBCFD10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386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RAG · 切块 / 召回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DEA793-9418-4A32-AEBD-FA94948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1466850" cy="1428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84CD37-0C93-4F6D-A844-54F7DBA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0052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Graph RAG · 实体 / 关系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C12BA2-18A4-4315-A350-A9F4CC4A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0" y="3857625"/>
            <a:ext cx="180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0E4AE4-F51B-43B9-B1DE-48A8A8D5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14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C70EFA-6ECB-44FE-B3C1-4226F67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24955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C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31EBF8-ED24-4695-9A82-739F1CFC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33750"/>
            <a:ext cx="1695450" cy="1076325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2EB8331-6746-4CE1-BD09-3D1671CD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33750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979550-90E0-444D-8661-3CBD36F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90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C12A4C-64AE-474E-8EC1-DAEC7A9B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81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367F6C-D0B3-4BF5-85C2-019D3225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工具适配器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DE6D4E-3082-43AC-9A9C-596B7FD0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38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IDE · Shell · Git · MCP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ECF53B-296F-4787-AE77-BFEF74BC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43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受限执行面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3FD638-FDB4-413A-8D86-0C2FEEB0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77175" y="3857625"/>
            <a:ext cx="180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5F8520-1741-46BF-A410-9806B95E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96C3DA-F082-4A41-9D08-C3D45C5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05875" y="24955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C2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31F871-C472-48F5-90F1-FCF93E69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1695450" cy="1076325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056D49-E532-4F20-A546-132D6D0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B27D54-B57D-4313-9632-1117D4A8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ADE46DF-2DD3-4CB9-8236-12379BE7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13ECAD0-EC7B-4B1F-8828-8307B04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813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裁判 / 人审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888D06F-7848-4026-BB39-DE9D0621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测试 · Review · 决策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DEED7C-FBF4-4E2F-AB37-C6A4F40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可执行质量门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8199B52-9DEB-45B4-9B13-1C70FD0A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53600" y="3857625"/>
            <a:ext cx="180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DEA858-C9F4-4D42-881F-6DBDD2E1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14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4F115E-592A-4A77-AEA8-1FE809B9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2495550"/>
            <a:ext cx="95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C2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37DDB6-1829-4D02-8F13-31C7AA51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33750"/>
            <a:ext cx="1695450" cy="1076325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9C140C-ACE8-4D84-9BE5-B83EAA93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33750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F64C66A-9C05-4208-8662-F3CAA51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90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77B035-4FD6-4683-B49D-7E4F70D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54F046-BA63-4BB7-AC25-421C7097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8137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交付 / 记忆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82608A-DCB7-416F-8B34-50BC3609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38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提交 · 证据 · 复用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1CAB11-48FE-4FF6-8CE8-F58A6BEF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43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Commit / Memory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D33811-C75F-4C67-B291-C91CDD2B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上下文源：代码仓 · 文档 · 历史决策 · 可授权知识图谱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BAC2660-8AA2-498C-A4AE-1159E05A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434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可执行裁判：单测 / 集成测 / 代码评审 / 任务成功定义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74E4FF-67E6-4AA3-9908-1DA4E90B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9753600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0B34BCC-8FDB-4C95-9D34-FEC4ADA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Context Access 的三种可选方式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D03293-DE58-4227-A719-A6759F92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19675"/>
            <a:ext cx="634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普通检索　→　RAG　→　Graph RAG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8A4157D-3F1C-4930-A783-276462A5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不要求每个 Agent 都使用 RAG；按信息结构、关系推理与可追溯要求选型。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946702-4DC9-44D9-BBEF-6AE71DA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工程实践强调：结构化上下文 · 自动验收 · 可控工具 · 持续反馈</a:t>
            </a:r>
          </a:p>
        </p:txBody>
      </p:sp>
    </p:spTree>
    <p:extLst>
      <p:ext uri="{BB962C8B-B14F-4D97-AF65-F5344CB8AC3E}">
        <p14:creationId xmlns:p14="http://schemas.microsoft.com/office/powerpoint/2010/main" val="502047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372F8C-6F08-4D07-BF05-BE7E709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03 · ARCHGRAPH / 两层构建点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BE3B9-3234-4693-BCED-8315149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ArchGraph 在两层中的构建点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1F39D-8EE2-4E5B-B360-F75DD341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Business Layer：把领域知识结构化；Application Layer：让 Agent 能检索、写入、验证与跨项目引用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E7E6-5B40-4F0A-AAC4-12816F18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05FBD-337B-40C7-A761-D12659A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C3EA1-9D8F-4414-BEC7-28E9E32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A3DB0-F6F5-4006-AE10-7313611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8800"/>
            <a:ext cx="10953750" cy="17526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8B572-E955-4A13-B8CB-9EBBDADF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DB4B2-21AB-4AD3-A6A7-F9796AB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242887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4563-35C5-43C7-B060-AE77E92F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812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领域本体 / 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E2E86-2465-4B3B-959B-5E8E341E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共享概念 · 关系 · 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56FA2-2AF1-418B-A532-03FAF6A5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48275" y="2495550"/>
            <a:ext cx="23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F26BF-DB6B-499D-913A-053A6D4D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7831A-9679-4930-8A69-EE50F3F0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242887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93CB7-E909-4C0A-8403-961FC69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812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项目意图图谱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5BDB-536E-406A-889D-CD24CE5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需求 · 决策 · 架构 · 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82B7A-091C-4BAA-B2E6-276DFB53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91475" y="2495550"/>
            <a:ext cx="23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8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89306-1F48-4880-81FC-3D9C9870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B2B6E-614B-4490-A0A2-EED3456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42887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FBFFF-E9CB-4DD4-9719-892A9F9C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812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价值与指标关系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248B5-6FB7-4C77-8806-D597147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阶段 ↔ 能力 ↔ Assessment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71E3F-19C1-464B-A0C0-87CE005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人类领域专家维护语义与事实；Agent 与业务流程共享同一知识表达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96200-26DD-4769-8199-3644169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10953750" cy="17907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C0DFC-44B4-4CC2-80E3-C4ED46C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D6D5A-01C4-4854-886E-F450A0C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29100"/>
            <a:ext cx="1971675" cy="790575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7A2E0-CD90-4FCE-B821-04C74F9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9577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Context Access / Graph MCP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6E126-E6B8-4EFD-BA15-052175A7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81525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语义 · 结构 · 子图与受控读写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9E4A32-B515-4243-B318-220DC883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19675" y="4619625"/>
            <a:ext cx="6572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CC4A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329B0-4C45-41F7-A9BD-47F34C65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476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E76D2-1C4A-4807-A1A6-646AB7B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29100"/>
            <a:ext cx="1971675" cy="790575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7CAFE-4C7B-4C66-8044-60F9FF59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9577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Knowledge Governance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52FD9-E83D-4F1A-A1D3-98A63FB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81525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校验 · 去重 · 无损 · 墓碑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119ACE-DBD0-42C7-B8B0-04A2C461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19625"/>
            <a:ext cx="6572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CC4A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B5915-953F-444B-B787-69F68942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767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87402-8EE9-4E59-B9D7-CD9D946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1971675" cy="790575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6399B0-AD6C-471A-A4EE-19E3BB0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9577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Evaluation / Trace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FE2E0D-91D5-45DA-B888-16E4A7D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81525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GWT · 指标映射 · commit/path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70069-A1D2-47E1-A3E5-93A32598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9075" y="2914650"/>
            <a:ext cx="9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1A4B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A15F1B-D50D-4EEF-AA3C-ECA61817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4B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6603C5-3545-4F54-82C4-CB34063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2275" y="2914650"/>
            <a:ext cx="9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5D3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21CE31-6D1F-432D-B637-15177D3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457804-5148-42FD-8ECD-2D9B287C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15475" y="2914650"/>
            <a:ext cx="9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1A4B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2A2A89-09B6-4F93-B85C-D4DD1920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76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4B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42017C-127C-4850-9F70-1301444F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106108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9EBB8B-B4D4-4C61-AC3C-A2E9CD6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48300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跨层连接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07A0BC-4498-4ACD-9AD2-D56471D1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1020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业务语义进入图谱 → Agent 按需检索 / 写入 → 验收与证据回链 → 指标衡量价值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7FFFF-539E-4122-8FC7-CAEEACF3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质量剖面（已提出，尚未全部量化）：覆盖 · 结构 · 溯源 · 新鲜度 · 冗余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A7AE23-A7D1-49F2-ABBF-56D56B08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57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当前基座：Acme（ArchiMate 3.2 + UML 2 状态机）；Schema 可按项目扩展。</a:t>
            </a:r>
          </a:p>
        </p:txBody>
      </p:sp>
    </p:spTree>
    <p:extLst>
      <p:ext uri="{BB962C8B-B14F-4D97-AF65-F5344CB8AC3E}">
        <p14:creationId xmlns:p14="http://schemas.microsoft.com/office/powerpoint/2010/main" val="1783086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670C53-15B4-480F-994D-C12958D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04 · 业务 × 应用 ×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1FAA8-40A7-4800-9A4F-D85979D5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业务环节 → 应用能力 → 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5F4D7-7327-4D80-B8AC-6FFF160E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指标同时回答：业务价值流的哪一步？由 Application Layer 的什么能力支撑与观测？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40CB9-F5F5-4094-A867-1FFBCB6A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5330-73EA-4091-B96C-B7A2A17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32563-911E-417C-AF3B-048ACED7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00E16-9A13-4F91-9D64-F0F7DCC2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90700"/>
            <a:ext cx="1685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42D5E-7C08-4D18-AA27-6983964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业务环节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87C57-E4C9-4068-BF07-1E7EA036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90700"/>
            <a:ext cx="2695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C1D9B-9210-4902-9825-C1D7AE51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819275"/>
            <a:ext cx="2562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Layer · 价值活动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75A68-7F1E-40FE-A92C-D9F21F18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9070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7E60B-6309-4F03-A53C-F7AA54A9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19275"/>
            <a:ext cx="3248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Layer · 支撑能力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DBC11-82A0-44A3-B8C9-3870F34B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3209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82A49-35AE-4422-90A4-5EC9BA6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19275"/>
            <a:ext cx="3076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· 当前指标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F1D27-C1AF-4F2F-A840-543349A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1455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4865E-A072-4EBA-A40E-E12EAEDB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2676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A4E14-16B4-444B-971E-09097683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14550"/>
            <a:ext cx="3362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DDCC6-FFA2-48A3-B633-53A70ED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190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9053E-CB44-4A20-AD1F-6C124B2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145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F5DAD-9079-43A9-98F2-36006207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81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5FB60-65AA-40BA-8656-2476B836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理解与计划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B546E-4839-43B1-A3A0-D96FF7DF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62175"/>
            <a:ext cx="252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目标拆解、计划形成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37240-184B-4F27-9BD3-8D56933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62175"/>
            <a:ext cx="320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Planner / 任务状态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295D3-3CE0-4048-9D92-C2DD2BF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3038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#3 计划正确率（部分） · #11 任务成功率（部分）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84C87-7757-415B-AC6C-D8E3928E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2D721-38FB-4EC5-BE87-49C95EB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0510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2149A-7AF0-4A95-8740-A7802AA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05100"/>
            <a:ext cx="2676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A9CBB7-CFC1-455D-81FA-1B740362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705100"/>
            <a:ext cx="3362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66A78-CAB1-47E4-9D9E-25BEC6E4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3190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42AB2-598C-4D0B-B99E-EC751DCC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051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CECB8-7790-42C9-BC56-5989FC5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A0C37-6C61-49B2-B64C-3D3B8C2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F5F71D-9036-4A14-8826-3B53FAC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52725"/>
            <a:ext cx="252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获得完成任务所需信息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84C9F6-54F4-42EC-924D-02E2CF3D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52725"/>
            <a:ext cx="320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Context Access：普通检索 / RAG / Graph RAG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9898AF-A01C-452B-BF70-DA95BF9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725"/>
            <a:ext cx="3038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#4 检索召回与排序（实测） · #12 端到端成本（部分）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3F250-AE6A-47F1-9793-BD52846F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1242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44B159-4E2C-47D1-BFD1-6CAFA7C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9565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06F8E7-AE18-45E3-9073-0AB5B22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2676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E12FE8-31A3-45E3-B094-4405DC9B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95650"/>
            <a:ext cx="3362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D25907-8C54-42F9-8FA1-12020E4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3190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BD2C2F-C69D-41F3-882B-F8FB14D4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956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AA4F8F-9835-4AE7-9BEF-DEE48CD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BAE895-1033-4991-BDB5-AD28EC7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执行与写入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3701D1-81B3-45D8-A5A6-8C494A6C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3275"/>
            <a:ext cx="252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工具行动、修改代码与知识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A3E980-730B-473F-8ECA-7B88BB4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43275"/>
            <a:ext cx="320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Tool Adapter / Graph MCP / Write Governance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748875-3FE0-4F03-9EDE-896EA15C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038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#5 工具成功率与轮次（实测） · #6 去重与无损（部分）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69FA58-D3CC-4843-B6E4-37F4E847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714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7E59CF-2D36-45FF-9A16-AABFD8C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8620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A1410-9D6E-4918-A289-EDA3469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86200"/>
            <a:ext cx="2676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0F9ED6-5822-4332-8762-76081EB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86200"/>
            <a:ext cx="3362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928975-6465-48FF-8C37-126CF8D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3190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01C17F-DF81-4E1D-856A-0299A2BA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862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753E7D-DCA5-47B2-B536-A909511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A1EED8-E04E-4869-8BEF-50B2B2F2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验证与人审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837D4-B6CF-49BB-A6FD-06CFFF04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252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确认结果符合验收边界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02260D-15B4-4F26-9414-760AEEAD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33825"/>
            <a:ext cx="320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Machine Judge / Human Review / Harness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F6DB18-ACFC-4236-B29D-78ED3A1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33825"/>
            <a:ext cx="3038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#7 验收通过率（部分） · #2 请示回环（未测）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4BDBB3-3BA3-4891-B791-9970552E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3053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0E7BA3-70E9-4CDA-87A3-392C392C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7675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6FA7AF-F59C-4A03-ACF6-39EB6687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76750"/>
            <a:ext cx="2676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8D1B47-9B5E-4847-B269-79091765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76750"/>
            <a:ext cx="3362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8EAC60-796F-4AE2-BC18-C5492DB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190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C2F612-BF2A-4860-8460-1EBA5DA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767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906645-641F-409A-8A13-8B352838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43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B7956A-AFDC-451A-84FE-44F2B34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交付与沉淀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809674-7FA3-4781-9B36-345830E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252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提交可复用结果与经验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B8E842-FD39-4943-B165-E8414DC3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320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Finalizer / Memory / Provenance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EC67B4-6AF3-453C-B8EE-450BCE5B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24375"/>
            <a:ext cx="3038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#9 登记完整率（未测） · #10 记忆准确率（实测）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FD88C2-C65A-49FF-8B0E-0C821B92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895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3739DA-9F6B-4AC1-BB40-01B59443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6730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E7D639-65BB-4480-98FA-BA17618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67300"/>
            <a:ext cx="2676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A53E29-9FA3-43B1-A939-8407EFB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67300"/>
            <a:ext cx="33623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68F4B0-5D2E-4B2C-A83E-12194161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67300"/>
            <a:ext cx="3190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79E046-4D4B-4C93-A6AD-6ABFD68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673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8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E509BA-8CB9-47DB-AFBA-BFA44207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33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3D49E2-4C4C-4231-A1E2-15C868C5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23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等待与异步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AE39C7-D614-4148-B017-85611B11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14925"/>
            <a:ext cx="252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等待工具、人类或后台结果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8210C81-0A00-4129-892C-90DA4822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14925"/>
            <a:ext cx="320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Scheduler / Event Loop / Session State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89310B-7E7A-4CC0-83B0-8590F06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14925"/>
            <a:ext cx="3038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#8 等待唤醒时延（实测） · #1 空闲时长（未测）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65A1721-F785-41AB-9BE8-99A49828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75BC39-2048-49C9-BE63-A07304D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285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20 项指标状态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3EEEAA7-767E-4F10-B977-A555221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838825"/>
            <a:ext cx="16478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3985E0-91D5-4052-B431-687ACE94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991225"/>
            <a:ext cx="1647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 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F3C3BB-D4C4-4214-988D-73AD9F1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38825"/>
            <a:ext cx="2064544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1B4A57-BA97-48EE-BFB3-859EA617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991225"/>
            <a:ext cx="2064544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 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C95745-A078-4279-8E5A-3F128C65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544" y="5838825"/>
            <a:ext cx="4564856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6D1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E5478E-2942-4783-B1F3-1269FBDF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544" y="5991225"/>
            <a:ext cx="4564856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11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2F77A2-CD91-4200-B03D-412F4BD9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71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映射不是一对一：跨阶段任务由多个组件协同；附录列出全部20项及测量状态。</a:t>
            </a:r>
          </a:p>
        </p:txBody>
      </p:sp>
    </p:spTree>
    <p:extLst>
      <p:ext uri="{BB962C8B-B14F-4D97-AF65-F5344CB8AC3E}">
        <p14:creationId xmlns:p14="http://schemas.microsoft.com/office/powerpoint/2010/main" val="1266009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684C75-AE76-499F-8A3A-8FA95136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05 · APPLICATION LAYER / 知识访问选项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21E97-1A24-45E0-8B38-5E212D62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RAG 是应用层的可选知识访问能力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D0BC-E5E7-44CA-B3CD-65512A3E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普通检索 / 传统 RAG / Graph RAG 共同服务于“检索上下文”；选择取决于知识结构与任务需求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DEC0A-1B79-454E-93CC-BB343049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1EFCD-617A-487F-89BE-78E4AB6B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E4CAC-75F4-4D95-A473-A5C4623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视图 298 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9920A-EC1F-4A61-9BF7-4CEB193E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573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Context Access · 按知识与任务选择实现方式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87202-9C26-42CA-B44F-38D94290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57350"/>
            <a:ext cx="2190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630B1-9AA5-473D-BB13-9F5B20F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0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75785-FFEB-4FCB-B266-3BB9D26F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普通检索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FB071-CB03-4608-BA55-C3EF3EE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954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代码 / 文件 / 全文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7973B-7117-4DF9-A92E-5B3B0C92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657350"/>
            <a:ext cx="2190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D38D3-8E1F-4E1A-8334-11569BF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0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FFACE-E30E-41DE-9BD9-A18D0EE4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CEC56-D79E-4BFC-90C1-E0CD6AAE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954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文本块 / 语义召回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50206-B629-41C3-AD01-B084624C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57350"/>
            <a:ext cx="2190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D6881-8D0D-47CE-A84D-18D2C491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0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59901-B43A-445F-A685-37C49C2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Graph 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2BAE0-F7DF-423B-8D69-638291B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6954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实体关系 / 多跳子图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721F0-7FB6-4076-9195-816D42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1371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写入与知识治理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F1853-2A4D-4563-9D1A-0D4C7E37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2286000"/>
            <a:ext cx="10896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C4952-BEC1-4A3D-BCE0-1AB54C71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52675"/>
            <a:ext cx="2214563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F14A2-2617-4D20-9C54-51FD381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90775"/>
            <a:ext cx="2062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L1 · 数据接入与治理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F17D7-C178-4E9E-AF71-3F92D642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19375"/>
            <a:ext cx="20621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来源 / 权限 / 版本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A46AD-7D61-4540-B447-6B49B391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20621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43650-0BFC-45AB-946C-37849CF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47975"/>
            <a:ext cx="19859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覆盖 · 指标 #6·#9·#12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793BE-FC9C-4A4D-8451-95DC6986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48163" y="2724150"/>
            <a:ext cx="104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6B7BBB-0751-4950-85AE-7DB4E2EF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638" y="2581275"/>
            <a:ext cx="161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A682C-93CD-4436-AC21-CD15135B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2352675"/>
            <a:ext cx="2214563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9B124-BD97-46F5-A49E-6E33A96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390775"/>
            <a:ext cx="2062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L2 · 解析与切块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D6B8D-2B4A-4126-95A4-78C7A088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619375"/>
            <a:ext cx="20621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chunk / summary 粒度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C23D4-72EF-4A7B-8B6B-AE47E053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838450"/>
            <a:ext cx="20621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6666F-BBA5-43F2-828E-24DF0F4E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2847975"/>
            <a:ext cx="19859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替代设计 · 指标 #4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0FF6FC-F01F-42CE-BBFD-A224C91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15125" y="2724150"/>
            <a:ext cx="104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D696D-E1A1-45A9-8FB2-B4F79158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81275"/>
            <a:ext cx="161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011E5B-C3D6-4778-8E5B-B2618AB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52675"/>
            <a:ext cx="2214563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51295C-1E13-4C57-8677-294D0E1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90775"/>
            <a:ext cx="2062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L3 · 嵌入与索引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7F9C9-CB93-42DD-B927-C3CEFAC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19375"/>
            <a:ext cx="20621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向量 + 关键词 + 双投影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ED7241-7DFA-40D1-8B0F-EF6B311A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38450"/>
            <a:ext cx="20621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12AD5C-4F9A-4C9D-BCE7-F1D1F0D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47975"/>
            <a:ext cx="19859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覆盖 · 指标 #4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D32178-D196-43F3-BA46-49474E5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82088" y="2724150"/>
            <a:ext cx="104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B4E5D6-BD5D-4404-87D3-886F1199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581275"/>
            <a:ext cx="161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7F34FD-FF92-4ED0-83C7-7A7197D6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2352675"/>
            <a:ext cx="2214563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023E38-0A1E-4597-8A32-E0DFA67F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390775"/>
            <a:ext cx="206216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L4 · 图构建与对齐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63078B-24DB-4439-83D8-406CAF7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619375"/>
            <a:ext cx="20621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实体关系 + 本体对齐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58110E-C5F8-4E59-A7CF-82E976A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838450"/>
            <a:ext cx="2062163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07604F-BB2E-43B2-9FB8-DCAD95C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788" y="2847975"/>
            <a:ext cx="19859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部分 · 指标 #3·#7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481FA-994D-4794-B399-DE1F0AAC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371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检索与排序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CEEBE6-ED31-4173-9EBE-DB2AC34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3571875"/>
            <a:ext cx="10896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2AB0C6-4018-42B9-AD57-67534679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458152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C0F59B-4C24-4691-9F4D-6492675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442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L5 · 召回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75C2A7-DEF0-40E1-AD1B-BBE4F94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05250"/>
            <a:ext cx="442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向量 / BM25 / 图遍历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4B2269-5553-43B5-9591-DAC71AB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24325"/>
            <a:ext cx="44291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0DA9B9-C33A-4FCE-8B6B-D45C1AE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33850"/>
            <a:ext cx="4352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覆盖 · 指标 #4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132C31-A681-48FB-9D5F-E9D7969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15125" y="4010025"/>
            <a:ext cx="104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940FB4-B2F3-4346-B345-0931D966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61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42C6D0-0777-44E6-B8A0-8E2811EE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38550"/>
            <a:ext cx="458152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8E2369-BFF0-4AD1-B567-51323BF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76650"/>
            <a:ext cx="442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L6 · 融合与重排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33969E-32C8-4021-BC49-D041F166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05250"/>
            <a:ext cx="442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RRF + 交叉 / LLM 重排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A0AAA8-0387-4F9D-8AB8-610DA4AF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24325"/>
            <a:ext cx="44291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1F3912-AC6B-4FFC-A5CD-46F6714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33850"/>
            <a:ext cx="4352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覆盖 · 指标 #4·#8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487A52-DB06-4DBE-819F-8550E31E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371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生成、验证与回流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5CA462-6193-4FBD-9B54-B54E604C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857750"/>
            <a:ext cx="10896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EF4040-2DBE-427A-97F4-6B65187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24425"/>
            <a:ext cx="458152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8C97D7-C57D-4209-AEE3-6E1A75E3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62525"/>
            <a:ext cx="442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L7 · 生成与 grounding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D05B6F-0255-43F5-93C6-12C8B611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91125"/>
            <a:ext cx="442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引用可追溯 + 拒答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60BADF-3FFA-4C03-B38C-C4DEBA4F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44291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CC50A9-826F-4EBA-8D02-95F8247A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19725"/>
            <a:ext cx="4352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覆盖 · 指标 #10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A59403-2AD6-4F76-952E-499D47A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15125" y="5295900"/>
            <a:ext cx="104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5D3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C8AE27-34FA-44E5-A014-46115F2F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53025"/>
            <a:ext cx="161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AE64EF-BEDD-4B10-8254-84081754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924425"/>
            <a:ext cx="458152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6FF6F8-7031-4E5D-B095-5D5E4FF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962525"/>
            <a:ext cx="442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L8 · 评估与迭代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E3DBA9-A4C6-4E26-845C-338E2943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91125"/>
            <a:ext cx="442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反馈 → 索引 / 权重 / 提示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FBA478-2806-49A3-A4E1-5A964C17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410200"/>
            <a:ext cx="442912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4AB8FD-F201-4FF7-BD3D-39F5568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19725"/>
            <a:ext cx="4352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覆盖 · 指标 #5·#10·#11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E5F7DF8-8470-4332-B8B9-39717F5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89660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241964-121F-49FB-83A3-3443B8B0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696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Graph 特有构建：本体语义 · 图谱事实与关系 · Graph MCP · 写入治理与来源溯源</a:t>
            </a:r>
          </a:p>
        </p:txBody>
      </p:sp>
    </p:spTree>
    <p:extLst>
      <p:ext uri="{BB962C8B-B14F-4D97-AF65-F5344CB8AC3E}">
        <p14:creationId xmlns:p14="http://schemas.microsoft.com/office/powerpoint/2010/main" val="19175853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682A1C-69EE-4B8B-8420-1F5A828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06 · 已有提升与待补证据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FD730-8F06-4D8A-BE8A-D4C61672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哪些能力已有提升：检索、工具与记忆已有局部证据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F4667-0128-479D-A394-759F2214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对齐前页 Application Layer 能力与指标；明确提升来自内部对照、小样本或自建题集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8D68E-356F-4D36-AD34-6F766272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4062-324B-47F4-9F94-9EDD7030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FA39-A688-4EA9-85A4-A304903A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DCCD7-D2D4-4431-888A-79FEC602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66900"/>
            <a:ext cx="21526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4B696-CDEF-49E5-81E3-7C7E850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4 实测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5FA3F-4BB9-4BD2-BAE9-2F5AB515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2697956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EB141-6F9D-4E81-9341-3186679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267890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5 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41814-04BB-4C92-AB70-9D9147A2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931" y="1866900"/>
            <a:ext cx="596979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0F1ED-AC30-4049-8FD8-9A49BFD9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931" y="2209800"/>
            <a:ext cx="59507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 未测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F7E47-AC99-499C-BB88-6E7643DD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5219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2CEBA-DC21-4F78-BC4A-601002F5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053E2-7199-497C-AF75-1D2C1283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62250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94.6 → 98.7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B5168-B515-4EB1-9E7A-21714112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Context Access · 检索 R@1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2D1D0-A49E-4E90-96AC-8B44C078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38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内部向量基线 → 重排；R@5 99.4 · MRR 0.997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ECD02-5E15-4D9E-ACA8-BA0139BC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5219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0C812-A630-496A-AABB-CD462891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AB693-72CE-4E2E-927F-F4D53DD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3BE45-1A46-4DDE-B9DE-127EF361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81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工具层 · ON 组任务成功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F267D-EBA8-4ABA-A0EC-47D18DA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38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自建试跑小样本，不代表总体 Coding 成功率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34B8-29BC-4C91-90DB-D158C2AE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5219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D8ED9-8F78-4E43-A6DD-36D9B86C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EF21ED-292F-49EA-904B-4C676CE0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2.0–2.5s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1FFAA4-A21C-4DFC-A9BD-9527ECAE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81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 MCP · 读路径时延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26BEA-CFA7-4197-9535-9391F64C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38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写约 1.1s；读写路径分别统计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9317F-1835-437E-AA9F-79540313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86175"/>
            <a:ext cx="5219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0FF5A-188B-4AB4-AB77-AE844CF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861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3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430F5-7024-49CF-9BB2-38A5ACA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31 / 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38573-B81A-4C13-BA20-AC30259F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81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记忆层 · 题集正确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4A268C-D27C-4B80-9A80-DEC06BB1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38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自建数据；拒答正确率 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4BE70-30A4-4F15-B65E-0E6907C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72025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MCP 试跑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984D55-9CC9-489A-9AA4-033C833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733925"/>
            <a:ext cx="5762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工具调用 −43%  ·  轮次 −39%  ·  token −18%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F43A4-F41E-4A92-9711-49BDC960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10150"/>
            <a:ext cx="938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65D32"/>
                </a:solidFill>
                <a:latin typeface="Arial"/>
                <a:ea typeface="Arial"/>
                <a:cs typeface="Arial"/>
              </a:rPr>
              <a:t>10 题试跑；OFF 组 grep 失败并触发慢回退，基线污染，差值仅作方向性观察。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DD19DA-30C2-4305-BE1C-15A20AE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906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58A2C0-A18C-47F5-A10D-E6ABC74A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8300"/>
            <a:ext cx="1381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可比性与下一步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A6655-A51F-411B-A799-27615FF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38775"/>
            <a:ext cx="914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8 项整体 Coding / Agent 基准尚未运行；跨团队/论文数据不与本地检索分数直接比较。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8CB5B-E869-4060-B3FE-02FD043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769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先做同模型、同任务、同 Harness 对照；再跟踪知识库覆盖 / 结构 / 溯源 / 新鲜度 / 冗余随规模的变化。</a:t>
            </a:r>
          </a:p>
        </p:txBody>
      </p:sp>
    </p:spTree>
    <p:extLst>
      <p:ext uri="{BB962C8B-B14F-4D97-AF65-F5344CB8AC3E}">
        <p14:creationId xmlns:p14="http://schemas.microsoft.com/office/powerpoint/2010/main" val="200910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9CA7D6-1898-4475-88BD-2467FAD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07 · 组织级知识图谱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4116-DF49-4332-B7BA-BC7FD3C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联邦把领域知识库组合成组织级知识图谱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E1065-99F0-4E6F-9403-AF23EC4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项目自治维护事实源；中心统一发现、授权与引用，不复制成员图谱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E0044-0F42-4397-BA2C-3D834BA6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096D1-B2F9-46BF-A7B8-A70BF33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59A57-AEDE-42E1-BC12-A05F43E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design-federated-intent-graph-001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49920-A40A-46B2-BD57-834BFDE0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0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项目自治维护领域知识库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02562-526D-45F2-A017-9DB0E5A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571750" y="2562225"/>
            <a:ext cx="354330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F7520-0C2C-4F06-AD16-3EF65241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24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4576B-12AD-4F2F-806C-4CF39B4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241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3BCF3-2BCF-41C4-BE1A-8D9EE5DA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90775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archgraph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17E91-68E2-48A5-A8BF-B02B854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43450" y="2209800"/>
            <a:ext cx="1371600" cy="1438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BFE2F-816F-49FC-96BE-DAFD03C3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1F14B-587F-46B3-BFF2-425A5469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7167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509F4-D67B-484A-8396-546C6CC0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graph-wiki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E1271-7207-4113-85B4-C2210F9F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15050" y="2209800"/>
            <a:ext cx="2705100" cy="1438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1D440-2DA7-4020-B3D4-CB304E3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EC050-A238-464E-A09E-4107350A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7167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6958F-5347-48DC-9CD1-853B47F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abot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E4830-1070-4472-A6A1-E7AD8897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15050" y="2705100"/>
            <a:ext cx="479107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6A253-1F92-473D-B3A9-9222206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667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273FB-3315-4396-AF59-D26E238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6697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B6828-6A0A-49C8-843C-B5A8467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336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my-army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4DCFE-8B44-4ED0-96FA-B2A558CE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3648075"/>
            <a:ext cx="428625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EF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D8E68-A30E-474B-B3AE-B25EF5CB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33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9FE4B9-B52F-4084-A7B4-2ECAB6F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73392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5000E-15D6-4C81-8785-8BEB18B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006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HarmonyOS-Dev-Standards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CA65CD-A4FA-43FC-98AF-66956927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52850" y="3648075"/>
            <a:ext cx="236220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866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B1B018-7166-4E41-AEF1-64177DC0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F1DA26-D0C8-4C11-B06A-B4C72057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829175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3C77F-28A2-4DA0-B44D-2DE1710E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SOC-DEMO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402B9-2F2A-4E6D-840B-E7A2EA5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33725"/>
            <a:ext cx="1466850" cy="1028700"/>
          </a:xfrm>
          <a:prstGeom xmlns:a="http://schemas.openxmlformats.org/drawingml/2006/main" prst="roundRect">
            <a:avLst>
              <a:gd name="adj" fmla="val 40741"/>
            </a:avLst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CC616C-0623-499B-9269-FE129227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956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联邦中心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727612-9F3A-4D05-A4B9-73B9869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1181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发现能力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A03B28-C03D-4869-89FA-C78B64CA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显式授权 · 按引用读取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08E99-EDD3-4964-B9B9-AEE7A442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" y="542925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F16D62-897E-472D-AE08-7C6F7532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6295D4-48F2-46C5-A53E-285FE13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56260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已注册成员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D1A8A-D64E-49E2-91B5-F5BEB05F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4850" y="542925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06DBC5-4F21-4031-8230-BA3C719B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959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31CAEB-96D8-4B47-8086-F5D9667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56260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已授权关系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CDDDB5-5B68-4156-94D8-0D8EAF64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39100" y="542925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23BFE6-233F-438A-BA7D-B18E004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959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5509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soc-demo 实读 386 元素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B0A9E7-8189-4821-82DF-67DB9CE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562600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跨项目读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B72FE6-027D-4334-B5F0-099D482C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48375"/>
            <a:ext cx="681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领域专业维护  ·  MCP 基础治理  ·  中心统一授权  ·  不合并主权图</a:t>
            </a:r>
          </a:p>
        </p:txBody>
      </p:sp>
    </p:spTree>
    <p:extLst>
      <p:ext uri="{BB962C8B-B14F-4D97-AF65-F5344CB8AC3E}">
        <p14:creationId xmlns:p14="http://schemas.microsoft.com/office/powerpoint/2010/main" val="851999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ED455CF-B082-4C6A-BDF6-FF4FBC67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附录 A · 指标明细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97E81-F7E6-4977-82EC-69068BF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20 项指标：状态映射、现有证据与下一步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DFFCA-C91B-4F3E-A1C5-4A5869E5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完整口径以图谱 aos-as-* 的 measurement-status / measurement-result 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D02C2-B533-45E4-88D8-BD769CCE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3F3EC-E84D-4A60-A808-BE84788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73F37-54A4-4FFD-8931-03D1FBF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aos-as-* measurement-* 属性即本页数据源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F711B-BB66-468E-9311-93476AEE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38325"/>
            <a:ext cx="528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57489-7255-4808-939C-948E4CF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6690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 指标 / 流程状态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08C18-0730-4423-B9E9-6CE1F4C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669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现有结果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0277E-0344-4092-8CB0-BE2CCEE2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26579-0AD9-4D46-BE9E-DF3C34AD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81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016B2-7C6B-4F97-9BC0-9A80B7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62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空闲时长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30792-23DA-42BC-B175-75553D7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43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状态级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3EA6F-9254-43C4-98F5-1E97ED4F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81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E8D2A-379C-4A6C-A90E-6DA7299D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524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97D39-A877-49A7-8EAA-6DF3D95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62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91C37-5330-47DE-AE23-50FC4A2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43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请示频率与回环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145B7-CC2F-42A3-A2D1-6131BC5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24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状态级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21E25-1642-483A-BAFA-0BF6EA1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62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尚未采集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C7C84-9DE5-4F30-A584-3A4B36D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905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D255C-4E0B-449E-AEF7-5AC9604A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7DEF7-1E61-4674-A45F-5D274F31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43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6B7AB-EF46-4B4B-90F6-F3084FA9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24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计划正确率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E8C4D-5DE3-4EEE-9F4A-48D2FCF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 · 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1A952-436D-4322-8024-B6FFFA8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43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navigation 20/20（代理）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8E744-E07A-422E-8E0F-7914E19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286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2F6E5-DCFE-43A1-9E7D-3EBA40CB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24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350F5-F404-46F7-A6A3-23D8B5E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05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检索召回与排序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3EB40-CAD7-4F87-BB23-63D85B6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 · 检索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46E611-5559-4678-BEEA-8C8520F4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24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r@1 94.6→98.7 · MRR 0.997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D76AB-D554-4E8D-8AED-21997A1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667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31CC5-2DBB-4EDE-A0BA-49315D5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EB6F1F-8CCB-4588-91FB-6A4A7CCB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05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118A8A-9015-489D-91BD-24445E46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86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工具成功率与轮次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AD862-4535-47BE-9D9D-5A04B049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67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 · 执行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D97E3-F3EB-41E4-8F47-72A28C3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05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成功率 100% · 轮次 −39%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116A6-C25A-49AA-A14A-F893B917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048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F7AC7C-0909-4DA0-A83B-17EB62B8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86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4E4FE5-D543-47C7-8E9F-4EBE717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67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去重 P/R 与无损率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83158B-D86A-4743-BA38-93EC875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48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 · 写入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D988EF-A3E9-4A91-B178-E5CB7D28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86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L1 阈值 0.85（假阳性 0.85–0.89）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088AD-9B51-4536-ADE9-2B651DF8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429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5097B6-8A88-4BCE-AB3F-6B4A48C4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E4F069-4464-47B8-823D-599DCC6E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67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4CA35A-5A2C-4B93-93EB-CE235347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48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验收通过率与回归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B904C4-7881-4C70-927E-E074CDE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29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 · 验收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DAA9DB-8263-419F-9980-4F421A3A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67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AT 12/12 · 回归 38/38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68D3B3-C7BA-4C0D-9106-786E9A8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810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19B29D-F087-49FA-B1A4-82F9B1F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48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54983C-6BCD-42A6-8C3D-63C41AA2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29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等待 / 唤醒时延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06DF31-4BF9-40DB-889F-5A12B485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10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 · 等待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6413A1-3333-4CE4-B059-4AD2A91F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48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2.0–2.5s · 写 1.1s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223461-787E-49EA-A694-8639960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191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BFED43-008D-41D6-86DF-884F7706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2102F4-A26C-4A91-85F4-712F9A7E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29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F2F5CF-76CC-4ACF-B226-4414D7DB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10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提交登记完整率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8D64B0-4CC7-49D8-8E11-DE69550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91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沉淀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01DF7F-310E-4B49-A25B-1BE07A0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29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无统计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E793E3-730D-401A-926F-7CD7D2C1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572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18D8C4-6727-49A8-B47C-17C5391B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10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FC1E8C-89C1-4F02-BFCD-3C058C7D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91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记忆准确率与拒答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B5108A-4949-4C27-BCE6-E9E2A656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772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实测 · 沉淀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82CD97-DB1D-4912-BDD6-A78C651E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10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100%(31/31) · 拒答 100%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503F51-965A-4B61-ABB1-9EEEA4C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953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A00845-1C1B-45E1-89A5-2C6E7DE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38325"/>
            <a:ext cx="528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2365C7-99D9-41F5-9A7E-9434CA5B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  指标 / 流程状态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8AAA46-EE8B-4A47-A51D-6D396A7B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现有结果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6FC6D2-581F-48EE-9A0C-3C1CA21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311016-4796-40F7-B000-7B412FF7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92F5D7-7C12-4321-966F-A3082142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62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任务完成成功率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641B3F-7AAF-47F6-88FE-8D5CAB85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 · 整体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8A35CA-C901-444B-96CC-12CD5E76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81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小样本 31/31 · 20/20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C03724-92A9-4F97-B998-47E2FF1A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2524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CB2762-BF85-4ABD-8A92-5F38B5BB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62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87D55B-600E-46E7-BDCB-709D48F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端到端时延 / 成本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1E292A5-D64F-4EDF-8DA1-209EEA8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部分 · 整体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361D11-C8E6-4EC4-889D-B74850A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62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读 2.0–2.5s · 4890 token/查询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6956080-8877-4E8F-A59E-4EBB39DC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2905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4EC2D2-1351-43DD-AB2E-A8846349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56DD71-A20B-440C-9D72-A476D77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87E795-E8D8-4E44-B28C-D377FBB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Resolved%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213B14-F00E-47EC-9CBF-8F91FF73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00CB6F-4A96-4B55-B28E-28F65C5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F61D96-C2F1-44FE-B446-20A3FDCF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3286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C9A9D0-A8A7-4B48-ABCD-EE654DE8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24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8E26A7-D824-4255-9594-E5C7CB6B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05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SWE-bench Verified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E8B851-FC0B-44E9-972D-5FBAF07C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6D03BB-9339-4CA3-811E-085FE8C6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4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A7B89D-6F44-4914-8CCB-065BB773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3667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24C9C2D-52EC-4362-849A-85398B95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E6BA76-DBE2-4319-AA2A-BC9F03B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05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BB6035-F7A8-49FB-B874-B74C766A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86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Terminal-Bench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EB1A11C-BF6B-4789-9D52-435B1C4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8CB899-652C-412F-9DFF-5030818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05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91083C-0904-459B-961B-B17D006F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4048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2E1475-92C4-4CEF-AEED-746342B2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86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DD77AE-C868-4EFF-9D33-9E92595C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67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HumanEval / MBPP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F10D42-3DAD-4255-9A5B-4234665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AAA680-0651-4DF1-995F-A78F9C7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54C1E4-34CD-4886-B225-51020D84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4429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E91329-1F38-4825-9B70-E02AFB1C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EE404E-D025-40D7-A712-3883C77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67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B5C14F-E457-45FD-B95A-66144586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48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LiveCodeBench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8262009-85EC-4E1D-AA97-8A418C8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3CA873-6984-4797-B21C-A0938B2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67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8479CE-49A1-452F-B76B-7903358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4810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6F5ADF-9307-49C4-84EB-4906E4E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48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9F99C00-C58F-4A98-BC09-A9915FFC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29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GAIA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9C8B927-BA31-4F67-897C-D1ED6459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0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5EF6F32-2392-437E-B7B4-2E47F594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48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73638A-470C-45AD-8EB3-691E819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5191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32E5820-316D-462A-B0B4-4A88D0F2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00650"/>
            <a:ext cx="5286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BA2068A-4B3B-449A-82E3-7C240D97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29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47C7D50-A9AD-4E29-B9A6-8EE11A9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0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τ-bench pass^k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41C81C-29B1-439B-A3E9-A0B2219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91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9D8498E-DBCE-44B8-A592-70C5B5D9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29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339B90C-5E8A-4746-937B-C560253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5572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BF07897-9B59-4A0A-BE9A-D58DC31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022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2ACEBD-CAFD-4DA8-B629-525603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9117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AgentBench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1D639EE-EFB0-4D74-AB51-F27F92E1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721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未测 · 业界基准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A667B6F-5EC3-4361-BBC0-F7FC1DF3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10225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338"/>
                </a:solidFill>
                <a:latin typeface="Arial"/>
                <a:ea typeface="Arial"/>
                <a:cs typeface="Arial"/>
              </a:rPr>
              <a:t>未跑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0E7F679-3A48-4873-907C-91FCB32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5953125"/>
            <a:ext cx="528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9DEE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C45809-15F4-4B00-BB27-2332DD47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15050"/>
            <a:ext cx="10734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业界区间仅作测量口径参考；“未测”不等于劣于行业。完整下一步动作见 content-plan-v4.json。</a:t>
            </a:r>
          </a:p>
        </p:txBody>
      </p:sp>
    </p:spTree>
    <p:extLst>
      <p:ext uri="{BB962C8B-B14F-4D97-AF65-F5344CB8AC3E}">
        <p14:creationId xmlns:p14="http://schemas.microsoft.com/office/powerpoint/2010/main" val="762169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8EBDDA-7C10-4E4F-8D97-80E3415C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附录 B · 业界证据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A1D85-6804-4ADA-A2A8-94EDD0C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业界信号与工程实践：提供设计启发，不替代我们的测评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DBCE9-A111-4ABA-8A8A-F81BF068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观察研究、团队遥测、受控实验与个案报道的样本/方法不同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8971A-C76C-416C-BC67-D0571801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64389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A7403-5ED0-4FB8-B292-994C9F3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333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ARCHGRAPH  /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65245-70BD-400F-ADE6-05C7BE5A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9605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60B3B-BE46-418C-9599-1E8AE81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4×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C6AFA-2AF0-4B5C-AC68-77C149A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重复代码块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31D89-8873-45D3-AB6E-A218EE40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GitClear 2020–2024 样本；不能单独归因于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389B7-9326-4A2A-89A9-2735593F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1981200"/>
            <a:ext cx="95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17436-B372-4D8A-9AB3-08E53905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7167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9B55A-CE49-489B-931A-459DD34B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19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几乎不信任 AI 代码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2F305-65C0-4C45-B89F-B03FB97B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71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DORA 2025 · 30% 对 AI 生成代码信任偏低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1ED12-0545-4745-94F2-62E719AB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1981200"/>
            <a:ext cx="95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185E2-8279-4CC6-9275-7B4BB62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+91%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A85D2-6550-4CEE-96BE-2C23E4F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代码评审时间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49A01-92C1-4D10-A2AB-0BD2F124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71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Faros 高 AI 采用团队 · PR 评审时间 +91%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D0DE5-2C0F-4743-84F1-206BD1A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39175" y="1981200"/>
            <a:ext cx="95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E8734-1CE1-4451-9EE7-B1A72FD9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97167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−19%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D3376-025B-4052-A6EA-60D2DFA2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19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专家实测反而更慢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51DF9-00E7-4DD6-8CDC-1030D259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718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METR RCT · 16 位资深开源开发者 · 早期 2025 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84455-9773-4060-ADB4-509F4D0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" y="3714750"/>
            <a:ext cx="10915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E64FD-95C5-4CBB-B37D-8E3B2C6B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E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EF6"/>
                </a:solidFill>
                <a:latin typeface="Arial"/>
                <a:ea typeface="Arial"/>
                <a:cs typeface="Arial"/>
              </a:rPr>
              <a:t>工程案例里的可复用做法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9CFFE-9D48-485D-9B48-A158C544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OpenAI · Harness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0C016-E708-4BEC-9608-BB145E4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66D"/>
                </a:solidFill>
                <a:latin typeface="Arial"/>
                <a:ea typeface="Arial"/>
                <a:cs typeface="Arial"/>
              </a:rPr>
              <a:t>3 人 · 5 个月 · ~100 万行 · 手写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057C6-3B35-451F-B388-A06B59F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91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AGENTS.md 指向 docs/；用 linter 固化品味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AD11C-7C4A-4AF0-804A-32C113C8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Bun · Zig→Rust 整体移植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2FA33-035F-4059-B4E3-A464E78A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11 天 · ~6,700 commits · ~$165k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4DE47F-C247-4D1B-BDD0-4F413AEE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72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先写 PORTING.md，再并行 ~64 个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FF6C4-089B-4620-A13A-DC96233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Anthropic · 代码迁移六步法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13B3B-3260-412B-98AD-BE1C7D7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先建『裁判』，再翻译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3E850-E759-4102-AE75-DEAD58D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53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不要修代码，要修产生代码的循环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E3F6C0-405E-405C-A4C9-90E18DFA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OpenAI · Codex CLI 原生重写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07E426-CC55-44E8-9322-0D09813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23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338"/>
                </a:solidFill>
                <a:latin typeface="Arial"/>
                <a:ea typeface="Arial"/>
                <a:cs typeface="Arial"/>
              </a:rPr>
              <a:t>≈ 95.7% Rust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145FA-B26C-422C-93D3-04E7ED3E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334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整框架换语言，已由 Agent 承担主体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E8C524-B180-4283-AF5C-FFCAE642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906125" cy="3714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8ECE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2F0E3B-5D7B-46C9-A599-63858AB4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不同研究口径、样本与方法不可合并成一个因果结论；本页用于提出问题与设计框架。</a:t>
            </a:r>
          </a:p>
        </p:txBody>
      </p:sp>
    </p:spTree>
    <p:extLst>
      <p:ext uri="{BB962C8B-B14F-4D97-AF65-F5344CB8AC3E}">
        <p14:creationId xmlns:p14="http://schemas.microsoft.com/office/powerpoint/2010/main" val="925757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2026-10-07T07:00:49.7610000Z</dcterms:created>
  <dcterms:modified xsi:type="dcterms:W3CDTF">2026-10-07T07:00:49.7610000Z</dcterms:modified>
</coreProperties>
</file>